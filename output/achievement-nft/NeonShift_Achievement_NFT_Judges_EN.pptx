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中文講稿：這是個人成就 NFT 的資訊版式提案，不是已鑄造證明。距離是主角，來源標籤不能省略。既有正式 SVG 圖樣請看同目錄 preview.html。首次距離與 First Finish 可從 Lv1 開始；PB 仍依達成時 Lv3 等資格規則。裝置來源上線狀態以 App 實際資格頁為準。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中文講稿：完成運動只是開始。系統驗證來源、門檻和唯一性，registry 核准後才可鑄造。使用者選擇公開內容、查看 metadata 與當次 SOL 費用，再到錢包核准。首次距離的領取就是主動發起鑄造，不是先自動鑄造後再空投。依據 Milestones.tsx 與 AchievementService.ts；此頁是流程圖，尚未附上真實交易。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中文講稿：評審應看到可領取、待核准、已領取是不同狀態。拒簽不發成功动画；重試先查 receipt，避免重複鑄造。實錄需補上提交版本的資格畫面、公開內容與費用、錢包核准、成功收藏及真實 Devnet asset／交易。此附件沒有執行鑄造，也沒有捏造交易網址。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49250"/>
            <a:ext cx="11176000" cy="28257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35E5C5"/>
                </a:solidFill>
                <a:latin typeface="Arial"/>
              </a:rPr>
              <a:t>NEONSHIFT / PERSONAL ACHIEVEMENT NFT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11176000" cy="5880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4030"/>
              </a:lnSpc>
              <a:spcAft>
                <a:spcPts val="0"/>
              </a:spcAft>
            </a:pPr>
            <a:r>
              <a:rPr sz="3100">
                <a:solidFill>
                  <a:srgbClr val="F3F7FF"/>
                </a:solidFill>
                <a:latin typeface="Arial"/>
              </a:rPr>
              <a:t>A personal record, a collectible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0"/>
            <a:ext cx="11176000" cy="26606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95"/>
              </a:lnSpc>
              <a:spcAft>
                <a:spcPts val="0"/>
              </a:spcAft>
            </a:pPr>
            <a:r>
              <a:rPr sz="1150">
                <a:solidFill>
                  <a:srgbClr val="A8B6CF"/>
                </a:solidFill>
                <a:latin typeface="Arial"/>
              </a:rPr>
              <a:t>JUDGE APPENDIX 1/3  /  DESIGN PREVIEW - NOT A MINT RECEIPT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651000"/>
            <a:ext cx="2641600" cy="3111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" y="1841500"/>
            <a:ext cx="2349500" cy="28257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35E5C5"/>
                </a:solidFill>
                <a:latin typeface="Arial"/>
              </a:rPr>
              <a:t>GENESIS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500" y="2254250"/>
            <a:ext cx="2260600" cy="44450"/>
          </a:xfrm>
          <a:prstGeom prst="round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2571750"/>
            <a:ext cx="2349500" cy="6375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4420"/>
              </a:lnSpc>
              <a:spcAft>
                <a:spcPts val="0"/>
              </a:spcAft>
            </a:pPr>
            <a:r>
              <a:rPr sz="3400">
                <a:solidFill>
                  <a:srgbClr val="35E5C5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30200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F3F7FF"/>
                </a:solidFill>
                <a:latin typeface="Arial"/>
              </a:rPr>
              <a:t>km / FIRST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82905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A8B6CF"/>
                </a:solidFill>
                <a:latin typeface="Arial"/>
              </a:rPr>
              <a:t>DEVICE RECORDED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4349750"/>
            <a:ext cx="2349500" cy="22479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</a:pPr>
            <a:r>
              <a:rPr sz="900">
                <a:solidFill>
                  <a:srgbClr val="A8B6CF"/>
                </a:solidFill>
                <a:latin typeface="Arial"/>
              </a:rPr>
              <a:t>SAMPLE / NO OWNER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800" y="1651000"/>
            <a:ext cx="2641600" cy="3111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550" y="1841500"/>
            <a:ext cx="2349500" cy="28257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62CFFF"/>
                </a:solidFill>
                <a:latin typeface="Arial"/>
              </a:rPr>
              <a:t>GENESIS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300" y="2254250"/>
            <a:ext cx="2260600" cy="44450"/>
          </a:xfrm>
          <a:prstGeom prst="roundRect">
            <a:avLst/>
          </a:prstGeom>
          <a:solidFill>
            <a:srgbClr val="62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550" y="2571750"/>
            <a:ext cx="2349500" cy="6375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4420"/>
              </a:lnSpc>
              <a:spcAft>
                <a:spcPts val="0"/>
              </a:spcAft>
            </a:pPr>
            <a:r>
              <a:rPr sz="3400">
                <a:solidFill>
                  <a:srgbClr val="62CFFF"/>
                </a:solidFill>
                <a:latin typeface="Arial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550" y="330200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F3F7FF"/>
                </a:solidFill>
                <a:latin typeface="Arial"/>
              </a:rPr>
              <a:t>km / FIRST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550" y="382905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A8B6CF"/>
                </a:solidFill>
                <a:latin typeface="Arial"/>
              </a:rPr>
              <a:t>DEVICE 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550" y="4349750"/>
            <a:ext cx="2349500" cy="22479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</a:pPr>
            <a:r>
              <a:rPr sz="900">
                <a:solidFill>
                  <a:srgbClr val="A8B6CF"/>
                </a:solidFill>
                <a:latin typeface="Arial"/>
              </a:rPr>
              <a:t>SAMPLE / NO OWNER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7600" y="1651000"/>
            <a:ext cx="2641600" cy="3111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6350" y="1841500"/>
            <a:ext cx="2349500" cy="28257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AD8CFF"/>
                </a:solidFill>
                <a:latin typeface="Arial"/>
              </a:rPr>
              <a:t>GENESIS DISTANCE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8100" y="2254250"/>
            <a:ext cx="2260600" cy="44450"/>
          </a:xfrm>
          <a:prstGeom prst="roundRect">
            <a:avLst/>
          </a:prstGeom>
          <a:solidFill>
            <a:srgbClr val="A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6350" y="2571750"/>
            <a:ext cx="2349500" cy="6375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4420"/>
              </a:lnSpc>
              <a:spcAft>
                <a:spcPts val="0"/>
              </a:spcAft>
            </a:pPr>
            <a:r>
              <a:rPr sz="3400">
                <a:solidFill>
                  <a:srgbClr val="AD8CFF"/>
                </a:solidFill>
                <a:latin typeface="Arial"/>
              </a:rPr>
              <a:t>21.0975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6350" y="330200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F3F7FF"/>
                </a:solidFill>
                <a:latin typeface="Arial"/>
              </a:rPr>
              <a:t>km / HALF MARATHON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6350" y="382905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A8B6CF"/>
                </a:solidFill>
                <a:latin typeface="Arial"/>
              </a:rPr>
              <a:t>DEVICE RECORDED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6350" y="4349750"/>
            <a:ext cx="2349500" cy="22479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</a:pPr>
            <a:r>
              <a:rPr sz="900">
                <a:solidFill>
                  <a:srgbClr val="A8B6CF"/>
                </a:solidFill>
                <a:latin typeface="Arial"/>
              </a:rPr>
              <a:t>SAMPLE / NO OWNER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2400" y="1651000"/>
            <a:ext cx="2641600" cy="3111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1150" y="1841500"/>
            <a:ext cx="2349500" cy="28257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FD080"/>
                </a:solidFill>
                <a:latin typeface="Arial"/>
              </a:rPr>
              <a:t>GENESIS DISTANCE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2900" y="2254250"/>
            <a:ext cx="2260600" cy="44450"/>
          </a:xfrm>
          <a:prstGeom prst="round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1150" y="2571750"/>
            <a:ext cx="2349500" cy="6375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4420"/>
              </a:lnSpc>
              <a:spcAft>
                <a:spcPts val="0"/>
              </a:spcAft>
            </a:pPr>
            <a:r>
              <a:rPr sz="3400">
                <a:solidFill>
                  <a:srgbClr val="FFD080"/>
                </a:solidFill>
                <a:latin typeface="Arial"/>
              </a:rPr>
              <a:t>42.195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1150" y="330200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F3F7FF"/>
                </a:solidFill>
                <a:latin typeface="Arial"/>
              </a:rPr>
              <a:t>km / MARATHON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1150" y="3829050"/>
            <a:ext cx="2349500" cy="2578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</a:pPr>
            <a:r>
              <a:rPr sz="1100">
                <a:solidFill>
                  <a:srgbClr val="A8B6CF"/>
                </a:solidFill>
                <a:latin typeface="Arial"/>
              </a:rPr>
              <a:t>DEVICE RECORDED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1150" y="4349750"/>
            <a:ext cx="2349500" cy="22479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</a:pPr>
            <a:r>
              <a:rPr sz="900">
                <a:solidFill>
                  <a:srgbClr val="A8B6CF"/>
                </a:solidFill>
                <a:latin typeface="Arial"/>
              </a:rPr>
              <a:t>SAMPLE / NO OWNER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092700"/>
            <a:ext cx="11176000" cy="3073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400">
                <a:solidFill>
                  <a:srgbClr val="35E5C5"/>
                </a:solidFill>
                <a:latin typeface="Arial"/>
              </a:rPr>
              <a:t>VISUAL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000" y="5403850"/>
            <a:ext cx="11176000" cy="3733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</a:pPr>
            <a:r>
              <a:rPr sz="1800">
                <a:solidFill>
                  <a:srgbClr val="F3F7FF"/>
                </a:solidFill>
                <a:latin typeface="Arial"/>
              </a:rPr>
              <a:t>Distance first. A distinct color per milestone. Source labels stay visible.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000" y="5842000"/>
            <a:ext cx="11176000" cy="31559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885"/>
              </a:lnSpc>
              <a:spcAft>
                <a:spcPts val="0"/>
              </a:spcAft>
            </a:pPr>
            <a:r>
              <a:rPr sz="1450">
                <a:solidFill>
                  <a:srgbClr val="A8B6CF"/>
                </a:solidFill>
                <a:latin typeface="Arial"/>
              </a:rPr>
              <a:t>Other series: PB / First Finish / Event Memory. Organizer and device records remain distinct.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49250"/>
            <a:ext cx="11176000" cy="28257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35E5C5"/>
                </a:solidFill>
                <a:latin typeface="Arial"/>
              </a:rPr>
              <a:t>NEONSHIFT / PERSONAL ACHIEVEMENT NFT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11176000" cy="5880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4030"/>
              </a:lnSpc>
              <a:spcAft>
                <a:spcPts val="0"/>
              </a:spcAft>
            </a:pPr>
            <a:r>
              <a:rPr sz="3100">
                <a:solidFill>
                  <a:srgbClr val="F3F7FF"/>
                </a:solidFill>
                <a:latin typeface="Arial"/>
              </a:rPr>
              <a:t>From verified achievement to wallet ownership.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0"/>
            <a:ext cx="11176000" cy="26606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95"/>
              </a:lnSpc>
              <a:spcAft>
                <a:spcPts val="0"/>
              </a:spcAft>
            </a:pPr>
            <a:r>
              <a:rPr sz="1150">
                <a:solidFill>
                  <a:srgbClr val="A8B6CF"/>
                </a:solidFill>
                <a:latin typeface="Arial"/>
              </a:rPr>
              <a:t>JUDGE APPENDIX 2/3  /  DESIGN PREVIEW - NOT A MINT RECEIPT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778000"/>
            <a:ext cx="2641600" cy="1968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968500"/>
            <a:ext cx="2362200" cy="3238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</a:pPr>
            <a:r>
              <a:rPr sz="1500">
                <a:solidFill>
                  <a:srgbClr val="35E5C5"/>
                </a:solidFill>
                <a:latin typeface="Arial"/>
              </a:rPr>
              <a:t>01 /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508250"/>
            <a:ext cx="2362200" cy="4889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Complete a qualifying run.</a:t>
            </a:r>
          </a:p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Sync it to NeonShift.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800" y="1778000"/>
            <a:ext cx="2641600" cy="1968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2500" y="1968500"/>
            <a:ext cx="2362200" cy="3238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</a:pPr>
            <a:r>
              <a:rPr sz="1500">
                <a:solidFill>
                  <a:srgbClr val="35E5C5"/>
                </a:solidFill>
                <a:latin typeface="Arial"/>
              </a:rPr>
              <a:t>02 /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2500" y="2508250"/>
            <a:ext cx="2362200" cy="4889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Check source and eligibility.</a:t>
            </a:r>
          </a:p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Wait for registry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7600" y="1778000"/>
            <a:ext cx="2641600" cy="1968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7300" y="1968500"/>
            <a:ext cx="2362200" cy="3238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</a:pPr>
            <a:r>
              <a:rPr sz="1500">
                <a:solidFill>
                  <a:srgbClr val="35E5C5"/>
                </a:solidFill>
                <a:latin typeface="Arial"/>
              </a:rPr>
              <a:t>03 /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7300" y="2508250"/>
            <a:ext cx="2362200" cy="4889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Choose public details.</a:t>
            </a:r>
          </a:p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Review metadata and SOL fee.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2400" y="1778000"/>
            <a:ext cx="2641600" cy="196850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2100" y="1968500"/>
            <a:ext cx="2362200" cy="3238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</a:pPr>
            <a:r>
              <a:rPr sz="1500">
                <a:solidFill>
                  <a:srgbClr val="35E5C5"/>
                </a:solidFill>
                <a:latin typeface="Arial"/>
              </a:rPr>
              <a:t>04 /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2100" y="2508250"/>
            <a:ext cx="2362200" cy="48895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Approve in your wallet.</a:t>
            </a:r>
          </a:p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F3F7FF"/>
                </a:solidFill>
                <a:latin typeface="Arial"/>
              </a:rPr>
              <a:t>Wait for chain confirmation.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127500"/>
            <a:ext cx="11176000" cy="34861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145"/>
              </a:lnSpc>
              <a:spcAft>
                <a:spcPts val="0"/>
              </a:spcAft>
            </a:pPr>
            <a:r>
              <a:rPr sz="1650">
                <a:solidFill>
                  <a:srgbClr val="FFD080"/>
                </a:solidFill>
                <a:latin typeface="Arial"/>
              </a:rPr>
              <a:t>CLAIM = USER-INITIATED MINT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508500"/>
            <a:ext cx="11176000" cy="41465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665"/>
              </a:lnSpc>
              <a:spcAft>
                <a:spcPts val="0"/>
              </a:spcAft>
            </a:pPr>
            <a:r>
              <a:rPr sz="2050">
                <a:solidFill>
                  <a:srgbClr val="F3F7FF"/>
                </a:solidFill>
                <a:latin typeface="Arial"/>
              </a:rPr>
              <a:t>Reaching a target does not automatically mint an NFT.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4953000"/>
            <a:ext cx="11176000" cy="35687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</a:pPr>
            <a:r>
              <a:rPr sz="1700">
                <a:solidFill>
                  <a:srgbClr val="F3F7FF"/>
                </a:solidFill>
                <a:latin typeface="Arial"/>
              </a:rPr>
              <a:t>No tSKR spend. Review the current SOL estimate before approving.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5461000"/>
            <a:ext cx="11176000" cy="33210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015"/>
              </a:lnSpc>
              <a:spcAft>
                <a:spcPts val="0"/>
              </a:spcAft>
            </a:pPr>
            <a:r>
              <a:rPr sz="1550">
                <a:solidFill>
                  <a:srgbClr val="A8B6CF"/>
                </a:solidFill>
                <a:latin typeface="Arial"/>
              </a:rPr>
              <a:t>Public blockchain ownership remains visible; optional detail sharing is not anonymity.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5810250"/>
            <a:ext cx="11176000" cy="33210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015"/>
              </a:lnSpc>
              <a:spcAft>
                <a:spcPts val="0"/>
              </a:spcAft>
            </a:pPr>
            <a:r>
              <a:rPr sz="1550">
                <a:solidFill>
                  <a:srgbClr val="A8B6CF"/>
                </a:solidFill>
                <a:latin typeface="Arial"/>
              </a:rPr>
              <a:t>Raw GPS, heart rate and weight are not included in the achievement NFT.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49250"/>
            <a:ext cx="11176000" cy="28257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</a:pPr>
            <a:r>
              <a:rPr sz="1250">
                <a:solidFill>
                  <a:srgbClr val="35E5C5"/>
                </a:solidFill>
                <a:latin typeface="Arial"/>
              </a:rPr>
              <a:t>NEONSHIFT / PERSONAL ACHIEVEMENT NFT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11176000" cy="58801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4030"/>
              </a:lnSpc>
              <a:spcAft>
                <a:spcPts val="0"/>
              </a:spcAft>
            </a:pPr>
            <a:r>
              <a:rPr sz="3100">
                <a:solidFill>
                  <a:srgbClr val="F3F7FF"/>
                </a:solidFill>
                <a:latin typeface="Arial"/>
              </a:rPr>
              <a:t>Claim once. Keep the story. Show the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0"/>
            <a:ext cx="11176000" cy="26606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495"/>
              </a:lnSpc>
              <a:spcAft>
                <a:spcPts val="0"/>
              </a:spcAft>
            </a:pPr>
            <a:r>
              <a:rPr sz="1150">
                <a:solidFill>
                  <a:srgbClr val="A8B6CF"/>
                </a:solidFill>
                <a:latin typeface="Arial"/>
              </a:rPr>
              <a:t>JUDGE APPENDIX 3/3  /  DESIGN PREVIEW - NOT A MINT RECEIPT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651000"/>
            <a:ext cx="11176000" cy="92075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790700"/>
            <a:ext cx="10731500" cy="31559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885"/>
              </a:lnSpc>
              <a:spcAft>
                <a:spcPts val="0"/>
              </a:spcAft>
            </a:pPr>
            <a:r>
              <a:rPr sz="1450">
                <a:solidFill>
                  <a:srgbClr val="35E5C5"/>
                </a:solidFill>
                <a:latin typeface="Arial"/>
              </a:rPr>
              <a:t>ELIGIBLE IS NOT MINTED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2139950"/>
            <a:ext cx="10731500" cy="33210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015"/>
              </a:lnSpc>
              <a:spcAft>
                <a:spcPts val="0"/>
              </a:spcAft>
            </a:pPr>
            <a:r>
              <a:rPr sz="1550">
                <a:solidFill>
                  <a:srgbClr val="F3F7FF"/>
                </a:solidFill>
                <a:latin typeface="Arial"/>
              </a:rPr>
              <a:t>Locked / under review / pending approval stay separate from claimed.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730500"/>
            <a:ext cx="11176000" cy="92075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870200"/>
            <a:ext cx="10731500" cy="31559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885"/>
              </a:lnSpc>
              <a:spcAft>
                <a:spcPts val="0"/>
              </a:spcAft>
            </a:pPr>
            <a:r>
              <a:rPr sz="1450">
                <a:solidFill>
                  <a:srgbClr val="35E5C5"/>
                </a:solidFill>
                <a:latin typeface="Arial"/>
              </a:rPr>
              <a:t>CONFIRMED AND COLLECTED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3219450"/>
            <a:ext cx="10731500" cy="33210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015"/>
              </a:lnSpc>
              <a:spcAft>
                <a:spcPts val="0"/>
              </a:spcAft>
            </a:pPr>
            <a:r>
              <a:rPr sz="1550">
                <a:solidFill>
                  <a:srgbClr val="F3F7FF"/>
                </a:solidFill>
                <a:latin typeface="Arial"/>
              </a:rPr>
              <a:t>Show the reveal, then open the collection and inspect the asset.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3810000"/>
            <a:ext cx="11176000" cy="92075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3949700"/>
            <a:ext cx="10731500" cy="31559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885"/>
              </a:lnSpc>
              <a:spcAft>
                <a:spcPts val="0"/>
              </a:spcAft>
            </a:pPr>
            <a:r>
              <a:rPr sz="1450">
                <a:solidFill>
                  <a:srgbClr val="35E5C5"/>
                </a:solidFill>
                <a:latin typeface="Arial"/>
              </a:rPr>
              <a:t>RETRIES DO NOT CREATE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4298950"/>
            <a:ext cx="10731500" cy="33210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015"/>
              </a:lnSpc>
              <a:spcAft>
                <a:spcPts val="0"/>
              </a:spcAft>
            </a:pPr>
            <a:r>
              <a:rPr sz="1550">
                <a:solidFill>
                  <a:srgbClr val="F3F7FF"/>
                </a:solidFill>
                <a:latin typeface="Arial"/>
              </a:rPr>
              <a:t>An existing on-chain receipt returns the existing asset instead of minting again.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5111750"/>
            <a:ext cx="11176000" cy="3073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400">
                <a:solidFill>
                  <a:srgbClr val="FFD080"/>
                </a:solidFill>
                <a:latin typeface="Arial"/>
              </a:rPr>
              <a:t>LIVE DEMO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5461000"/>
            <a:ext cx="11176000" cy="33210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2015"/>
              </a:lnSpc>
              <a:spcAft>
                <a:spcPts val="0"/>
              </a:spcAft>
            </a:pPr>
            <a:r>
              <a:rPr sz="1550">
                <a:solidFill>
                  <a:srgbClr val="F3F7FF"/>
                </a:solidFill>
                <a:latin typeface="Arial"/>
              </a:rPr>
              <a:t>Eligibility -&gt; privacy + fee preview -&gt; wallet approval -&gt; confirmation -&gt;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5873750"/>
            <a:ext cx="11176000" cy="315595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lnSpc>
                <a:spcPts val="1885"/>
              </a:lnSpc>
              <a:spcAft>
                <a:spcPts val="0"/>
              </a:spcAft>
            </a:pPr>
            <a:r>
              <a:rPr sz="1450">
                <a:solidFill>
                  <a:srgbClr val="A8B6CF"/>
                </a:solidFill>
                <a:latin typeface="Arial"/>
              </a:rPr>
              <a:t>Show the actual asset and transaction on Devnet. Never replace them with sample IDs.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