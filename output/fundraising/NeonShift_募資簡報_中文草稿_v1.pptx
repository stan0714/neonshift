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產品定位提案：運動參與與活動合作平台。從 Android／Seeker 原型切入。畫面為設計稿，不代表正式上線。募資金額、團隊與實績尚待補齊。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本頁為團隊待驗證的客戶問題假設，非市場調查結論。建議訪談至少 10 位主辦方／品牌及 20 位參與者，先判斷是否願意付費解決。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既有 BRD 包含日常健康任務與新增合作活動。再參與與品牌邀請屬商業體驗提案，需依同意及通知政策實作。無須向投資人描述後端或鏈上指令。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 assets/brand 既有設計稿。Logo、Splash、Loading 已完成概念設計；此頁不得被解讀為所有產品功能已完成或取得品牌合作。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300 人為流程示意，不是已舉辦活動或已取得客戶。第一階段發放实體贈品及鏈下數位徽章；NFC 標籤只作入口，不保證不可複製。活動成績由來源方確認，不冒充健康資料證明。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來源 S1，2025 年報告，2024 年實績；身體活動章節，PDF p.61–65。健身科技 85.9 十億美元、亞太 319.7 十億美元、全球 1,143.9 十億美元。三者有包含／重疊关系，不相加。健身科技包含硬體，不是 NeonShift 的 TAM。查核日期 2026-09-14。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 PDF p.63–64：科技市場同比成長 12.1%；App、串流與隨選服務支出五年 CAGR 21.5%。不代表本公司預期增速。補充 S2：有可比資料國家在 2024 年營收平均增 8%，非全球加權成長率。S3 官方 2026-07-14 公告逾 10 萬人具 SKR 領取資格，並非活躍數、健身用戶數或本公司觸達人數。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 尚無可核驗的區域客戶母體，因此此頁不宣稱正式 TAM/SAM/SOM。1,000 家是假設，不是已盤點家數；須建立活動頻率、預算與 Android 參與者適配的名單。20 家是第 3 年基準情境，非已簽約或預測。年度場次收入不是 ARR；不同幣別未換算或相加。來源 S1 僅支持產業上界。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本次募資簡報提出的商業假設，未更動既有產品範圍／價目表。價格未完成客戶訪談。活動與品牌專案須有獨立可計費工作範圍，同一服務不得重複計收入；財務模型採平台服務收入，不含代收贊助款、獎品及售票總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家為下一階段招募目標，尚非已確認合作。初期 Android／Seeker 限制可服務人群；公開網頁入口不等於已具跨平台完整參加體驗。應驗證限制是否妨礙主辦方採用，再決定是否正式變更平台範圍。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本頁為自家定位分析，不是逐一競品功能研究。NFC、積分與徽章容易被複製，不單獨視為護城河。應把合作續約、交付效率、跨活動回訪視為驗證指標，且不能以鎖住用戶資料建立優勢。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2026-09-15 自動驗證：動畫相關 17 項、新手與既有流程 23 項測試通過，型別檢查通過；是分次驗證，不當作完整端到端驗收。NftReveal 尚為鞋／徽章展示，非所有 metadata 圖片。低階裝置效能、讀屏與理解度待實機。來源：PG-A-17、PG-UX-01、Style §25。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歷史機制：https://stepnofficial.medium.com/tokeonomics-at-stepn-ee08604e82f1 。負向循環為本案機制推論，非量化因果歸因。當年另有大盤下跌與中國 GPS 限制衝擊：https://www.coindesk.com/markets/2022/05/29/first-mover-asia-bitcoin-extends-losing-streak-new-lunas-crash-like-old-lunas-stepns-china-dilemma 。不將價格下跌等同 STEPN 停止營運。完整對照 docs/economics/stepn-risk-review.md。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來源：tools/tokenomics/stress.mjs 與 docs/economics/stress.csv；常數來自 Rust，未讀當前 RPC。9 組包含 100／1000／10000 錢包與 Lv1／Lv5／40 日上限。此頁選滿階不含 streak 情境。庫存／日需求為理論比值，按筆領取可能先遇不足，不是保證服務天數。固定供給限制增發，但不保證流通價格或現金價值。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PG-EC-02～05 為 TODO，未改現行合約。現況 clock_in 的代幣轉帳失敗會讓 XP 更新一起回滾；不能單靠把獎勵設為零修復。全站日預算 1000、保留 20000／180 天只是報告範例，非定案；真實獎品需實收且已撥款的成本準備。收入不含參賽本金或自家幣升值；保留既有承諾，僅調整未來活動。募資下一阶段需完成這些技術與需求驗收。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不把 PG TODO 或設計圖當成功能上線，不把 BRD 的 500 用戶、30% 留存當成實績。程式存在只能說明原型工作進行中，未在此做完整系統驗收。tSKR 為 devnet 測試代幣，無金錢價值、非官方 SKR。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全部為建議門檻，不是承諾或業績。再採購指獨立的新付費活動；貢獻毛利＝服務收入減可歸屬雲端、支付、客服、現場與外包交付成本，不等於公司淨利。門檻未達應調整產品、客群或支出。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年年化場次情境，不是 12 個月目標或 ARR。各情境公式如投影片。品牌案與活動服務的工作範圍分開計費，避免雙算。同一年度總收入保守 140 萬、基準 390 萬、擴張 1,200 萬。未含稅，未扣團隊固定成本及獲客費，無法推論損益兩平。基準情境不足支撐每年 1,200 萬支出，需進一步驗證更高客戶密度／訂閱或降低支出。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使用者未提供金額，故採 NT$1,200 萬／12 月示意而非正式募資條件。配置 540+300+180+180=1,200 萬。並非經薪資、聘僱與現場預算驗證的 burn rate；正式募資前需依現有人力、現金、薪資及試辦報價重算。無投資報酬保證、不含代幣募資。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不虛構創辦人背景、合作方 Logo 或既有投資人。寄出正式募資版本前，必須補姓名、職稱、過往實績、股權／全職投入、聯絡資訊。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 Global Wellness Institute｜2025 Global Wellness Economy Monitor</a:t>
            </a:r>
          </a:p>
          <a:p>
            <a:r>
              <a:t>https://globalwellnessinstitute.org/wp-content/uploads/2025/11/2025-GWI-WE-Monitor_DIGITAL-FINAL.pdf</a:t>
            </a:r>
          </a:p>
          <a:p>
            <a:r>
              <a:t>S2 HFA｜Fitness Industry’s Global Momentum Continued in 2024</a:t>
            </a:r>
          </a:p>
          <a:p>
            <a:r>
              <a:t>https://www.healthandfitness.org/fitness-industrys-global-momentum-continued-in-2024-new-report-shows/</a:t>
            </a:r>
          </a:p>
          <a:p>
            <a:r>
              <a:t>S3 Solana Mobile｜SKR is Live，2026-07-14</a:t>
            </a:r>
          </a:p>
          <a:p>
            <a:r>
              <a:t>https://solanamobile.com/blog/skr-is-live</a:t>
            </a:r>
          </a:p>
          <a:p>
            <a:r>
              <a:t>所有外部数据查核日期 2026-09-14；本案價格、家數、收入與募資數字皆為自建情境。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E1／E2 網頁於前次分析讀取，2026-09-16 沿用歷史資料；本次未重新查市場即時數據。E3: docs/economics/stepn-risk-review.md、stress.csv、programs/neonshift-core/src/constants.rs、instructions/clock_in.rs、tournament_math.rs。已驗證预算與守恆斷言；未建模價格／流動性／留存。市場來源 S1～S3 沿用 2026-09-14 查核。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本簡報為中文募資討論草稿，不代表活動合作、收入、投資條件已經成立。商業模型及募資金額以使用者補充資料後修訂。投資重點是參與經營與 B2B 合作；tSKR 是測試代幣且無金錢價值，不是官方 SKR。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lobalwellnessinstitute.org/wp-content/uploads/2025/11/2025-GWI-WE-Monitor_DIGITAL-FINAL.pdf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lobalwellnessinstitute.org/wp-content/uploads/2025/11/2025-GWI-WE-Monitor_DIGITAL-FINAL.pdf" TargetMode="Externa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lobalwellnessinstitute.org/wp-content/uploads/2025/11/2025-GWI-WE-Monitor_DIGITAL-FINAL.pdf" TargetMode="External"/><Relationship Id="rId3" Type="http://schemas.openxmlformats.org/officeDocument/2006/relationships/hyperlink" Target="https://www.healthandfitness.org/fitness-industrys-global-momentum-continued-in-2024-new-report-shows/" TargetMode="External"/><Relationship Id="rId4" Type="http://schemas.openxmlformats.org/officeDocument/2006/relationships/hyperlink" Target="https://solanamobile.com/blog/skr-is-live" TargetMode="Externa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tepnofficial.medium.com/tokeonomics-at-stepn-ee08604e82f1" TargetMode="External"/><Relationship Id="rId3" Type="http://schemas.openxmlformats.org/officeDocument/2006/relationships/hyperlink" Target="https://www.coindesk.com/markets/2022/05/29/first-mover-asia-bitcoin-extends-losing-streak-new-lunas-crash-like-old-lunas-stepns-china-dilemma" TargetMode="External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品牌 × 活動 × 持續參與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讓每一次運動，連結下一次參與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640080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30EBC8"/>
                </a:solidFill>
                <a:latin typeface="Microsoft JhengHei"/>
                <a:ea typeface="Microsoft JhengHei"/>
              </a:rPr>
              <a:t>NeonShift 賽博躍遷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6400800" cy="10058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4F8FF"/>
                </a:solidFill>
                <a:latin typeface="Microsoft JhengHei"/>
                <a:ea typeface="Microsoft JhengHei"/>
              </a:rPr>
              <a:t>把日常健康任務、現場活動與個人成績，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4F8FF"/>
                </a:solidFill>
                <a:latin typeface="Microsoft JhengHei"/>
                <a:ea typeface="Microsoft JhengHei"/>
              </a:rPr>
              <a:t>串成可持續經營的運動關係。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6240"/>
            <a:ext cx="6035040" cy="9144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AAB7CC"/>
                </a:solidFill>
                <a:latin typeface="Microsoft JhengHei"/>
                <a:ea typeface="Microsoft JhengHei"/>
              </a:rPr>
              <a:t>從 Solana Mobile 社群切入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AAB7CC"/>
                </a:solidFill>
                <a:latin typeface="Microsoft JhengHei"/>
                <a:ea typeface="Microsoft JhengHei"/>
              </a:rPr>
              <a:t>面向跑團、主辦方與運動品牌的合作平台</a:t>
            </a:r>
          </a:p>
        </p:txBody>
      </p:sp>
      <p:pic>
        <p:nvPicPr>
          <p:cNvPr id="10" name="Picture 9" descr="neonshift-splash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1965960" cy="42611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投資人簡報草稿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活動結束後，關係不應歸零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待訪談驗證的三個痛點：參與者難持續、主辦方難回訪、品牌難衡量。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參與者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健康紀錄與活動成績分散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缺乏回到下一次活動的理由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活動主辦方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宣傳、報到、發放與成績分開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難追蹤跨場次參與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合作品牌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一次曝光之後缺少後續連結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需要看見到場與實際領取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投資人簡報草稿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建立「日常任務 → 活動 → 再參與」循環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核心價值是提升參與與回訪；獎勵是體驗的一部分。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日常養成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步數與睡眠任務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成長型跑鞋與進度回饋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線下參與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合作活動宣傳與報名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NFC／QR 報到、贈品與徽章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持續連結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活動成績冊與個人歷程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下一場邀請與回訪衡量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投資人簡報草稿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用同一個品牌體驗，承接線上與現場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深藍黑底、青綠至紫色的 N 躍遷識別；可延伸至活動、NFC 載具與成績憑證。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04</a:t>
            </a:r>
          </a:p>
        </p:txBody>
      </p:sp>
      <p:pic>
        <p:nvPicPr>
          <p:cNvPr id="8" name="Picture 7" descr="neonshift-identity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23160"/>
            <a:ext cx="5897880" cy="3931920"/>
          </a:xfrm>
          <a:prstGeom prst="rect">
            <a:avLst/>
          </a:prstGeom>
        </p:spPr>
      </p:pic>
      <p:pic>
        <p:nvPicPr>
          <p:cNvPr id="9" name="Picture 8" descr="neonshift-loading-v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874519"/>
            <a:ext cx="1874519" cy="4059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921240" y="3931920"/>
            <a:ext cx="1417320" cy="9144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既有視覺設計稿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非正式上線截圖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投資人簡報草稿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合作活動，是第一個可收費的切入口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案例示意：跑團／品牌共同辦理一場 300 人活動，並追蹤後續回訪。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共同宣傳與來源追蹤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報名名單與參加規則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NFC／QR 到場核驗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庫存控管、贈品與數位徽章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主辦方確認成績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成果報告與下一場參與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產業規模｜2024 年實績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產業規模足夠大，但必須聚焦付費場景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全球身體活動經濟包含運動服務、用品與科技；數字不能當成平台可取得的營收。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6126480"/>
            <a:ext cx="10698480" cy="2286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  <a:hlinkClick r:id="rId2"/>
              </a:rPr>
              <a:t>S1｜Global Wellness Institute｜2025 Global Wellness Economy 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651760"/>
            <a:ext cx="3474720" cy="28346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962656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900" b="1">
                <a:solidFill>
                  <a:srgbClr val="30EBC8"/>
                </a:solidFill>
                <a:latin typeface="Microsoft JhengHei"/>
                <a:ea typeface="Microsoft JhengHei"/>
              </a:rPr>
              <a:t>1.14 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913632"/>
            <a:ext cx="3108960" cy="5486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美元｜全球身體活動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4681728"/>
            <a:ext cx="3108960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2024 年：1,143.9 十億美元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651760"/>
            <a:ext cx="3474720" cy="28346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962656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900" b="1">
                <a:solidFill>
                  <a:srgbClr val="30EBC8"/>
                </a:solidFill>
                <a:latin typeface="Microsoft JhengHei"/>
                <a:ea typeface="Microsoft JhengHei"/>
              </a:rPr>
              <a:t>859 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913632"/>
            <a:ext cx="3108960" cy="5486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美元｜全球健身科技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681728"/>
            <a:ext cx="3108960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包含硬體、軟體及服務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651760"/>
            <a:ext cx="3474720" cy="28346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962656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900" b="1">
                <a:solidFill>
                  <a:srgbClr val="30EBC8"/>
                </a:solidFill>
                <a:latin typeface="Microsoft JhengHei"/>
                <a:ea typeface="Microsoft JhengHei"/>
              </a:rPr>
              <a:t>3,197 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913632"/>
            <a:ext cx="3108960" cy="5486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美元｜亞太身體活動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681728"/>
            <a:ext cx="3108960" cy="5943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B7CC"/>
                </a:solidFill>
                <a:latin typeface="Microsoft JhengHei"/>
                <a:ea typeface="Microsoft JhengHei"/>
              </a:rPr>
              <a:t>區域背景，非活動軟體市場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市場動能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數位運動正在成長，現場經營仍需驗證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外部資料支持需求背景；NeonShift 的商業可行性仍要用付費試辦證明。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6126480"/>
            <a:ext cx="10698480" cy="2286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  <a:hlinkClick r:id="rId2"/>
              </a:rPr>
              <a:t>S1｜Global Wellness Institute｜2025 Global Wellness Economy 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12.1%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2024 年全球健身科技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較前一年成長率 [S1]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21.5%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健身 App／串流／隨選服務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2019–2024 年複合成長率 [S1]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社群切入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先以 Seeker 社群測試參與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再驗證主辦方與品牌付費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市場估算｜情境而非市場普查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從可接觸的主辦方，推算收入機會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建議先驗證台灣跑團／活動合作，再評估跨區擴張；地區選擇為待確認策略。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產業上界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全球健身科技：859 億美元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含硬體，僅作參考 [S1]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服務市場情境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假設 1,000 家合格主辦方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每年 6 場 × 每場 NT$30,000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＝ NT$1.8 億／年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早期取得情境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20 家付費主辦方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每年 4 場 × 每場 NT$30,000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＝ NT$240 萬／年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商業模式提案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先讓主辦方與品牌付費，再擴大會員價值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收費依服務價值；不將代幣升值或出售健康資料當作營收來源。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活動服務費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每場 NT$30,000 起（假設）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報名、核銷、成績與報告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硬體／現場人力另報價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品牌合作專案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每案 NT$100,000（假設）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主題任務與成效彙總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獎品與媒體費另外編列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後續訂閱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多場活動管理與進階報告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需先驗證反覆使用與續約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尚未納入收入模型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市場進入策略｜建議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讓每一場活動，成為下一場的獲客入口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01｜共同試辦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先找 3 家設計合作夥伴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跑團、主辦方、運動品牌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確認痛點與付費意願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02｜可複製交付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統一報到／發放／成績流程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衡量每場交付成本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以真實案例取得續辦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03｜跨場次回訪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追蹤同意參與者的再報名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共同品牌導流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先擴同客戶，再擴地區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定位與替代方案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差異來自跨場次經營，而非單一 NFC 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以下比較的是使用情境，不是宣稱所有競品都缺少某項功能。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既有替代方案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運動紀錄 App：日常數據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活動工具：單場交付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品牌行銷：短期觸及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NeonShift 提案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日常任務＋合作活動＋成績冊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把報到、領取與回訪串連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提供可衡量合作成果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待建立的優勢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穩定交付與主辦方續約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經同意的跨場參與歷程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合作密度與品牌辨識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產品體驗｜已實作，待實機驗收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讓新玩家看懂玩法，讓努力值得紀念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新手指南 → 每日任務 → 裝備成長 → 成就收藏；從理解玩法到感受榮耀。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第一次就知道怎麼玩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四張玩法卡＋首次四步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可略過、個人頁可重看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繁中／英文同步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取得 NFT 的榮耀感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卡背翻轉、金色光環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粒子與卡面掃光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新領取成功才揭曉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升降等都有回饋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升等：能量擴散與進場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降等：冷色收縮與下沉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支援減少動態效果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經濟設計｜機制分析，不是價格預測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STEPN 的教訓：獎勵需求不能只靠再投資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2022 年官方描述：GST 可增發；升級與鑄鞋消耗代幣；新玩家與擴充裝備帶來購買需求。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需求的脆弱點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若消耗是為了未來賺更多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收益预期轉弱時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再投資需求也可能減少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已有的不同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免費初始鞋與免費升級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NFT 作為成就收藏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探索冊外觀無收益加成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仍未解決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固定供給仍可能領完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單人限額不是全站預算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競技場不是外部收入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6062472"/>
            <a:ext cx="1069848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AAB7CC"/>
                </a:solidFill>
                <a:latin typeface="Microsoft JhengHei"/>
                <a:ea typeface="Microsoft JhengHei"/>
              </a:rPr>
              <a:t>來源：STEPN 官方 2022-05-10；市場衝擊另見講稿。上述因果為本案分析。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壓力試算｜不是實際鏈上餘額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成長越快，越需要全站獎勵預算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假設初始金庫 200,000 tSKR；滿階每錢包每天雙任務領 33；無補庫、無回流。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606040"/>
            <a:ext cx="3474720" cy="2286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99232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FCB66"/>
                </a:solidFill>
                <a:latin typeface="Microsoft JhengHei"/>
                <a:ea typeface="Microsoft JhengHei"/>
              </a:rPr>
              <a:t>60.61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041648"/>
            <a:ext cx="31089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100 個合格錢包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2606040"/>
            <a:ext cx="3474720" cy="2286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2999232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FCB66"/>
                </a:solidFill>
                <a:latin typeface="Microsoft JhengHei"/>
                <a:ea typeface="Microsoft JhengHei"/>
              </a:rPr>
              <a:t>6.06 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4041648"/>
            <a:ext cx="31089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1,000 個合格錢包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606040"/>
            <a:ext cx="3474720" cy="228600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999232"/>
            <a:ext cx="3108960" cy="7315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FCB66"/>
                </a:solidFill>
                <a:latin typeface="Microsoft JhengHei"/>
                <a:ea typeface="Microsoft JhengHei"/>
              </a:rPr>
              <a:t>0.61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041648"/>
            <a:ext cx="31089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10,000 個合格錢包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48072"/>
            <a:ext cx="1060704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4F8FF"/>
                </a:solidFill>
                <a:latin typeface="Microsoft JhengHei"/>
                <a:ea typeface="Microsoft JhengHei"/>
              </a:rPr>
              <a:t>公式：200,000 ÷（合格錢包數 × 33）。錢包不等於真人。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23560"/>
            <a:ext cx="1060704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AAB7CC"/>
                </a:solidFill>
                <a:latin typeface="Microsoft JhengHei"/>
                <a:ea typeface="Microsoft JhengHei"/>
              </a:rPr>
              <a:t>固定等級庫存試算；不含成長過程、行為、價格或流動性預測。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經濟保護｜待實作與驗證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把遊戲成長、獎勵預算與真實收入分開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驗收目標：沒有新玩家買幣、沒有幣價上漲，遊戲仍能提供核心體驗。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成長不中斷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打卡與代幣轉帳拆分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金庫為零仍累積進度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不產生未撥款欠款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發放有上限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全站期間預算先撥款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版本、個人封頂與對帳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反作弊及撤銷窗口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獎品有來源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依實收服務／贊助收入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或明列的有限補貼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先保留已承諾履約成本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6062472"/>
            <a:ext cx="1069848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FFCB66"/>
                </a:solidFill>
                <a:latin typeface="Microsoft JhengHei"/>
                <a:ea typeface="Microsoft JhengHei"/>
              </a:rPr>
              <a:t>驗證：無獎金留存、10 倍申領、收入歸零。不能承諾幣價不跌。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現況與驗證計畫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目前是原型階段，募資用來取得市場證據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依現有專案文件與資產整理；尚未提供可核驗的用戶、營收或合作實績。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已具備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需求與產品設計文件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專屬 Logo／啟動畫面視覺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新手指南與三種揭曉動畫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下一步驗證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真實任務與活動端到端流程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主辦方願付價格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現場交付成本與錯誤率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尚待補齊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正式團隊履歷與分工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已簽合作／意向書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用戶留存與實收營收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募資後里程碑提案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12 個月，依驗證結果逐階段投入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這是商業驗證排程，不取代原黑客松開發時程；各階段目標均未達成。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0–3 個月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招募 3 家設計合作夥伴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至少完成 1 場試辦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核驗報到、領取與成績對帳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4–6 個月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累計 5 場付費活動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至少 2 家主辦方再採購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分開追蹤軟體與現場成本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7–12 個月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累計 10 家付費主辦方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建立下一期續約管線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單場貢獻毛利轉正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第 3 年年度營收情境｜非 ARR、非財測承諾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以可追溯假設，建立收入情境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台幣萬元；服務收入不包含獎品、代收款與代幣。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60320"/>
            <a:ext cx="10789920" cy="82296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724912"/>
            <a:ext cx="109728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30EBC8"/>
                </a:solidFill>
                <a:latin typeface="Microsoft JhengHei"/>
                <a:ea typeface="Microsoft JhengHei"/>
              </a:rPr>
              <a:t>保守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4831" y="2724912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4F8FF"/>
                </a:solidFill>
                <a:latin typeface="Microsoft JhengHei"/>
                <a:ea typeface="Microsoft JhengHei"/>
              </a:rPr>
              <a:t>10 × 3 × 3 萬 = 90 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724912"/>
            <a:ext cx="301752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5 × 10 萬 = 50 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2688336"/>
            <a:ext cx="17373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F4F8FF"/>
                </a:solidFill>
                <a:latin typeface="Microsoft JhengHei"/>
                <a:ea typeface="Microsoft JhengHei"/>
              </a:rPr>
              <a:t>140 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529584"/>
            <a:ext cx="10789920" cy="82296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694176"/>
            <a:ext cx="109728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30EBC8"/>
                </a:solidFill>
                <a:latin typeface="Microsoft JhengHei"/>
                <a:ea typeface="Microsoft JhengHei"/>
              </a:rPr>
              <a:t>基準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3694176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4F8FF"/>
                </a:solidFill>
                <a:latin typeface="Microsoft JhengHei"/>
                <a:ea typeface="Microsoft JhengHei"/>
              </a:rPr>
              <a:t>20 × 4 × 3 萬 = 240 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694176"/>
            <a:ext cx="301752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15 × 10 萬 = 150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3657600"/>
            <a:ext cx="17373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F4F8FF"/>
                </a:solidFill>
                <a:latin typeface="Microsoft JhengHei"/>
                <a:ea typeface="Microsoft JhengHei"/>
              </a:rPr>
              <a:t>390 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98848"/>
            <a:ext cx="10789920" cy="82296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663440"/>
            <a:ext cx="109728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30EBC8"/>
                </a:solidFill>
                <a:latin typeface="Microsoft JhengHei"/>
                <a:ea typeface="Microsoft JhengHei"/>
              </a:rPr>
              <a:t>擴張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1" y="466344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4F8FF"/>
                </a:solidFill>
                <a:latin typeface="Microsoft JhengHei"/>
                <a:ea typeface="Microsoft JhengHei"/>
              </a:rPr>
              <a:t>50 × 6 × 3 萬 = 900 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4663440"/>
            <a:ext cx="301752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30 × 10 萬 = 300 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4626864"/>
            <a:ext cx="173736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300" b="1">
                <a:solidFill>
                  <a:srgbClr val="F4F8FF"/>
                </a:solidFill>
                <a:latin typeface="Microsoft JhengHei"/>
                <a:ea typeface="Microsoft JhengHei"/>
              </a:rPr>
              <a:t>1,200 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1" y="2148840"/>
            <a:ext cx="36576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主辦方 × 年場次 × 單價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2148840"/>
            <a:ext cx="301752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獨立品牌專案 × 單價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2148840"/>
            <a:ext cx="13716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AAB7CC"/>
                </a:solidFill>
                <a:latin typeface="Microsoft JhengHei"/>
                <a:ea typeface="Microsoft JhengHei"/>
              </a:rPr>
              <a:t>合計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696712"/>
            <a:ext cx="1078992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FCB66"/>
                </a:solidFill>
                <a:latin typeface="Microsoft JhengHei"/>
                <a:ea typeface="Microsoft JhengHei"/>
              </a:rPr>
              <a:t>單場假設：收入 3 萬 − 直接成本 1.2 萬 = 貢獻 1.8 萬（60%）；成本待試辦驗證。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募資方案｜可調整假設，尚未定案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建議募資 NT$1,200 萬，取得 12 個月驗證窗口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673352"/>
            <a:ext cx="10698480" cy="6400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AAB7CC"/>
                </a:solidFill>
                <a:latin typeface="Microsoft JhengHei"/>
                <a:ea typeface="Microsoft JhengHei"/>
              </a:rPr>
              <a:t>以約 NT$100 萬／月的含緩衝現金配置示意；估值、股權比例與工具待議。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产品與體驗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633472"/>
            <a:ext cx="4114800" cy="173736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2560320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45%  /  540 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合作試辦與客戶開發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319272"/>
            <a:ext cx="2286000" cy="173736"/>
          </a:xfrm>
          <a:prstGeom prst="roundRect">
            <a:avLst/>
          </a:prstGeom>
          <a:solidFill>
            <a:srgbClr val="2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3246120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25%  /  300 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營運、資料保護與法務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05072"/>
            <a:ext cx="1371600" cy="173736"/>
          </a:xfrm>
          <a:prstGeom prst="roundRect">
            <a:avLst/>
          </a:prstGeom>
          <a:solidFill>
            <a:srgbClr val="9B6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3931920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15%  /  180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36576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現金緩衝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690872"/>
            <a:ext cx="1371600" cy="173736"/>
          </a:xfrm>
          <a:prstGeom prst="roundRect">
            <a:avLst/>
          </a:prstGeom>
          <a:solidFill>
            <a:srgbClr val="FFC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4617720"/>
            <a:ext cx="2286000" cy="365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4F8FF"/>
                </a:solidFill>
                <a:latin typeface="Microsoft JhengHei"/>
                <a:ea typeface="Microsoft JhengHei"/>
              </a:rPr>
              <a:t>15%  /  180 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69280"/>
            <a:ext cx="1069848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30EBC8"/>
                </a:solidFill>
                <a:latin typeface="Microsoft JhengHei"/>
                <a:ea typeface="Microsoft JhengHei"/>
              </a:rPr>
              <a:t>投入門檻：付費試辦 → 再採購 → 正向單場貢獻 → 擴大銷售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團隊與投資人合作｜待補具名資料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需要能同時理解運動現場與數位產品的團隊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產品與技術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創辦人姓名／經歷：待補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產品與工程負責人：待補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可展示成果與投入比例：待補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5592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活動與商務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5904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運動活動／品牌經歷：待補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已確認合作與推薦人：待補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客戶開發及現場交付負責人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4528" y="2514600"/>
            <a:ext cx="3477768" cy="3063240"/>
          </a:xfrm>
          <a:prstGeom prst="roundRect">
            <a:avLst/>
          </a:prstGeom>
          <a:solidFill>
            <a:srgbClr val="0B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4840" y="2715768"/>
            <a:ext cx="3057144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30EBC8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4840" y="3236976"/>
            <a:ext cx="3057144" cy="53035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200" b="1">
                <a:solidFill>
                  <a:srgbClr val="F4F8FF"/>
                </a:solidFill>
                <a:latin typeface="Microsoft JhengHei"/>
                <a:ea typeface="Microsoft JhengHei"/>
              </a:rPr>
              <a:t>期待投資人協助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40" y="3931920"/>
            <a:ext cx="3057144" cy="150876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跑團、賽事與品牌引介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商業定價與通路驗證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早期組織與募資治理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可點擊來源｜查核日 2026.09.14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附錄｜市場資料與口徑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20240"/>
            <a:ext cx="1069848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30EBC8"/>
                </a:solidFill>
                <a:latin typeface="Microsoft JhengHei"/>
                <a:ea typeface="Microsoft JhengHei"/>
                <a:hlinkClick r:id="rId2"/>
              </a:rPr>
              <a:t>S1  Global Wellness Institute｜2025 Global Wellness Economy 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87168"/>
            <a:ext cx="10515600" cy="5029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AB7CC"/>
                </a:solidFill>
                <a:latin typeface="Microsoft JhengHei"/>
                <a:ea typeface="Microsoft JhengHei"/>
              </a:rPr>
              <a:t>2025 年發布，2024 年實績；PDF 身體活動章節 p.61–65。市場及成長數據。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82112"/>
            <a:ext cx="1069848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30EBC8"/>
                </a:solidFill>
                <a:latin typeface="Microsoft JhengHei"/>
                <a:ea typeface="Microsoft JhengHei"/>
                <a:hlinkClick r:id="rId3"/>
              </a:rPr>
              <a:t>S2  HFA｜Fitness Industry’s Global Momentum Continued in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10515600" cy="5029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AB7CC"/>
                </a:solidFill>
                <a:latin typeface="Microsoft JhengHei"/>
                <a:ea typeface="Microsoft JhengHei"/>
              </a:rPr>
              <a:t>2025-08-11；可比國家的平均營收成長 8%，非全球加權市場成長。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443983"/>
            <a:ext cx="1069848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30EBC8"/>
                </a:solidFill>
                <a:latin typeface="Microsoft JhengHei"/>
                <a:ea typeface="Microsoft JhengHei"/>
                <a:hlinkClick r:id="rId4"/>
              </a:rPr>
              <a:t>S3  Solana Mobile｜SKR is Live，2026-07-14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10912"/>
            <a:ext cx="10515600" cy="5029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AB7CC"/>
                </a:solidFill>
                <a:latin typeface="Microsoft JhengHei"/>
                <a:ea typeface="Microsoft JhengHei"/>
              </a:rPr>
              <a:t>2026-07-14；逾 10 萬名用戶具 SKR 領取資格，不等於 DAU 或健身市場。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新增來源｜分析完成 2026.09.15，文件同步 2026.09.16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附錄｜經濟評估的來源與重現方式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1051560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30EBC8"/>
                </a:solidFill>
                <a:latin typeface="Microsoft JhengHei"/>
                <a:ea typeface="Microsoft JhengHei"/>
                <a:hlinkClick r:id="rId2"/>
              </a:rPr>
              <a:t>E1｜STEPN 官方，2022-05-10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33472"/>
            <a:ext cx="105156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當時的 GST 供給、消耗與買賣動機。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30EBC8"/>
                </a:solidFill>
                <a:latin typeface="Microsoft JhengHei"/>
                <a:ea typeface="Microsoft JhengHei"/>
                <a:hlinkClick r:id="rId3"/>
              </a:rPr>
              <a:t>E2｜CoinDesk，2022-05-29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76472"/>
            <a:ext cx="105156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大盤與中國服務限制的背景；不作單一因果歸因。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34840"/>
            <a:ext cx="10515600" cy="41148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30EBC8"/>
                </a:solidFill>
                <a:latin typeface="Microsoft JhengHei"/>
                <a:ea typeface="Microsoft JhengHei"/>
              </a:rPr>
              <a:t>E3｜NeonShift 專案試算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919472"/>
            <a:ext cx="1051560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AAB7CC"/>
                </a:solidFill>
                <a:latin typeface="Microsoft JhengHei"/>
                <a:ea typeface="Microsoft JhengHei"/>
              </a:rPr>
              <a:t>node tools/tokenomics/stress.mjs；九組庫存情境。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38912" y="356616"/>
            <a:ext cx="73152" cy="210312"/>
          </a:xfrm>
          <a:prstGeom prst="roundRect">
            <a:avLst/>
          </a:prstGeom>
          <a:solidFill>
            <a:srgbClr val="30E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058400" cy="32004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30EBC8"/>
                </a:solidFill>
                <a:latin typeface="Microsoft JhengHei"/>
                <a:ea typeface="Microsoft JhengHei"/>
              </a:rPr>
              <a:t>NEONSHIFT  /  募資準備清單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0392"/>
            <a:ext cx="10881360" cy="713232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F4F8FF"/>
                </a:solidFill>
                <a:latin typeface="Microsoft JhengHei"/>
                <a:ea typeface="Microsoft JhengHei"/>
              </a:rPr>
              <a:t>附錄｜正式對外前，補齊五項證據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6464808"/>
            <a:ext cx="9144000" cy="201168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900" b="0">
                <a:solidFill>
                  <a:srgbClr val="AAB7CC"/>
                </a:solidFill>
                <a:latin typeface="Microsoft JhengHei"/>
                <a:ea typeface="Microsoft JhengHei"/>
              </a:rPr>
              <a:t>募資討論稿・2026.09.16｜商業方案／數值假設待確認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088" y="6428232"/>
            <a:ext cx="457200" cy="27432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30EBC8"/>
                </a:solidFill>
                <a:latin typeface="Microsoft JhengHei"/>
                <a:ea typeface="Microsoft JhengHe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30EBC8"/>
                </a:solidFill>
                <a:latin typeface="Microsoft JhengHei"/>
                <a:ea typeface="Microsoft JhengHei"/>
              </a:rPr>
              <a:t>01  團隊姓名、專長、全職投入與股權結構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71216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F4F8FF"/>
                </a:solidFill>
                <a:latin typeface="Microsoft JhengHei"/>
                <a:ea typeface="Microsoft JhengHei"/>
              </a:rPr>
              <a:t>02  主辦方访談、試辦意向與可聯絡推薦人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02152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F4F8FF"/>
                </a:solidFill>
                <a:latin typeface="Microsoft JhengHei"/>
                <a:ea typeface="Microsoft JhengHei"/>
              </a:rPr>
              <a:t>03  示範流程、實機驗收與使用者留存資料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33087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F4F8FF"/>
                </a:solidFill>
                <a:latin typeface="Microsoft JhengHei"/>
                <a:ea typeface="Microsoft JhengHei"/>
              </a:rPr>
              <a:t>04  定價測試、單場成本與獲客成本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64024"/>
            <a:ext cx="10607040" cy="457200"/>
          </a:xfrm>
          <a:prstGeom prst="rect">
            <a:avLst/>
          </a:prstGeom>
          <a:noFill/>
        </p:spPr>
        <p:txBody>
          <a:bodyPr wrap="square" lIns="9144" rIns="9144" tIns="9144" bIns="9144">
            <a:spAutoFit/>
          </a:bodyPr>
          <a:lstStyle/>
          <a:p>
            <a:pPr>
              <a:spcAft>
                <a:spcPts val="800"/>
              </a:spcAft>
            </a:pPr>
            <a:r>
              <a:rPr sz="2100" b="0">
                <a:solidFill>
                  <a:srgbClr val="F4F8FF"/>
                </a:solidFill>
                <a:latin typeface="Microsoft JhengHei"/>
                <a:ea typeface="Microsoft JhengHei"/>
              </a:rPr>
              <a:t>05  募資金額、現金預算、估值及使用條件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NeonShift 中文募資簡報｜討論草稿</dc:title>
  <dc:subject>合作活動、運動參與、產業規模與商業驗證</dc:subject>
  <dc:creator>NeonShift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