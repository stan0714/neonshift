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2026-09-18 策略提案：日常運動 × 在地保育參與 × 可查核合作成果。共同主張「為自己而動，為棲地同行」。從 Android／Seeker 原型切入，優先試辦品牌付費的四週行動季；SOL 指 Solana／SOL 生態。畫面為設計稿，保育合作、付費客戶與成果尚待驗證。完整研究：docs/sustainability-direction.md。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本頁為團隊待驗證的客戶問題假設，非市場調查結論。建議訪談至少 10 位主辦方／品牌及 20 位參與者，先判斷是否願意付費解決。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既有 BRD 包含日常健康任務與新增合作活動。再參與與品牌邀請屬商業體驗提案，需依同意及通知政策實作。無須向投資人描述後端或鏈上指令。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 assets/brand 既有設計稿。Logo、Splash、Loading 已完成概念設計；此頁不得被解讀為所有產品功能已完成或取得品牌合作。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300 人為流程示意，不是已舉辦活動或已取得客戶。第一階段發放实體贈品及鏈下數位徽章；NFC 標籤只作入口，不保證不可複製。活動成績由來源方確認，不冒充健康資料證明。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 S1，2025 年報告，2024 年實績；身體活動章節，PDF p.61–65。健身科技 85.9 十億美元、亞太 319.7 十億美元、全球 1,143.9 十億美元。三者有包含／重疊关系，不相加。健身科技包含硬體，不是 NeonShift 的 TAM。查核日期 2026-09-14。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PDF p.63–64：科技市場同比成長 12.1%；App、串流與隨選服務支出五年 CAGR 21.5%。不代表本公司預期增速。補充 S2：有可比資料國家在 2024 年營收平均增 8%，非全球加權成長率。S3 官方 2026-07-14 公告逾 10 萬人具 SKR 領取資格，並非活躍數、健身用戶數或本公司觸達人數。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 尚無可核驗的區域客戶母體，因此此頁不宣稱正式 TAM/SAM/SOM。1,000 家是假設，不是已盤點家數；須建立活動頻率、預算與 Android 參與者適配的名單。20 家是第 3 年基準情境，非已簽約或預測。年度場次收入不是 ARR；不同幣別未換算或相加。來源 S1 僅支持產業上界。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本次募資簡報提出的商業假設，未更動既有產品範圍／價目表。價格未完成客戶訪談。活動與品牌專案須有獨立可計費工作範圍，同一服務不得重複計收入；財務模型採平台服務收入，不含代收贊助款、獎品及售票總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家為下一階段招募目標，尚非已確認合作。初期 Android／Seeker 限制可服務人群；公開網頁入口不等於已具跨平台完整參加體驗。應驗證限制是否妨礙主辦方採用，再決定是否正式變更平台範圍。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本頁為自家定位分析，不是逐一競品功能研究。NFC、積分與徽章容易被複製，不單獨視為護城河。應把合作續約、交付效率、跨活動回訪視為驗證指標，且不能以鎖住用戶資料建立優勢。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2026-09-15 自動驗證：動畫相關 17 項、新手與既有流程 23 項測試通過，型別檢查通過；是分次驗證，不當作完整端到端驗收。NftReveal 尚為鞋／徽章展示，非所有 metadata 圖片。低階裝置效能、讀屏與理解度待實機。來源：PG-A-17、PG-UX-01、Style §25。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首版系列 wild-guardians-v1，保留原等級與 XP 規則；首頁、裝備、藝廊共用動物圖層。鞋圖由既有 SVG 與新動物元素產生，是簡報設計示意而非實機畫面。App 已實作，待實機辨識度與旋轉驗收。物種故事來源 W1–W4，2026-09-17 查核；不宣稱保育合作。規格 docs/design/wild-guardian-shoes.md。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展示同一 Lv.4 老虎的三款細節，並非三個不同能力等級。未解鎖詳情顯示成長盒，升階沿用揭曉流程。現行依系列 ID＋錢包＋等級固定雜湊分配，可預測，非鏈上隨機抽取或稀有度證明；不宣稱精確抽中機率。款式為 App 外觀，與既有鏈上紀念 NFT 分開。重開、重裝與跨裝置同錢包保持相同結果；未建立二級交易或付費重抽。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已完成 App 故事卡、來源連結及系列識別；聯名發行、系列切換、NFT 獨立款式 metadata 尚未實作。現在的共用 kind URI 無法表示每個錢包的獨立款式，需先完成每資產權威紀錄。保育行動為教育建議，不表示 WWF 授權或合作；未承諾任何捐款。未來衡量故事閱讀、來源開啟與回訪，尚無實績。</a:t>
            </a:r>
          </a:p>
          <a:p>
            <a:r>
              <a:t>W1 WWF｜亞洲象 https://www.worldwildlife.org/species/elephant/asian-elephant/</a:t>
            </a:r>
          </a:p>
          <a:p>
            <a:r>
              <a:t>W2 WWF｜玳瑁 https://www.worldwildlife.org/species/sea-turtle/hawksbill-turtle/</a:t>
            </a:r>
          </a:p>
          <a:p>
            <a:r>
              <a:t>W3 WWF｜老虎 https://www.worldwildlife.org/species/tiger/</a:t>
            </a:r>
          </a:p>
          <a:p>
            <a:r>
              <a:t>W4 WWF｜遠東豹 https://www.worldwildlife.org/species/amur-leopard/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2026-09-19 新增設計，完整規格見 docs/shoe-sync-activity.md。已取得外觀可切換並連動背景；正常降級不收回外觀，但倍率與成就資格仍依 Active level。自動同步採 opt-in，所有入口共用由舊到新佇列；失敗阻擋後續、晚到或更正需重算。私人日誌合併本機與遠端去重，雲端保留不默默延長；原始 GPS 留本機。不宣稱新設計已通過 APK 驗收或帶來留存成果。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本案策略推論，尚無市場驗證。優先品牌／企業四週保育行動季，其次是主辦方多場管理；會員外觀等留存成立後再測。補助僅作有限建置資源。SOL 質押收益捐款與碳權交易暫緩。四方合作尚未成立，不使用任何機構 Logo 暗示背書。見研究文件 §1–3。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 是 Solana 原生資產，與官方 SKR、本案 devnet tSKR 不同；tSKR 無金錢價值。官方 Fees 文件支持交易費以 SOL 支付。2023-12-06 能源報告描述歷史排放與抵換，不代表 NeonShift 或當前網路已碳中和。C0 儀表板工具無法讀取動態指標，本次不引用最新排放數字。第一季可先用資料庫與可下載報告；鏈上摘要、代付均為待實作。個人健康紀錄、行蹤與敏感物種座標不上鏈。見研究 §4。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CBD 目標 3 支持有效保育、连通性與公平治理，15 支持企業評估揭露，19 支持資源透明與社區集體行動；不是本案認證。LNT 支持保持距離、不餵食與避開敏感期。全球鞋款主題不能被解讀為台灣活動直接改善海外物種棲地。建議城市步行、故事問答、經場域同意的低干擾同行及專業带領任務，不設敏感地點打卡。專家審稿與現場帶領應付費。見研究 §5。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完整責任見研究 §6。保育方決定場域承載與任务，品牌不能要求誇大成果。平台负责活動、資料權限及申訴；Solana 社群是可能的參與與技術協作來源，並非已確認合作方。對保育方採合理專業費用與可接受的證據負擔，不用遊戲化志工取代必要專業工作。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 §7 自建情境：平台 100000，交付 60000，預留 10000，餘額 30000；保育款 20000 由品牌另付。交付成本包含協調客服 20000、現場 15000、專家內容 10000、雲端支付鏈費 5000、交通物料 10000。專家費與保育執行款須有不同工作範圍。先收平台 70000，才啟動不超過該額的成本與預留，尾款依合約里程碑支付。售價降至 80000 且交付成本升至 80000 時，預留後為 -10000，停止複製。四週方案替代同範圍基本活動費，不能與原有募資營收重複加總。實體獎品另行報價與預撥。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 §8 定義：30 日再參與率分母為完成當季且有完整觀察窗的同意追蹤者，另列拒絕與失訪；列實際 n。報告最少包含 campaign_id、期間、規則版本、方法、分母、實收已撥、受款確認、證據日期、覆核及限制。相同志工時段不重複計，聯合贊助的共同成果不能各自宣稱獨立新增。原始敏感憑證留受控系統，鏈上雜湊不自動匿名。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 §9：期間从正式啟動日算，角色待具名。D1–14 訪談 10 位付費方、3 個保育組織、20 位玩家，至少取得具價格範圍的付費意向及共編夥伴。首要技術依賴 PG-EC-02～04；若未完成，獨立鏈下活動可先試辦，不宣稱現行 clock_in 已能在金庫為零時累積 XP。小樣本需列分母、失訪與完整觀察窗，不作因果推論。未達門檻則調整客群、範圍或價格。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歷史機制：https://stepnofficial.medium.com/tokeonomics-at-stepn-ee08604e82f1 。負向循環為本案機制推論，非量化因果歸因。當年另有大盤下跌與中國 GPS 限制衝擊：https://www.coindesk.com/markets/2022/05/29/first-mover-asia-bitcoin-extends-losing-streak-new-lunas-crash-like-old-lunas-stepns-china-dilemma 。不將價格下跌等同 STEPN 停止營運。完整對照 docs/economics/stepn-risk-review.md。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來源：tools/tokenomics/stress.mjs 與 docs/economics/stress.csv；常數來自 Rust，未讀當前 RPC。9 組包含 100／1000／10000 錢包與 Lv1／Lv5／40 日上限。此頁選滿階不含 streak 情境。庫存／日需求為理論比值，按筆領取可能先遇不足，不是保證服務天數。固定供給限制增發，但不保證流通價格或現金價值。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PG-EC-02～05 為 TODO，未改現行合約。現況 clock_in 的代幣轉帳失敗會讓 XP 更新一起回滾；不能單靠把獎勵設為零修復。全站日預算 1000、保留 20000／180 天只是報告範例，非定案；真實獎品需實收且已撥款的成本準備。收入不含參賽本金或自家幣升值；保留既有承諾，僅調整未來活動。募資下一阶段需完成這些技術與需求驗收。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不把 PG TODO 或設計圖當成功能上線，不把 BRD 的 500 用戶、30% 留存當成實績。程式存在只能說明原型工作進行中，未在此做完整系統驗收。tSKR 為 devnet 測試代幣，無金錢價值、非官方 SKR。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全部為建議門檻，不是承諾或業績。再採購指獨立的新付費活動；貢獻毛利＝服務收入減可歸屬雲端、支付、客服、現場與外包交付成本，不等於公司淨利。門檻未達應調整產品、客群或支出。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年年化場次情境，不是 12 個月目標或 ARR。各情境公式如投影片。品牌案與活動服務的工作範圍分開計費，避免雙算。同一年度總收入保守 140 萬、基準 390 萬、擴張 1,200 萬。未含稅，未扣團隊固定成本及獲客費，無法推論損益兩平。基準情境不足支撐每年 1,200 萬支出，需進一步驗證更高客戶密度／訂閱或降低支出。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使用者未提供金額，故採 NT$1,200 萬／12 月示意而非正式募資條件。配置 540+300+180+180=1,200 萬。並非經薪資、聘僱與現場預算驗證的 burn rate；正式募資前需依現有人力、現金、薪資及試辦報價重算。無投資報酬保證、不含代幣募資。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不虛構創辦人背景、合作方 Logo 或既有投資人。寄出正式募資版本前，必須補姓名、職稱、過往實績、股權／全職投入、聯絡資訊。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Global Wellness Institute｜2025 Global Wellness Economy Monitor</a:t>
            </a:r>
          </a:p>
          <a:p>
            <a:r>
              <a:t>https://globalwellnessinstitute.org/wp-content/uploads/2025/11/2025-GWI-WE-Monitor_DIGITAL-FINAL.pdf</a:t>
            </a:r>
          </a:p>
          <a:p>
            <a:r>
              <a:t>S2 HFA｜Fitness Industry’s Global Momentum Continued in 2024</a:t>
            </a:r>
          </a:p>
          <a:p>
            <a:r>
              <a:t>https://www.healthandfitness.org/fitness-industrys-global-momentum-continued-in-2024-new-report-shows/</a:t>
            </a:r>
          </a:p>
          <a:p>
            <a:r>
              <a:t>S3 Solana Mobile｜SKR is Live，2026-07-14</a:t>
            </a:r>
          </a:p>
          <a:p>
            <a:r>
              <a:t>https://solanamobile.com/blog/skr-is-live</a:t>
            </a:r>
          </a:p>
          <a:p>
            <a:r>
              <a:t>所有外部数据查核日期 2026-09-14；本案價格、家數、收入與募資數字皆為自建情境。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E1／E2 網頁於前次分析讀取，2026-09-16 沿用歷史資料；本次未重新查市場即時數據。E3: docs/economics/stepn-risk-review.md、stress.csv、programs/neonshift-core/src/constants.rs、instructions/clock_in.rs、tournament_math.rs。已驗證预算與守恆斷言；未建模價格／流動性／留存。市場來源 S1～S3 沿用 2026-09-14 查核。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C0 Solana Climate Dashboard｜動態值未引用</a:t>
            </a:r>
          </a:p>
          <a:p>
            <a:r>
              <a:t>https://climate.solana.com/</a:t>
            </a:r>
          </a:p>
          <a:p>
            <a:r>
              <a:t>C1 Solana Foundation｜2023 年能源與抵換報告</a:t>
            </a:r>
          </a:p>
          <a:p>
            <a:r>
              <a:t>https://solana.com/news/solana-energy-use-report-december-2023</a:t>
            </a:r>
          </a:p>
          <a:p>
            <a:r>
              <a:t>C2 Solana Docs｜Fees</a:t>
            </a:r>
          </a:p>
          <a:p>
            <a:r>
              <a:t>https://solana.com/docs/core/fees</a:t>
            </a:r>
          </a:p>
          <a:p>
            <a:r>
              <a:t>C3 CBD｜GBF Target 3</a:t>
            </a:r>
          </a:p>
          <a:p>
            <a:r>
              <a:t>https://www.cbd.int/gbf/targets/3</a:t>
            </a:r>
          </a:p>
          <a:p>
            <a:r>
              <a:t>C4 CBD｜GBF Target 15</a:t>
            </a:r>
          </a:p>
          <a:p>
            <a:r>
              <a:t>https://www.cbd.int/gbf/targets/15</a:t>
            </a:r>
          </a:p>
          <a:p>
            <a:r>
              <a:t>C5 CBD｜GBF Target 19</a:t>
            </a:r>
          </a:p>
          <a:p>
            <a:r>
              <a:t>https://www.cbd.int/gbf/targets/19</a:t>
            </a:r>
          </a:p>
          <a:p>
            <a:r>
              <a:t>C6 Leave No Trace｜Respect Wildlife</a:t>
            </a:r>
          </a:p>
          <a:p>
            <a:r>
              <a:t>https://lnt.org/why/7-principles/respect-wildlife/</a:t>
            </a:r>
          </a:p>
          <a:p>
            <a:r>
              <a:t>完整研究、假設與限制：docs/sustainability-direction.md。新增來源查閱於 2026-09-18；不代表機構合作或認證。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本簡報為中文募資討論草稿，不代表活動合作、收入、投資條件已經成立。商業模型及募資金額以使用者補充資料後修訂。投資重點是參與經營與 B2B 合作；tSKR 是測試代幣且無金錢價值，不是官方 SKR。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obalwellnessinstitute.org/wp-content/uploads/2025/11/2025-GWI-WE-Monitor_DIGITAL-FINAL.pdf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obalwellnessinstitute.org/wp-content/uploads/2025/11/2025-GWI-WE-Monitor_DIGITAL-FINAL.pdf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orldwildlife.org/species/elephant/asian-elephant/" TargetMode="External"/><Relationship Id="rId3" Type="http://schemas.openxmlformats.org/officeDocument/2006/relationships/hyperlink" Target="https://www.worldwildlife.org/species/sea-turtle/hawksbill-turtle/" TargetMode="External"/><Relationship Id="rId4" Type="http://schemas.openxmlformats.org/officeDocument/2006/relationships/hyperlink" Target="https://www.worldwildlife.org/species/tiger/" TargetMode="External"/><Relationship Id="rId5" Type="http://schemas.openxmlformats.org/officeDocument/2006/relationships/hyperlink" Target="https://www.worldwildlife.org/species/amur-leopard/" TargetMode="Externa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obalwellnessinstitute.org/wp-content/uploads/2025/11/2025-GWI-WE-Monitor_DIGITAL-FINAL.pdf" TargetMode="External"/><Relationship Id="rId3" Type="http://schemas.openxmlformats.org/officeDocument/2006/relationships/hyperlink" Target="https://www.healthandfitness.org/fitness-industrys-global-momentum-continued-in-2024-new-report-shows/" TargetMode="External"/><Relationship Id="rId4" Type="http://schemas.openxmlformats.org/officeDocument/2006/relationships/hyperlink" Target="https://solanamobile.com/blog/skr-is-live" TargetMode="Externa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tepnofficial.medium.com/tokeonomics-at-stepn-ee08604e82f1" TargetMode="External"/><Relationship Id="rId3" Type="http://schemas.openxmlformats.org/officeDocument/2006/relationships/hyperlink" Target="https://www.coindesk.com/markets/2022/05/29/first-mover-asia-bitcoin-extends-losing-streak-new-lunas-crash-like-old-lunas-stepns-china-dilemma" TargetMode="External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limate.solana.com/" TargetMode="External"/><Relationship Id="rId3" Type="http://schemas.openxmlformats.org/officeDocument/2006/relationships/hyperlink" Target="https://solana.com/news/solana-energy-use-report-december-2023" TargetMode="External"/><Relationship Id="rId4" Type="http://schemas.openxmlformats.org/officeDocument/2006/relationships/hyperlink" Target="https://solana.com/docs/core/fees" TargetMode="External"/><Relationship Id="rId5" Type="http://schemas.openxmlformats.org/officeDocument/2006/relationships/hyperlink" Target="https://www.cbd.int/gbf/targets/3" TargetMode="External"/><Relationship Id="rId6" Type="http://schemas.openxmlformats.org/officeDocument/2006/relationships/hyperlink" Target="https://www.cbd.int/gbf/targets/15" TargetMode="External"/><Relationship Id="rId7" Type="http://schemas.openxmlformats.org/officeDocument/2006/relationships/hyperlink" Target="https://www.cbd.int/gbf/targets/19" TargetMode="External"/><Relationship Id="rId8" Type="http://schemas.openxmlformats.org/officeDocument/2006/relationships/hyperlink" Target="https://lnt.org/why/7-principles/respect-wildlife/" TargetMode="External"/><Relationship Id="rId9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運動 × 保育 × 可持續合作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為自己而動，為棲地同行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640080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30EBC8"/>
                </a:solidFill>
                <a:latin typeface="Microsoft JhengHei"/>
                <a:ea typeface="Microsoft JhengHei"/>
              </a:rPr>
              <a:t>NeonShift 賽博躍遷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6400800" cy="10058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F4F8FF"/>
                </a:solidFill>
                <a:latin typeface="Microsoft JhengHei"/>
                <a:ea typeface="Microsoft JhengHei"/>
              </a:rPr>
              <a:t>把日常運動、在地保育與合作活動，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F4F8FF"/>
                </a:solidFill>
                <a:latin typeface="Microsoft JhengHei"/>
                <a:ea typeface="Microsoft JhengHei"/>
              </a:rPr>
              <a:t>串成能持續參與、可查核的行動。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06240"/>
            <a:ext cx="603504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AAB7CC"/>
                </a:solidFill>
                <a:latin typeface="Microsoft JhengHei"/>
                <a:ea typeface="Microsoft JhengHei"/>
              </a:rPr>
              <a:t>從 Solana Mobile 社群切入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AAB7CC"/>
                </a:solidFill>
                <a:latin typeface="Microsoft JhengHei"/>
                <a:ea typeface="Microsoft JhengHei"/>
              </a:rPr>
              <a:t>面向跑團、主辦方與運動品牌的合作平台</a:t>
            </a:r>
          </a:p>
        </p:txBody>
      </p:sp>
      <p:pic>
        <p:nvPicPr>
          <p:cNvPr id="10" name="Picture 9" descr="neonshift-splash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20"/>
            <a:ext cx="1965960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活動結束後，關係不應歸零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待訪談驗證的三個痛點：參與者難持續、主辦方難回訪、品牌難衡量。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參與者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健康紀錄與活動成績分散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缺乏回到下一次活動的理由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活動主辦方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宣傳、報到、發放與成績分開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難追蹤跨場次參與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合作品牌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一次曝光之後缺少後續連結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需要看見到場與實際領取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建立「日常任務 → 活動 → 再參與」循環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核心價值是提升參與與回訪；獎勵是體驗的一部分。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日常養成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步數與睡眠任務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成長型跑鞋與進度回饋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線下參與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合作活動宣傳與報名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NFC／QR 報到、贈品與徽章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持續連結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活動成績冊與個人歷程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下一場邀請與回訪衡量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用同一個品牌體驗，承接線上與現場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深藍黑底、青綠至紫色的 N 躍遷識別；可延伸至活動、NFC 載具與成績憑證。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04</a:t>
            </a:r>
          </a:p>
        </p:txBody>
      </p:sp>
      <p:pic>
        <p:nvPicPr>
          <p:cNvPr id="8" name="Picture 7" descr="neonshift-identity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3160"/>
            <a:ext cx="5897880" cy="3931920"/>
          </a:xfrm>
          <a:prstGeom prst="rect">
            <a:avLst/>
          </a:prstGeom>
        </p:spPr>
      </p:pic>
      <p:pic>
        <p:nvPicPr>
          <p:cNvPr id="9" name="Picture 8" descr="neonshift-loading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74519"/>
            <a:ext cx="1874519" cy="4059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21240" y="3931920"/>
            <a:ext cx="141732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既有視覺設計稿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非正式上線截圖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合作活動，是第一個可收費的切入口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案例示意：跑團／品牌共同辦理一場 300 人活動，並追蹤後續回訪。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共同宣傳與來源追蹤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報名名單與參加規則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NFC／QR 到場核驗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庫存控管、贈品與數位徽章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主辦方確認成績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成果報告與下一場參與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產業規模｜2024 年實績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產業規模足夠大，但必須聚焦付費場景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全球身體活動經濟包含運動服務、用品與科技；數字不能當成平台可取得的營收。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6126480"/>
            <a:ext cx="10698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  <a:hlinkClick r:id="rId2"/>
              </a:rPr>
              <a:t>S1｜Global Wellness Institute｜2025 Global Wellness Economy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651760"/>
            <a:ext cx="3474720" cy="28346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62656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30EBC8"/>
                </a:solidFill>
                <a:latin typeface="Microsoft JhengHei"/>
                <a:ea typeface="Microsoft JhengHei"/>
              </a:rPr>
              <a:t>1.14 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13632"/>
            <a:ext cx="310896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美元｜全球身體活動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681728"/>
            <a:ext cx="31089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2024 年：1,143.9 十億美元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651760"/>
            <a:ext cx="3474720" cy="28346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962656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30EBC8"/>
                </a:solidFill>
                <a:latin typeface="Microsoft JhengHei"/>
                <a:ea typeface="Microsoft JhengHei"/>
              </a:rPr>
              <a:t>859 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913632"/>
            <a:ext cx="310896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美元｜全球健身科技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681728"/>
            <a:ext cx="31089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包含硬體、軟體及服務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51760"/>
            <a:ext cx="3474720" cy="28346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962656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30EBC8"/>
                </a:solidFill>
                <a:latin typeface="Microsoft JhengHei"/>
                <a:ea typeface="Microsoft JhengHei"/>
              </a:rPr>
              <a:t>3,197 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13632"/>
            <a:ext cx="310896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美元｜亞太身體活動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681728"/>
            <a:ext cx="31089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區域背景，非活動軟體市場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市場動能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數位運動正在成長，現場經營仍需驗證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外部資料支持需求背景；NeonShift 的商業可行性仍要用付費試辦證明。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6126480"/>
            <a:ext cx="10698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  <a:hlinkClick r:id="rId2"/>
              </a:rPr>
              <a:t>S1｜Global Wellness Institute｜2025 Global Wellness Economy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12.1%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2024 年全球健身科技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較前一年成長率 [S1]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21.5%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健身 App／串流／隨選服務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2019–2024 年複合成長率 [S1]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社群切入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先以 Seeker 社群測試參與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再驗證主辦方與品牌付費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市場估算｜情境而非市場普查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從可接觸的主辦方，推算收入機會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建議先驗證台灣跑團／活動合作，再評估跨區擴張；地區選擇為待確認策略。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產業上界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全球健身科技：859 億美元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含硬體，僅作參考 [S1]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服務市場情境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假設 1,000 家合格主辦方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每年 6 場 × 每場 NT$30,000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＝ NT$1.8 億／年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早期取得情境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20 家付費主辦方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每年 4 場 × 每場 NT$30,000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＝ NT$240 萬／年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商業模式提案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先讓主辦方與品牌付費，再擴大會員價值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收費依服務價值；不將代幣升值或出售健康資料當作營收來源。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活動服務費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每場 NT$30,000 起（假設）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報名、核銷、成績與報告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硬體／現場人力另報價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品牌合作專案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每案 NT$100,000（假設）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主題任務與成效彙總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獎品與媒體費另外編列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後續訂閱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多場活動管理與進階報告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需先驗證反覆使用與續約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尚未納入收入模型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市場進入策略｜建議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讓每一場活動，成為下一場的獲客入口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01｜共同試辦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先找 3 家設計合作夥伴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跑團、主辦方、運動品牌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確認痛點與付費意願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02｜可複製交付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統一報到／發放／成績流程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衡量每場交付成本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以真實案例取得續辦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03｜跨場次回訪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追蹤同意參與者的再報名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共同品牌導流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先擴同客戶，再擴地區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定位與替代方案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差異來自跨場次經營，而非單一 NFC 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以下比較的是使用情境，不是宣稱所有競品都缺少某項功能。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既有替代方案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運動紀錄 App：日常數據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活動工具：單場交付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品牌行銷：短期觸及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NeonShift 提案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日常任務＋合作活動＋成績冊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把報到、領取與回訪串連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提供可衡量合作成果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待建立的優勢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穩定交付與主辦方續約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經同意的跨場參與歷程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合作密度與品牌辨識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產品體驗｜已實作，待實機驗收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讓新玩家看懂玩法，讓努力值得紀念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新手指南 → 每日任務 → 裝備成長 → 成就收藏；從理解玩法到感受榮耀。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第一次就知道怎麼玩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四張玩法卡＋首次四步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可略過、個人頁可重看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繁中／英文同步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取得 NFT 的榮耀感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卡背翻轉、金色光環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粒子與卡面掃光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新領取成功才揭曉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升降等都有回饋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升等：能量擴散與進場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降等：冷色收縮與下沉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支援減少動態效果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跑鞋設計｜App 已實作，待實機美術驗收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荒野守護：每次升階，認識一種生命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Lv.1 保留普通「原點」；Lv.2 起將動物特徵融入鞋款。遊戲等級不代表物種價值或瀕危程度。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2560320" cy="3346704"/>
          </a:xfrm>
          <a:prstGeom prst="roundRect">
            <a:avLst/>
          </a:prstGeom>
          <a:solidFill>
            <a:srgbClr val="0B1020"/>
          </a:solidFill>
          <a:ln>
            <a:solidFill>
              <a:srgbClr val="2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2724912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24C8FF"/>
                </a:solidFill>
                <a:latin typeface="Microsoft JhengHei"/>
                <a:ea typeface="Microsoft JhengHei"/>
              </a:rPr>
              <a:t>LV.2  /  WILD GUARDIANS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136392"/>
            <a:ext cx="2286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4F8FF"/>
                </a:solidFill>
                <a:latin typeface="Microsoft JhengHei"/>
                <a:ea typeface="Microsoft JhengHei"/>
              </a:rPr>
              <a:t>森行・亞洲象</a:t>
            </a:r>
          </a:p>
        </p:txBody>
      </p:sp>
      <p:pic>
        <p:nvPicPr>
          <p:cNvPr id="11" name="Picture 10" descr="lv2-d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675887"/>
            <a:ext cx="23774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" y="5212080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4C8FF"/>
                </a:solidFill>
                <a:latin typeface="Microsoft JhengHei"/>
                <a:ea typeface="Microsoft JhengHei"/>
              </a:rPr>
              <a:t>象耳護片 × 象鼻曲線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5568696"/>
            <a:ext cx="22860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棲地破碎與人象共存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2514600"/>
            <a:ext cx="2560320" cy="3346704"/>
          </a:xfrm>
          <a:prstGeom prst="roundRect">
            <a:avLst/>
          </a:prstGeom>
          <a:solidFill>
            <a:srgbClr val="0B1020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3" y="2724912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9B6CFF"/>
                </a:solidFill>
                <a:latin typeface="Microsoft JhengHei"/>
                <a:ea typeface="Microsoft JhengHei"/>
              </a:rPr>
              <a:t>LV.3  /  WILD GUARDIANS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3" y="3136392"/>
            <a:ext cx="2286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4F8FF"/>
                </a:solidFill>
                <a:latin typeface="Microsoft JhengHei"/>
                <a:ea typeface="Microsoft JhengHei"/>
              </a:rPr>
              <a:t>潮盾・玳瑁</a:t>
            </a:r>
          </a:p>
        </p:txBody>
      </p:sp>
      <p:pic>
        <p:nvPicPr>
          <p:cNvPr id="17" name="Picture 16" descr="lv3-da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3675887"/>
            <a:ext cx="2377440" cy="1463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75303" y="5212080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9B6CFF"/>
                </a:solidFill>
                <a:latin typeface="Microsoft JhengHei"/>
                <a:ea typeface="Microsoft JhengHei"/>
              </a:rPr>
              <a:t>重疊龜甲 × 鰭狀後跟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3" y="5568696"/>
            <a:ext cx="22860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珊瑚礁與海龜保護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514600"/>
            <a:ext cx="2560320" cy="3346704"/>
          </a:xfrm>
          <a:prstGeom prst="roundRect">
            <a:avLst/>
          </a:prstGeom>
          <a:solidFill>
            <a:srgbClr val="0B1020"/>
          </a:solidFill>
          <a:ln>
            <a:solidFill>
              <a:srgbClr val="F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724912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FF4FD8"/>
                </a:solidFill>
                <a:latin typeface="Microsoft JhengHei"/>
                <a:ea typeface="Microsoft JhengHei"/>
              </a:rPr>
              <a:t>LV.4  /  WILD GUARDIANS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136392"/>
            <a:ext cx="2286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4F8FF"/>
                </a:solidFill>
                <a:latin typeface="Microsoft JhengHei"/>
                <a:ea typeface="Microsoft JhengHei"/>
              </a:rPr>
              <a:t>林焰・老虎</a:t>
            </a:r>
          </a:p>
        </p:txBody>
      </p:sp>
      <p:pic>
        <p:nvPicPr>
          <p:cNvPr id="23" name="Picture 22" descr="lv4-da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3675887"/>
            <a:ext cx="2377440" cy="146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36792" y="5212080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F4FD8"/>
                </a:solidFill>
                <a:latin typeface="Microsoft JhengHei"/>
                <a:ea typeface="Microsoft JhengHei"/>
              </a:rPr>
              <a:t>漸尖虎斑 × 森林光軌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5568696"/>
            <a:ext cx="22860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森林、獵物與反盜獵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514600"/>
            <a:ext cx="2560320" cy="3346704"/>
          </a:xfrm>
          <a:prstGeom prst="roundRect">
            <a:avLst/>
          </a:prstGeom>
          <a:solidFill>
            <a:srgbClr val="0B1020"/>
          </a:solidFill>
          <a:ln>
            <a:solidFill>
              <a:srgbClr val="30E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724912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30EBC8"/>
                </a:solidFill>
                <a:latin typeface="Microsoft JhengHei"/>
                <a:ea typeface="Microsoft JhengHei"/>
              </a:rPr>
              <a:t>LV.5  /  WILD GUARDIANS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136392"/>
            <a:ext cx="2286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4F8FF"/>
                </a:solidFill>
                <a:latin typeface="Microsoft JhengHei"/>
                <a:ea typeface="Microsoft JhengHei"/>
              </a:rPr>
              <a:t>雪影・遠東豹</a:t>
            </a:r>
          </a:p>
        </p:txBody>
      </p:sp>
      <p:pic>
        <p:nvPicPr>
          <p:cNvPr id="29" name="Picture 28" descr="lv5-da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3675887"/>
            <a:ext cx="2377440" cy="14630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98280" y="5212080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斷環豹紋 × 冬毛鞋頭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5568696"/>
            <a:ext cx="22860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森林廊道與棲地連通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6089904"/>
            <a:ext cx="1069848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SVG 設計示意，非實機截圖；數位仿生材質，不使用動物皮毛、象牙或玳瑁。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成長盲盒｜外觀玩法第一版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同一階跑鞋，也有屬於你的細節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達到鞋階 → 揭曉細節款 → 保留個人樣式；從每日進度延伸到收藏與分享。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23744"/>
            <a:ext cx="3474720" cy="2971800"/>
          </a:xfrm>
          <a:prstGeom prst="roundRect">
            <a:avLst/>
          </a:prstGeom>
          <a:solidFill>
            <a:srgbClr val="0B1020"/>
          </a:solidFill>
          <a:ln>
            <a:solidFill>
              <a:srgbClr val="FFC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724912"/>
            <a:ext cx="310896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CB66"/>
                </a:solidFill>
                <a:latin typeface="Microsoft JhengHei"/>
                <a:ea typeface="Microsoft JhengHei"/>
              </a:rPr>
              <a:t>晨曦縫光</a:t>
            </a:r>
          </a:p>
        </p:txBody>
      </p:sp>
      <p:pic>
        <p:nvPicPr>
          <p:cNvPr id="10" name="Picture 9" descr="lv4-d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264408"/>
            <a:ext cx="3108960" cy="19110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" y="5157216"/>
            <a:ext cx="31089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金色縫線與動物紋樣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523744"/>
            <a:ext cx="3474720" cy="2971800"/>
          </a:xfrm>
          <a:prstGeom prst="roundRect">
            <a:avLst/>
          </a:prstGeom>
          <a:solidFill>
            <a:srgbClr val="0B1020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724912"/>
            <a:ext cx="310896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9B6CFF"/>
                </a:solidFill>
                <a:latin typeface="Microsoft JhengHei"/>
                <a:ea typeface="Microsoft JhengHei"/>
              </a:rPr>
              <a:t>暮色紋跡</a:t>
            </a:r>
          </a:p>
        </p:txBody>
      </p:sp>
      <p:pic>
        <p:nvPicPr>
          <p:cNvPr id="14" name="Picture 13" descr="lv4-du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3264408"/>
            <a:ext cx="3108960" cy="19110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44568" y="5157216"/>
            <a:ext cx="31089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紫色紋樣與虛線軌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523744"/>
            <a:ext cx="3474720" cy="2971800"/>
          </a:xfrm>
          <a:prstGeom prst="roundRect">
            <a:avLst/>
          </a:prstGeom>
          <a:solidFill>
            <a:srgbClr val="0B1020"/>
          </a:solidFill>
          <a:ln>
            <a:solidFill>
              <a:srgbClr val="30E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724912"/>
            <a:ext cx="310896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30EBC8"/>
                </a:solidFill>
                <a:latin typeface="Microsoft JhengHei"/>
                <a:ea typeface="Microsoft JhengHei"/>
              </a:rPr>
              <a:t>極光軌線</a:t>
            </a:r>
          </a:p>
        </p:txBody>
      </p:sp>
      <p:pic>
        <p:nvPicPr>
          <p:cNvPr id="18" name="Picture 17" descr="lv4-aur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264408"/>
            <a:ext cx="3108960" cy="19110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0" y="5157216"/>
            <a:ext cx="31089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薄荷紋樣與加粗光軌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33288"/>
            <a:ext cx="1060704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</a:rPr>
              <a:t>同錢包固定款式  ·  僅外觀差異  ·  不增加能力  ·  無付費重抽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保育教育 × 系列延伸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從收藏一雙鞋，到認識牠的棲地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把保育故事放進鞋款介紹與升階時刻；將未來合作建立在可辨識的系列內容上。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090672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現在｜保育介紹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536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中英雙語物種故事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棲地、威脅與一個小行動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附可開啟的 WWF 來源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090672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下一步｜系列共創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536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品牌／創作者聯名提案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主題鞋面與活動收藏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授權、合作與切換待完成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090672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未來｜資產與成效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536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獨立款式 NFT metadata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可追溯的款式取得紀錄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回訪與閱讀成效待驗證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96712"/>
            <a:ext cx="2560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0EBC8"/>
                </a:solidFill>
                <a:latin typeface="Microsoft JhengHei"/>
                <a:ea typeface="Microsoft JhengHei"/>
                <a:hlinkClick r:id="rId2"/>
              </a:rPr>
              <a:t>WWF｜亞洲象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5696712"/>
            <a:ext cx="2560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0EBC8"/>
                </a:solidFill>
                <a:latin typeface="Microsoft JhengHei"/>
                <a:ea typeface="Microsoft JhengHei"/>
                <a:hlinkClick r:id="rId3"/>
              </a:rPr>
              <a:t>WWF｜玳瑁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5696712"/>
            <a:ext cx="2560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0EBC8"/>
                </a:solidFill>
                <a:latin typeface="Microsoft JhengHei"/>
                <a:ea typeface="Microsoft JhengHei"/>
                <a:hlinkClick r:id="rId4"/>
              </a:rPr>
              <a:t>WWF｜老虎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5696712"/>
            <a:ext cx="2560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0EBC8"/>
                </a:solidFill>
                <a:latin typeface="Microsoft JhengHei"/>
                <a:ea typeface="Microsoft JhengHei"/>
                <a:hlinkClick r:id="rId5"/>
              </a:rPr>
              <a:t>WWF｜遠東豹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08192"/>
            <a:ext cx="10607040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保育資料查核：2026.09.17；目前沒有已成立的保育合作、捐款或聯名。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新增產品設計｜待實作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讓每次運動，連回自己的成長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跑鞋外觀、同步選擇與私人運動日誌，形成持續回顧的理由。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38328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跑鞋 × 棲地背景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828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已取得跑鞋自由切換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森林／海洋等主題連動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背景可關閉、記住偏好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外觀不改有效等級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38328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連網 × 自主同步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828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自動同步預設關閉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按運動時間由舊到新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較早失敗先處理再續傳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晚到紀錄重算、避免重複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38328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Activity × 個人回顧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828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月曆／清單與月份總覽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跑步、健走與散步篩選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單次詳情、分段與來源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離線可看本機紀錄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5276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FCB66"/>
                </a:solidFill>
                <a:latin typeface="Microsoft JhengHei"/>
                <a:ea typeface="Microsoft JhengHei"/>
              </a:rPr>
              <a:t>設計預覽｜既有清單／手動同步需擴充；新增開關、有序佇列與外觀切換尚待實作。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共同方向｜策略提案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把同一群人，連結到持續的棲地行動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運動持續做、棲地少打擾、資金說清楚、成果有依據。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日常｜為自己而動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免費成長與成就收藏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物種故事＋保育理解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驗證無金錢獎勵的留存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行動｜為棲地同行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在地夥伴共編任務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既有路線與低干擾參與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尊重場域承載與停辦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延續｜讓合作再發生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品牌付費支持活動服務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保育款與收入分開對帳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用再參與與續辦驗證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首選：一個生活圈、一個跑團、一個保育方、一個付費品牌；皆為招募目標。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Solana／SOL｜基礎設施與產品邊界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SOL 的角色：支持可信的紀錄與協作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公開紀錄有助核對；現實中的保育成果，仍由夥伴確認。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適合承接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里程碑與成果版本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經同意的資金對帳紀錄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跨組織可核對的摘要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控制使用成本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SOL 鏈費納入預算 [C2]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減少無意義交易與鑄造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限額代付仍待設計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先量測再宣稱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歷史抵換非本案碳中和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交通、雲端、物料另計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NFT 不等於碳權或認證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2023 年官方報告僅作歷史案例 [C1]；2026 年動態排放值未核驗 [C0]。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保育概念｜任務提案，尚未試辦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從動物故事，走向低干擾的保育參與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全球物種故事是入口，在地行動與成果另列；由保育方決定任務及人數。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理解棲地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認識棲地連通與威脅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故事問答＋來源閱讀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遊戲等級不代表物種價值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尊重野生動物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保持距離、不餵食 [C6]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避開繁殖敏感時期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不以動物目擊數排名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參與當地需要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專業帶領的志工任務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保留室內協作途徑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生態風險出現即停辦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參考 CBD 目標 3／15／19 [C3–C5]；參與次數不等於物種或棲地改善。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共同前進｜責任與回饋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四方共創，保育方保有任務停止權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品牌買的是參與服務與如實報告；玩家與地方社區的權益納入設計。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玩家 × 跑團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得到習慣、同行與收藏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選擇適合自己的任務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可退出追蹤及行銷用途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保育方 × 品牌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保育方共編、覆核與停辦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品牌事前撥款支持執行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共同確認成果揭露方式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NeonShift × 社群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產品、客服與活動交付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反作弊、對帳與隱私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以續辦累積可持續收入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引用資料不等於合作背書；機構名稱、Logo 與成果使用須另取得授權。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四週行動季｜NT$ 未稅假設，非報價或預測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收入、保育款、遊戲獎勵分開管理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品牌總支出 12 萬＝平台服務 10 萬＋直接支付保育方 2 萬；尚待訪談定價。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平台服務：10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四週任務、協調與報告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交付成本假設 6 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另留風險預算 1 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單案餘額：3 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10 − 6 − 1＝3 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未扣團隊固定成本與稅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成本增至 8 萬僅餘 1 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保育執行：2 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活動前到款並確認用途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保育方直接收款較簡單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不計為平台服務收入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先收到足夠款項才啟動；不靠 SOL 升值、未核定補助或新玩家買幣支付承諾。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影響衡量｜尚無本案實績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把參與成果與生態成果分開驗證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北極星：完成當季任務後，30 日內再次參與經夥伴確認行動的人數與比例。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投入｜錢到哪裡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實收、已撥與受款確認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專家與執行工作範圍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公開摘要與修訂版本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產出｜做了什麼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去重人數與核實時數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四週完成率與再參與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列分母、失訪與異常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結果｜改變什麼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知識與行為變化另量測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生態結果由專業方監測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需要基線、期間與方法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步數 ≠ 減碳量；NFT ≠ 生態認證；捐款／出席 ≠ 棲地已改善。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下一步｜目標門檻，非業績承諾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90 天先證明：有人再來，也有人再付費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第一季上限先設 50 人；實際到場容量由場域與保育夥伴決定。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D1–30｜共創與準備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訪談付費方／保育方／玩家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确认任務、成本與到款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實機、停辦與對帳演練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D31–58｜四週試辦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完成率目標 ≥40%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承諾款項 100% 有準備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至少一份夥伴確認報告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D59–90｜回訪與續辦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30 日再參與目標 ≥25%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一個新的付費續辦訂單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預留後單案餘額為正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重大生態／安全事件即停辦；無續辦或反覆負餘額，不擴張。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經濟設計｜機制分析，不是價格預測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STEPN 的教訓：獎勵需求不能只靠再投資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2022 年官方描述：GST 可增發；升級與鑄鞋消耗代幣；新玩家與擴充裝備帶來購買需求。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需求的脆弱點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若消耗是為了未來賺更多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收益预期轉弱時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再投資需求也可能減少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已有的不同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免費初始鞋與免費升級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NFT 作為成就收藏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探索冊外觀無收益加成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仍未解決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固定供給仍可能領完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單人限額不是全站預算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競技場不是外部收入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6062472"/>
            <a:ext cx="1069848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來源：STEPN 官方 2022-05-10；市場衝擊另見講稿。上述因果為本案分析。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壓力試算｜不是實際鏈上餘額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成長越快，越需要全站獎勵預算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假設初始金庫 200,000 tSKR；滿階每錢包每天雙任務領 33；無補庫、無回流。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606040"/>
            <a:ext cx="3474720" cy="2286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99232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FCB66"/>
                </a:solidFill>
                <a:latin typeface="Microsoft JhengHei"/>
                <a:ea typeface="Microsoft JhengHei"/>
              </a:rPr>
              <a:t>60.61 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041648"/>
            <a:ext cx="31089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100 個合格錢包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606040"/>
            <a:ext cx="3474720" cy="2286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999232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FCB66"/>
                </a:solidFill>
                <a:latin typeface="Microsoft JhengHei"/>
                <a:ea typeface="Microsoft JhengHei"/>
              </a:rPr>
              <a:t>6.06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4041648"/>
            <a:ext cx="31089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1,000 個合格錢包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606040"/>
            <a:ext cx="3474720" cy="2286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999232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FCB66"/>
                </a:solidFill>
                <a:latin typeface="Microsoft JhengHei"/>
                <a:ea typeface="Microsoft JhengHei"/>
              </a:rPr>
              <a:t>0.61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041648"/>
            <a:ext cx="31089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10,000 個合格錢包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48072"/>
            <a:ext cx="1060704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公式：200,000 ÷（合格錢包數 × 33）。錢包不等於真人。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60704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AAB7CC"/>
                </a:solidFill>
                <a:latin typeface="Microsoft JhengHei"/>
                <a:ea typeface="Microsoft JhengHei"/>
              </a:rPr>
              <a:t>固定等級庫存試算；不含成長過程、行為、價格或流動性預測。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經濟保護｜待實作與驗證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把遊戲成長、獎勵預算與真實收入分開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驗收目標：沒有新玩家買幣、沒有幣價上漲，遊戲仍能提供核心體驗。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成長不中斷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打卡與代幣轉帳拆分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金庫為零仍累積進度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不產生未撥款欠款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發放有上限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全站期間預算先撥款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版本、個人封頂與對帳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反作弊及撤銷窗口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獎品有來源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依實收服務／贊助收入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或明列的有限補貼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先保留已承諾履約成本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6062472"/>
            <a:ext cx="1069848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FCB66"/>
                </a:solidFill>
                <a:latin typeface="Microsoft JhengHei"/>
                <a:ea typeface="Microsoft JhengHei"/>
              </a:rPr>
              <a:t>驗證：無獎金留存、10 倍申領、收入歸零。不能承諾幣價不跌。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現況與驗證計畫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目前是原型階段，募資用來取得市場證據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依現有專案文件與資產整理；尚未提供可核驗的用戶、營收或合作實績。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已具備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需求與產品設計文件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品牌視覺與揭曉動畫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保育跑鞋與成長盲盒外觀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下一步驗證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真實任務與活動端到端流程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主辦方願付價格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現場交付成本與錯誤率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尚待補齊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正式團隊履歷與分工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已簽合作／意向書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用戶留存與實收營收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募資後里程碑提案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12 個月，依驗證結果逐階段投入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這是商業驗證排程，不取代原黑客松開發時程；各階段目標均未達成。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0–3 個月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招募 3 家設計合作夥伴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至少完成 1 場試辦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核驗報到、領取與成績對帳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4–6 個月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累計 5 場付費活動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至少 2 家主辦方再採購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分開追蹤軟體與現場成本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7–12 個月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累計 10 家付費主辦方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建立下一期續約管線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單場貢獻毛利轉正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第 3 年年度營收情境｜非 ARR、非財測承諾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以可追溯假設，建立收入情境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台幣萬元；服務收入不包含獎品、代收款與代幣。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60320"/>
            <a:ext cx="10789920" cy="82296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24912"/>
            <a:ext cx="10972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保守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1" y="2724912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10 × 3 × 3 萬 = 90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724912"/>
            <a:ext cx="30175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5 × 10 萬 = 50 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688336"/>
            <a:ext cx="17373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F4F8FF"/>
                </a:solidFill>
                <a:latin typeface="Microsoft JhengHei"/>
                <a:ea typeface="Microsoft JhengHei"/>
              </a:rPr>
              <a:t>140 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9584"/>
            <a:ext cx="10789920" cy="82296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94176"/>
            <a:ext cx="10972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基準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3694176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20 × 4 × 3 萬 = 240 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694176"/>
            <a:ext cx="30175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15 × 10 萬 = 150 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657600"/>
            <a:ext cx="17373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F4F8FF"/>
                </a:solidFill>
                <a:latin typeface="Microsoft JhengHei"/>
                <a:ea typeface="Microsoft JhengHei"/>
              </a:rPr>
              <a:t>390 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98848"/>
            <a:ext cx="10789920" cy="82296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663440"/>
            <a:ext cx="10972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擴張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466344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50 × 6 × 3 萬 = 900 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663440"/>
            <a:ext cx="30175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30 × 10 萬 = 300 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626864"/>
            <a:ext cx="17373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F4F8FF"/>
                </a:solidFill>
                <a:latin typeface="Microsoft JhengHei"/>
                <a:ea typeface="Microsoft JhengHei"/>
              </a:rPr>
              <a:t>1,200 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4831" y="2148840"/>
            <a:ext cx="36576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主辦方 × 年場次 × 單價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148840"/>
            <a:ext cx="30175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獨立品牌專案 × 單價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148840"/>
            <a:ext cx="13716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合計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696712"/>
            <a:ext cx="10789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FCB66"/>
                </a:solidFill>
                <a:latin typeface="Microsoft JhengHei"/>
                <a:ea typeface="Microsoft JhengHei"/>
              </a:rPr>
              <a:t>單場假設：收入 3 萬 − 直接成本 1.2 萬 = 貢獻 1.8 萬（60%）；成本待試辦驗證。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募資方案｜可調整假設，尚未定案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建議募資 NT$1,200 萬，取得 12 個月驗證窗口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以約 NT$100 萬／月的含緩衝現金配置示意；估值、股權比例與工具待議。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产品與體驗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33472"/>
            <a:ext cx="4114800" cy="173736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5603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45%  /  540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合作試辦與客戶開發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19272"/>
            <a:ext cx="2286000" cy="173736"/>
          </a:xfrm>
          <a:prstGeom prst="roundRect">
            <a:avLst/>
          </a:prstGeom>
          <a:solidFill>
            <a:srgbClr val="2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32461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25%  /  300 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營運、資料保護與法務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05072"/>
            <a:ext cx="1371600" cy="173736"/>
          </a:xfrm>
          <a:prstGeom prst="roundRect">
            <a:avLst/>
          </a:prstGeom>
          <a:solidFill>
            <a:srgbClr val="9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9319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15%  /  180 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現金緩衝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690872"/>
            <a:ext cx="1371600" cy="173736"/>
          </a:xfrm>
          <a:prstGeom prst="roundRect">
            <a:avLst/>
          </a:prstGeom>
          <a:solidFill>
            <a:srgbClr val="FFC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46177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15%  /  180 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投入門檻：付費試辦 → 再採購 → 正向單場貢獻 → 擴大銷售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團隊與投資人合作｜待補具名資料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需要能同時理解運動現場與數位產品的團隊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產品與技術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創辦人姓名／經歷：待補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產品與工程負責人：待補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可展示成果與投入比例：待補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活動與商務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運動活動／品牌經歷：待補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已確認合作與推薦人：待補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客戶開發及現場交付負責人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期待投資人協助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跑團、賽事與品牌引介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商業定價與通路驗證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早期組織與募資治理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可點擊來源｜查核日 2026.09.14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附錄｜市場資料與口徑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106984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  <a:hlinkClick r:id="rId2"/>
              </a:rPr>
              <a:t>S1  Global Wellness Institute｜2025 Global Wellness Economy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1051560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AB7CC"/>
                </a:solidFill>
                <a:latin typeface="Microsoft JhengHei"/>
                <a:ea typeface="Microsoft JhengHei"/>
              </a:rPr>
              <a:t>2025 年發布，2024 年實績；PDF 身體活動章節 p.61–65。市場及成長數據。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82112"/>
            <a:ext cx="106984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  <a:hlinkClick r:id="rId3"/>
              </a:rPr>
              <a:t>S2  HFA｜Fitness Industry’s Global Momentum Continued in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051560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AB7CC"/>
                </a:solidFill>
                <a:latin typeface="Microsoft JhengHei"/>
                <a:ea typeface="Microsoft JhengHei"/>
              </a:rPr>
              <a:t>2025-08-11；可比國家的平均營收成長 8%，非全球加權市場成長。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43983"/>
            <a:ext cx="106984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  <a:hlinkClick r:id="rId4"/>
              </a:rPr>
              <a:t>S3  Solana Mobile｜SKR is Live，2026-07-14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51560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AB7CC"/>
                </a:solidFill>
                <a:latin typeface="Microsoft JhengHei"/>
                <a:ea typeface="Microsoft JhengHei"/>
              </a:rPr>
              <a:t>2026-07-14；逾 10 萬名用戶具 SKR 領取資格，不等於 DAU 或健身市場。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新增來源｜分析完成 2026.09.15，文件同步 2026.09.16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附錄｜經濟評估的來源與重現方式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5156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1">
                <a:solidFill>
                  <a:srgbClr val="30EBC8"/>
                </a:solidFill>
                <a:latin typeface="Microsoft JhengHei"/>
                <a:ea typeface="Microsoft JhengHei"/>
                <a:hlinkClick r:id="rId2"/>
              </a:rPr>
              <a:t>E1｜STEPN 官方，2022-05-10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05156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當時的 GST 供給、消耗與買賣動機。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5156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1">
                <a:solidFill>
                  <a:srgbClr val="30EBC8"/>
                </a:solidFill>
                <a:latin typeface="Microsoft JhengHei"/>
                <a:ea typeface="Microsoft JhengHei"/>
                <a:hlinkClick r:id="rId3"/>
              </a:rPr>
              <a:t>E2｜CoinDesk，2022-05-29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76472"/>
            <a:ext cx="105156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大盤與中國服務限制的背景；不作單一因果歸因。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5156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1">
                <a:solidFill>
                  <a:srgbClr val="30EBC8"/>
                </a:solidFill>
                <a:latin typeface="Microsoft JhengHei"/>
                <a:ea typeface="Microsoft JhengHei"/>
              </a:rPr>
              <a:t>E3｜NeonShift 專案試算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19472"/>
            <a:ext cx="105156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node tools/tokenomics/stress.mjs；九組庫存情境。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第一手來源｜查閱日期 2026.09.18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附錄｜SOL 永續與保育研究來源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技術與框架事實有來源；客戶需求、定價、任務與成效門檻均為本案提案。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2"/>
              </a:rPr>
              <a:t>C0  Solana Climate Dashboard｜動態值未引用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43784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3"/>
              </a:rPr>
              <a:t>C1  Solana Foundation｜2023 年能源與抵換報告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64408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4"/>
              </a:rPr>
              <a:t>C2  Solana Docs｜Fees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85032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5"/>
              </a:rPr>
              <a:t>C3  CBD｜GBF Target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05656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6"/>
              </a:rPr>
              <a:t>C4  CBD｜GBF Target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7"/>
              </a:rPr>
              <a:t>C5  CBD｜GBF Target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46904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8"/>
              </a:rPr>
              <a:t>C6  Leave No Trace｜Respect Wildlife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33872"/>
            <a:ext cx="1060704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C1 為 2023 年歷史報告；C0 動態值未讀取。舊市場／物種來源保留原查核日期。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募資準備清單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附錄｜正式對外前，補齊五項證據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募資討論稿・2026.09.19｜永續策略／商業與數值假設待驗證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30EBC8"/>
                </a:solidFill>
                <a:latin typeface="Microsoft JhengHei"/>
                <a:ea typeface="Microsoft JhengHei"/>
              </a:rPr>
              <a:t>01  團隊姓名、專長、全職投入與股權結構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71216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02  主辦方访談、試辦意向與可聯絡推薦人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02152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03  示範流程、實機驗收與使用者留存資料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33087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04  定價測試、單場成本與獲客成本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64024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05  募資金額、現金預算、估值及使用條件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NeonShift 中文募資簡報｜討論草稿</dc:title>
  <dc:subject>為自己而動，為棲地同行｜Solana、永續營運與保育合作</dc:subject>
  <dc:creator>NeonShift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