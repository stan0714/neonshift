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0:00–0:18</a:t>
            </a:r>
          </a:p>
          <a:p/>
          <a:p>
            <a:r>
              <a:t>ENGLISH VOICEOVER</a:t>
            </a:r>
          </a:p>
          <a:p>
            <a:r>
              <a:t>What keeps us moving after the first few days? NeonShift turns everyday movement into visible progress, wildlife-inspired shoes, and a reason to return. Built for Solana Mobile, it connects personal achievement with a wider purpose.</a:t>
            </a:r>
          </a:p>
          <a:p/>
          <a:p>
            <a:r>
              <a:t>PRODUCTION NOTES</a:t>
            </a:r>
          </a:p>
          <a:p>
            <a:r>
              <a:t>目前為 2026-09-14 早期實機截圖，含尚未配置鏈上程式的狀態；不是交易證據。正式影片以提交 APK 首頁錄影替換。前 2 秒可加戶外起步，包含在 18 秒內。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0:18–0:43</a:t>
            </a:r>
          </a:p>
          <a:p/>
          <a:p>
            <a:r>
              <a:t>ENGLISH VOICEOVER</a:t>
            </a:r>
          </a:p>
          <a:p>
            <a:r>
              <a:t>Start with a walk or a run. Our next design adds a personal Activity journal with monthly views and workout details. Choose automatic sync when online, with saved workouts processed oldest first. Starter shoes and level upgrades remain free.</a:t>
            </a:r>
          </a:p>
          <a:p/>
          <a:p>
            <a:r>
              <a:t>PRODUCTION NOTES</a:t>
            </a:r>
          </a:p>
          <a:p>
            <a:r>
              <a:t>設計預覽與示例資料，非實機。Activity 月份／篩選／詳情；連網自動同步預設關閉，開啟後依運動開始時間由舊到新。補拍 17→18→19 與較早失敗阻擋後續；不得把摘要同步當成 Health Connect 打卡或自動錢包簽署。</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0:43–1:29</a:t>
            </a:r>
          </a:p>
          <a:p/>
          <a:p>
            <a:r>
              <a:t>ENGLISH VOICEOVER</a:t>
            </a:r>
          </a:p>
          <a:p>
            <a:r>
              <a:t>NeonShift connects qualifying daily activity with a claim on Solana devnet. An activity summary from Android Health Connect is checked before you approve the claim in your wallet. The resulting transaction can be viewed in the explorer. Raw health records stay on your phone; they are not published onchain. The prototype uses test tokens with no monetary value. The blockchain records the claim, not every step of your run.</a:t>
            </a:r>
          </a:p>
          <a:p/>
          <a:p>
            <a:r>
              <a:t>PRODUCTION NOTES</a:t>
            </a:r>
          </a:p>
          <a:p>
            <a:r>
              <a:t>本頁為流程圖，非已成功交易。正式影片以合格摘要 → 打卡 → 錢包確認 → 成功 → 同筆 Explorer 實錄覆蓋中間流程區。僅證據完成後改為 REAL DEVICE · DEVNET；縮短等待需標 Wait time shortened。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1:29–2:03</a:t>
            </a:r>
          </a:p>
          <a:p/>
          <a:p>
            <a:r>
              <a:t>ENGLISH VOICEOVER</a:t>
            </a:r>
          </a:p>
          <a:p>
            <a:r>
              <a:t>As you level up, discover Wild Guardians, inspired by threatened wildlife. Our next design lets you switch between shoes you have earned, with matching forest or ocean backgrounds. Prefer a simpler view? Turn the background off. These choices are cosmetic; your active level still controls eligibility. Each shoe connects your progress with conservation learning.</a:t>
            </a:r>
          </a:p>
          <a:p/>
          <a:p>
            <a:r>
              <a:t>PRODUCTION NOTES</a:t>
            </a:r>
          </a:p>
          <a:p>
            <a:r>
              <a:t>本頁使用專案既有鞋款素材；多鞋切換、森林／海洋背景與關閉開關為待實作設計。正式影片補切兩雙已取得鞋→關背景→故事卡；圖不可冒充實機。使用試拆時標 DEMO PREVIEW，切帳號標 Prepared demo account。不稱隨機 NFT、付費抽獎或保育收益權。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2:03–2:29</a:t>
            </a:r>
          </a:p>
          <a:p/>
          <a:p>
            <a:r>
              <a:t>ENGLISH VOICEOVER</a:t>
            </a:r>
          </a:p>
          <a:p>
            <a:r>
              <a:t>The journey also reaches beyond solo exercise. This event prototype previews registration and staff-confirmed check-in. Participants show a code; authorized staff confirm attendance. Event participation connects back to your personal journey. Our next step is to test this experience with local communities and conservation partners.</a:t>
            </a:r>
          </a:p>
          <a:p/>
          <a:p>
            <a:r>
              <a:t>PRODUCTION NOTES</a:t>
            </a:r>
          </a:p>
          <a:p>
            <a:r>
              <a:t>雙角色流程示意。完成提交 APK 端到端驗收後替換為報名 → 出示代碼 → 授權 staff 輸入 → 狀態確認，保留 TEST DATA 標示。不可改成 staff 相機掃碼或暗示 NFC 為出席證明；活動報到不等同每日鏈上打卡。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2:29–2:50</a:t>
            </a:r>
          </a:p>
          <a:p/>
          <a:p>
            <a:r>
              <a:t>ENGLISH VOICEOVER</a:t>
            </a:r>
          </a:p>
          <a:p>
            <a:r>
              <a:t>Our direction is simple: move for yourself, move together for nature. We plan to fund useful event services through paying partners, with conservation contributions tracked separately. NeonShift brings movement, meaningful progress, and conservation learning into one mobile experience.</a:t>
            </a:r>
          </a:p>
          <a:p/>
          <a:p>
            <a:r>
              <a:t>PRODUCTION NOTES</a:t>
            </a:r>
          </a:p>
          <a:p>
            <a:r>
              <a:t>最後至少靜止 2 秒。正式發布 APK、原始碼與評審指南後，才在影片說明欄與片尾加可點連結／QR。現有投影片不放未發布連結或佔位網址；尚無已確認合作、捐款或減碳實績。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中文講稿：這是個人成就 NFT 的資訊版式提案，不是已鑄造證明。距離是主角，來源標籤不能省略。既有正式 SVG 圖樣請看同目錄 preview.html。首次距離與 First Finish 可從 Lv1 開始；PB 仍依達成時 Lv3 等資格規則。裝置來源上線狀態以 App 實際資格頁為準。</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中文講稿：完成運動只是開始。系統驗證來源、門檻和唯一性，registry 核准後才可鑄造。使用者選擇公開內容、查看 metadata 與當次 SOL 費用，再到錢包核准。首次距離的領取就是主動發起鑄造，不是先自動鑄造後再空投。依據 Milestones.tsx 與 AchievementService.ts；此頁是流程圖，尚未附上真實交易。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中文講稿：評審應看到可領取、待核准、已領取是不同狀態。拒簽不發成功动画；重試先查 receipt，避免重複鑄造。實錄需補上提交版本的資格畫面、公開內容與費用、錢包核准、成功收藏及真實 Devnet asset／交易。此附件沒有執行鑄造，也沒有捏造交易網址。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MOVE WITH PURPOSE</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01 / 06</a:t>
            </a:r>
          </a:p>
        </p:txBody>
      </p:sp>
      <p:sp>
        <p:nvSpPr>
          <p:cNvPr id="7" name="TextBox 6"/>
          <p:cNvSpPr txBox="1"/>
          <p:nvPr/>
        </p:nvSpPr>
        <p:spPr>
          <a:xfrm>
            <a:off x="508000" y="1333500"/>
            <a:ext cx="7112000" cy="1397000"/>
          </a:xfrm>
          <a:prstGeom prst="rect">
            <a:avLst/>
          </a:prstGeom>
          <a:noFill/>
        </p:spPr>
        <p:txBody>
          <a:bodyPr wrap="none" lIns="0" rIns="0" tIns="0" bIns="0">
            <a:spAutoFit/>
          </a:bodyPr>
          <a:lstStyle/>
          <a:p>
            <a:pPr>
              <a:lnSpc>
                <a:spcPts val="5300"/>
              </a:lnSpc>
              <a:spcBef>
                <a:spcPts val="0"/>
              </a:spcBef>
              <a:spcAft>
                <a:spcPts val="0"/>
              </a:spcAft>
            </a:pPr>
            <a:r>
              <a:rPr sz="4300" b="1">
                <a:solidFill>
                  <a:srgbClr val="F3F7FF"/>
                </a:solidFill>
                <a:latin typeface="Arial"/>
              </a:rPr>
              <a:t>Daily movement.</a:t>
            </a:r>
          </a:p>
          <a:p>
            <a:pPr>
              <a:lnSpc>
                <a:spcPts val="5300"/>
              </a:lnSpc>
              <a:spcBef>
                <a:spcPts val="0"/>
              </a:spcBef>
              <a:spcAft>
                <a:spcPts val="0"/>
              </a:spcAft>
            </a:pPr>
            <a:r>
              <a:rPr sz="4300" b="1">
                <a:solidFill>
                  <a:srgbClr val="F3F7FF"/>
                </a:solidFill>
                <a:latin typeface="Arial"/>
              </a:rPr>
              <a:t>Visible progress.</a:t>
            </a:r>
          </a:p>
        </p:txBody>
      </p:sp>
      <p:sp>
        <p:nvSpPr>
          <p:cNvPr id="8" name="TextBox 7"/>
          <p:cNvSpPr txBox="1"/>
          <p:nvPr/>
        </p:nvSpPr>
        <p:spPr>
          <a:xfrm>
            <a:off x="539750" y="2844800"/>
            <a:ext cx="6540500" cy="749300"/>
          </a:xfrm>
          <a:prstGeom prst="rect">
            <a:avLst/>
          </a:prstGeom>
          <a:noFill/>
        </p:spPr>
        <p:txBody>
          <a:bodyPr wrap="none" lIns="0" rIns="0" tIns="0" bIns="0">
            <a:spAutoFit/>
          </a:bodyPr>
          <a:lstStyle/>
          <a:p>
            <a:pPr>
              <a:lnSpc>
                <a:spcPts val="2750"/>
              </a:lnSpc>
              <a:spcBef>
                <a:spcPts val="0"/>
              </a:spcBef>
              <a:spcAft>
                <a:spcPts val="0"/>
              </a:spcAft>
            </a:pPr>
            <a:r>
              <a:rPr sz="2250" b="0">
                <a:solidFill>
                  <a:srgbClr val="A8B6CF"/>
                </a:solidFill>
                <a:latin typeface="Arial"/>
              </a:rPr>
              <a:t>A fitness experience built</a:t>
            </a:r>
          </a:p>
          <a:p>
            <a:pPr>
              <a:lnSpc>
                <a:spcPts val="2750"/>
              </a:lnSpc>
              <a:spcBef>
                <a:spcPts val="0"/>
              </a:spcBef>
              <a:spcAft>
                <a:spcPts val="0"/>
              </a:spcAft>
            </a:pPr>
            <a:r>
              <a:rPr sz="2250" b="0">
                <a:solidFill>
                  <a:srgbClr val="A8B6CF"/>
                </a:solidFill>
                <a:latin typeface="Arial"/>
              </a:rPr>
              <a:t>for Solana Mobile.</a:t>
            </a:r>
          </a:p>
        </p:txBody>
      </p:sp>
      <p:sp>
        <p:nvSpPr>
          <p:cNvPr id="9" name="Rectangle 8"/>
          <p:cNvSpPr/>
          <p:nvPr/>
        </p:nvSpPr>
        <p:spPr>
          <a:xfrm>
            <a:off x="539750" y="3987799"/>
            <a:ext cx="6350000" cy="6731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0250" y="4203700"/>
            <a:ext cx="59055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MOVE  /  LEVEL UP  /  DISCOVER</a:t>
            </a:r>
          </a:p>
        </p:txBody>
      </p:sp>
      <p:sp>
        <p:nvSpPr>
          <p:cNvPr id="11" name="TextBox 10"/>
          <p:cNvSpPr txBox="1"/>
          <p:nvPr/>
        </p:nvSpPr>
        <p:spPr>
          <a:xfrm>
            <a:off x="539750" y="5035550"/>
            <a:ext cx="6667500" cy="342900"/>
          </a:xfrm>
          <a:prstGeom prst="rect">
            <a:avLst/>
          </a:prstGeom>
          <a:noFill/>
        </p:spPr>
        <p:txBody>
          <a:bodyPr wrap="none" lIns="0" rIns="0" tIns="0" bIns="0">
            <a:spAutoFit/>
          </a:bodyPr>
          <a:lstStyle/>
          <a:p>
            <a:pPr>
              <a:lnSpc>
                <a:spcPts val="2300"/>
              </a:lnSpc>
              <a:spcBef>
                <a:spcPts val="0"/>
              </a:spcBef>
              <a:spcAft>
                <a:spcPts val="0"/>
              </a:spcAft>
            </a:pPr>
            <a:r>
              <a:rPr sz="1850" b="0">
                <a:solidFill>
                  <a:srgbClr val="F3F7FF"/>
                </a:solidFill>
                <a:latin typeface="Arial"/>
              </a:rPr>
              <a:t>A reason to return, every day.</a:t>
            </a:r>
          </a:p>
        </p:txBody>
      </p:sp>
      <p:sp>
        <p:nvSpPr>
          <p:cNvPr id="12" name="Rectangle 11"/>
          <p:cNvSpPr/>
          <p:nvPr/>
        </p:nvSpPr>
        <p:spPr>
          <a:xfrm>
            <a:off x="8369300" y="876300"/>
            <a:ext cx="2857500" cy="5080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shboard.png"/>
          <p:cNvPicPr>
            <a:picLocks noChangeAspect="1"/>
          </p:cNvPicPr>
          <p:nvPr/>
        </p:nvPicPr>
        <p:blipFill>
          <a:blip r:embed="rId2"/>
          <a:stretch>
            <a:fillRect/>
          </a:stretch>
        </p:blipFill>
        <p:spPr>
          <a:xfrm>
            <a:off x="8737600" y="984250"/>
            <a:ext cx="2114550" cy="4711700"/>
          </a:xfrm>
          <a:prstGeom prst="rect">
            <a:avLst/>
          </a:prstGeom>
        </p:spPr>
      </p:pic>
      <p:sp>
        <p:nvSpPr>
          <p:cNvPr id="14" name="TextBox 13"/>
          <p:cNvSpPr txBox="1"/>
          <p:nvPr/>
        </p:nvSpPr>
        <p:spPr>
          <a:xfrm>
            <a:off x="8509000" y="5803900"/>
            <a:ext cx="2889250" cy="215900"/>
          </a:xfrm>
          <a:prstGeom prst="rect">
            <a:avLst/>
          </a:prstGeom>
          <a:noFill/>
        </p:spPr>
        <p:txBody>
          <a:bodyPr wrap="none" lIns="0" rIns="0" tIns="0" bIns="0">
            <a:spAutoFit/>
          </a:bodyPr>
          <a:lstStyle/>
          <a:p>
            <a:pPr>
              <a:lnSpc>
                <a:spcPts val="1300"/>
              </a:lnSpc>
              <a:spcBef>
                <a:spcPts val="0"/>
              </a:spcBef>
              <a:spcAft>
                <a:spcPts val="0"/>
              </a:spcAft>
            </a:pPr>
            <a:r>
              <a:rPr sz="1050" b="1">
                <a:solidFill>
                  <a:srgbClr val="FFD080"/>
                </a:solidFill>
                <a:latin typeface="Arial"/>
              </a:rPr>
              <a:t>EARLY BUILD · SEP 14,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SEE YOUR PROGRESS</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02 / 06</a:t>
            </a:r>
          </a:p>
        </p:txBody>
      </p:sp>
      <p:sp>
        <p:nvSpPr>
          <p:cNvPr id="7" name="TextBox 6"/>
          <p:cNvSpPr txBox="1"/>
          <p:nvPr/>
        </p:nvSpPr>
        <p:spPr>
          <a:xfrm>
            <a:off x="508000" y="1035050"/>
            <a:ext cx="11176000" cy="615950"/>
          </a:xfrm>
          <a:prstGeom prst="rect">
            <a:avLst/>
          </a:prstGeom>
          <a:noFill/>
        </p:spPr>
        <p:txBody>
          <a:bodyPr wrap="none" lIns="0" rIns="0" tIns="0" bIns="0">
            <a:spAutoFit/>
          </a:bodyPr>
          <a:lstStyle/>
          <a:p>
            <a:pPr>
              <a:lnSpc>
                <a:spcPts val="4450"/>
              </a:lnSpc>
              <a:spcBef>
                <a:spcPts val="0"/>
              </a:spcBef>
              <a:spcAft>
                <a:spcPts val="0"/>
              </a:spcAft>
            </a:pPr>
            <a:r>
              <a:rPr sz="3600" b="1">
                <a:solidFill>
                  <a:srgbClr val="F3F7FF"/>
                </a:solidFill>
                <a:latin typeface="Arial"/>
              </a:rPr>
              <a:t>Your movement. Your history.</a:t>
            </a:r>
          </a:p>
        </p:txBody>
      </p:sp>
      <p:sp>
        <p:nvSpPr>
          <p:cNvPr id="8" name="TextBox 7"/>
          <p:cNvSpPr txBox="1"/>
          <p:nvPr/>
        </p:nvSpPr>
        <p:spPr>
          <a:xfrm>
            <a:off x="539750" y="1752600"/>
            <a:ext cx="10985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FD080"/>
                </a:solidFill>
                <a:latin typeface="Arial"/>
              </a:rPr>
              <a:t>NEXT DESIGN · ACTIVITY + OPTIONAL AUTO-SYNC</a:t>
            </a:r>
          </a:p>
        </p:txBody>
      </p:sp>
      <p:sp>
        <p:nvSpPr>
          <p:cNvPr id="9" name="Rectangle 8"/>
          <p:cNvSpPr/>
          <p:nvPr/>
        </p:nvSpPr>
        <p:spPr>
          <a:xfrm>
            <a:off x="508000" y="2286000"/>
            <a:ext cx="5397500" cy="3238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 y="2476500"/>
            <a:ext cx="49530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ACTIVITY</a:t>
            </a:r>
          </a:p>
        </p:txBody>
      </p:sp>
      <p:sp>
        <p:nvSpPr>
          <p:cNvPr id="11" name="TextBox 10"/>
          <p:cNvSpPr txBox="1"/>
          <p:nvPr/>
        </p:nvSpPr>
        <p:spPr>
          <a:xfrm>
            <a:off x="711200" y="2882900"/>
            <a:ext cx="4953000" cy="292100"/>
          </a:xfrm>
          <a:prstGeom prst="rect">
            <a:avLst/>
          </a:prstGeom>
          <a:noFill/>
        </p:spPr>
        <p:txBody>
          <a:bodyPr wrap="none" lIns="0" rIns="0" tIns="0" bIns="0">
            <a:spAutoFit/>
          </a:bodyPr>
          <a:lstStyle/>
          <a:p>
            <a:pPr>
              <a:lnSpc>
                <a:spcPts val="1900"/>
              </a:lnSpc>
              <a:spcBef>
                <a:spcPts val="0"/>
              </a:spcBef>
              <a:spcAft>
                <a:spcPts val="0"/>
              </a:spcAft>
            </a:pPr>
            <a:r>
              <a:rPr sz="1550" b="0">
                <a:solidFill>
                  <a:srgbClr val="F3F7FF"/>
                </a:solidFill>
                <a:latin typeface="Arial"/>
              </a:rPr>
              <a:t>Month view · Filters · Workout details</a:t>
            </a:r>
          </a:p>
        </p:txBody>
      </p:sp>
      <p:sp>
        <p:nvSpPr>
          <p:cNvPr id="12" name="TextBox 11"/>
          <p:cNvSpPr txBox="1"/>
          <p:nvPr/>
        </p:nvSpPr>
        <p:spPr>
          <a:xfrm>
            <a:off x="711200" y="3479800"/>
            <a:ext cx="4953000" cy="285750"/>
          </a:xfrm>
          <a:prstGeom prst="rect">
            <a:avLst/>
          </a:prstGeom>
          <a:noFill/>
        </p:spPr>
        <p:txBody>
          <a:bodyPr wrap="none" lIns="0" rIns="0" tIns="0" bIns="0">
            <a:spAutoFit/>
          </a:bodyPr>
          <a:lstStyle/>
          <a:p>
            <a:pPr>
              <a:lnSpc>
                <a:spcPts val="1850"/>
              </a:lnSpc>
              <a:spcBef>
                <a:spcPts val="0"/>
              </a:spcBef>
              <a:spcAft>
                <a:spcPts val="0"/>
              </a:spcAft>
            </a:pPr>
            <a:r>
              <a:rPr sz="1500" b="0">
                <a:solidFill>
                  <a:srgbClr val="A8B6CF"/>
                </a:solidFill>
                <a:latin typeface="Arial"/>
              </a:rPr>
              <a:t>SEP 17   RUN     5.00 km   30:00</a:t>
            </a:r>
          </a:p>
        </p:txBody>
      </p:sp>
      <p:sp>
        <p:nvSpPr>
          <p:cNvPr id="13" name="TextBox 12"/>
          <p:cNvSpPr txBox="1"/>
          <p:nvPr/>
        </p:nvSpPr>
        <p:spPr>
          <a:xfrm>
            <a:off x="711200" y="4006850"/>
            <a:ext cx="4953000" cy="285750"/>
          </a:xfrm>
          <a:prstGeom prst="rect">
            <a:avLst/>
          </a:prstGeom>
          <a:noFill/>
        </p:spPr>
        <p:txBody>
          <a:bodyPr wrap="none" lIns="0" rIns="0" tIns="0" bIns="0">
            <a:spAutoFit/>
          </a:bodyPr>
          <a:lstStyle/>
          <a:p>
            <a:pPr>
              <a:lnSpc>
                <a:spcPts val="1850"/>
              </a:lnSpc>
              <a:spcBef>
                <a:spcPts val="0"/>
              </a:spcBef>
              <a:spcAft>
                <a:spcPts val="0"/>
              </a:spcAft>
            </a:pPr>
            <a:r>
              <a:rPr sz="1500" b="0">
                <a:solidFill>
                  <a:srgbClr val="A8B6CF"/>
                </a:solidFill>
                <a:latin typeface="Arial"/>
              </a:rPr>
              <a:t>SEP 18   WALK    2.40 km   28:00</a:t>
            </a:r>
          </a:p>
        </p:txBody>
      </p:sp>
      <p:sp>
        <p:nvSpPr>
          <p:cNvPr id="14" name="TextBox 13"/>
          <p:cNvSpPr txBox="1"/>
          <p:nvPr/>
        </p:nvSpPr>
        <p:spPr>
          <a:xfrm>
            <a:off x="711200" y="4533900"/>
            <a:ext cx="4953000" cy="285750"/>
          </a:xfrm>
          <a:prstGeom prst="rect">
            <a:avLst/>
          </a:prstGeom>
          <a:noFill/>
        </p:spPr>
        <p:txBody>
          <a:bodyPr wrap="none" lIns="0" rIns="0" tIns="0" bIns="0">
            <a:spAutoFit/>
          </a:bodyPr>
          <a:lstStyle/>
          <a:p>
            <a:pPr>
              <a:lnSpc>
                <a:spcPts val="1850"/>
              </a:lnSpc>
              <a:spcBef>
                <a:spcPts val="0"/>
              </a:spcBef>
              <a:spcAft>
                <a:spcPts val="0"/>
              </a:spcAft>
            </a:pPr>
            <a:r>
              <a:rPr sz="1500" b="0">
                <a:solidFill>
                  <a:srgbClr val="A8B6CF"/>
                </a:solidFill>
                <a:latin typeface="Arial"/>
              </a:rPr>
              <a:t>SEP 19   RUN     3.00 km   19:00</a:t>
            </a:r>
          </a:p>
        </p:txBody>
      </p:sp>
      <p:sp>
        <p:nvSpPr>
          <p:cNvPr id="15" name="Rectangle 14"/>
          <p:cNvSpPr/>
          <p:nvPr/>
        </p:nvSpPr>
        <p:spPr>
          <a:xfrm>
            <a:off x="6286500" y="2286000"/>
            <a:ext cx="5397500" cy="3238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9700" y="2476500"/>
            <a:ext cx="4953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AUTO-SYNC WHEN ONLINE</a:t>
            </a:r>
          </a:p>
        </p:txBody>
      </p:sp>
      <p:sp>
        <p:nvSpPr>
          <p:cNvPr id="17" name="TextBox 16"/>
          <p:cNvSpPr txBox="1"/>
          <p:nvPr/>
        </p:nvSpPr>
        <p:spPr>
          <a:xfrm>
            <a:off x="6489700" y="2882900"/>
            <a:ext cx="4953000" cy="317500"/>
          </a:xfrm>
          <a:prstGeom prst="rect">
            <a:avLst/>
          </a:prstGeom>
          <a:noFill/>
        </p:spPr>
        <p:txBody>
          <a:bodyPr wrap="none" lIns="0" rIns="0" tIns="0" bIns="0">
            <a:spAutoFit/>
          </a:bodyPr>
          <a:lstStyle/>
          <a:p>
            <a:pPr>
              <a:lnSpc>
                <a:spcPts val="2100"/>
              </a:lnSpc>
              <a:spcBef>
                <a:spcPts val="0"/>
              </a:spcBef>
              <a:spcAft>
                <a:spcPts val="0"/>
              </a:spcAft>
            </a:pPr>
            <a:r>
              <a:rPr sz="1700" b="0">
                <a:solidFill>
                  <a:srgbClr val="F3F7FF"/>
                </a:solidFill>
                <a:latin typeface="Arial"/>
              </a:rPr>
              <a:t>Your choice: OFF / ON</a:t>
            </a:r>
          </a:p>
        </p:txBody>
      </p:sp>
      <p:sp>
        <p:nvSpPr>
          <p:cNvPr id="18" name="TextBox 17"/>
          <p:cNvSpPr txBox="1"/>
          <p:nvPr/>
        </p:nvSpPr>
        <p:spPr>
          <a:xfrm>
            <a:off x="6489700" y="3505200"/>
            <a:ext cx="4953000" cy="355600"/>
          </a:xfrm>
          <a:prstGeom prst="rect">
            <a:avLst/>
          </a:prstGeom>
          <a:noFill/>
        </p:spPr>
        <p:txBody>
          <a:bodyPr wrap="none" lIns="0" rIns="0" tIns="0" bIns="0">
            <a:spAutoFit/>
          </a:bodyPr>
          <a:lstStyle/>
          <a:p>
            <a:pPr>
              <a:lnSpc>
                <a:spcPts val="2400"/>
              </a:lnSpc>
              <a:spcBef>
                <a:spcPts val="0"/>
              </a:spcBef>
              <a:spcAft>
                <a:spcPts val="0"/>
              </a:spcAft>
            </a:pPr>
            <a:r>
              <a:rPr sz="1950" b="1">
                <a:solidFill>
                  <a:srgbClr val="F3F7FF"/>
                </a:solidFill>
                <a:latin typeface="Arial"/>
              </a:rPr>
              <a:t>Oldest workout first</a:t>
            </a:r>
          </a:p>
        </p:txBody>
      </p:sp>
      <p:sp>
        <p:nvSpPr>
          <p:cNvPr id="19" name="TextBox 18"/>
          <p:cNvSpPr txBox="1"/>
          <p:nvPr/>
        </p:nvSpPr>
        <p:spPr>
          <a:xfrm>
            <a:off x="6489700" y="3968750"/>
            <a:ext cx="4953000" cy="298450"/>
          </a:xfrm>
          <a:prstGeom prst="rect">
            <a:avLst/>
          </a:prstGeom>
          <a:noFill/>
        </p:spPr>
        <p:txBody>
          <a:bodyPr wrap="none" lIns="0" rIns="0" tIns="0" bIns="0">
            <a:spAutoFit/>
          </a:bodyPr>
          <a:lstStyle/>
          <a:p>
            <a:pPr>
              <a:lnSpc>
                <a:spcPts val="1950"/>
              </a:lnSpc>
              <a:spcBef>
                <a:spcPts val="0"/>
              </a:spcBef>
              <a:spcAft>
                <a:spcPts val="0"/>
              </a:spcAft>
            </a:pPr>
            <a:r>
              <a:rPr sz="1600" b="0">
                <a:solidFill>
                  <a:srgbClr val="35E5C5"/>
                </a:solidFill>
                <a:latin typeface="Arial"/>
              </a:rPr>
              <a:t>SEP 17  &gt;  SEP 18  &gt;  SEP 19</a:t>
            </a:r>
          </a:p>
        </p:txBody>
      </p:sp>
      <p:sp>
        <p:nvSpPr>
          <p:cNvPr id="20" name="TextBox 19"/>
          <p:cNvSpPr txBox="1"/>
          <p:nvPr/>
        </p:nvSpPr>
        <p:spPr>
          <a:xfrm>
            <a:off x="6489700" y="4597400"/>
            <a:ext cx="4953000" cy="285750"/>
          </a:xfrm>
          <a:prstGeom prst="rect">
            <a:avLst/>
          </a:prstGeom>
          <a:noFill/>
        </p:spPr>
        <p:txBody>
          <a:bodyPr wrap="none" lIns="0" rIns="0" tIns="0" bIns="0">
            <a:spAutoFit/>
          </a:bodyPr>
          <a:lstStyle/>
          <a:p>
            <a:pPr>
              <a:lnSpc>
                <a:spcPts val="1850"/>
              </a:lnSpc>
              <a:spcBef>
                <a:spcPts val="0"/>
              </a:spcBef>
              <a:spcAft>
                <a:spcPts val="0"/>
              </a:spcAft>
            </a:pPr>
            <a:r>
              <a:rPr sz="1500" b="0">
                <a:solidFill>
                  <a:srgbClr val="A8B6CF"/>
                </a:solidFill>
                <a:latin typeface="Arial"/>
              </a:rPr>
              <a:t>Retry safely. Keep records in order.</a:t>
            </a:r>
          </a:p>
        </p:txBody>
      </p:sp>
      <p:sp>
        <p:nvSpPr>
          <p:cNvPr id="21" name="TextBox 20"/>
          <p:cNvSpPr txBox="1"/>
          <p:nvPr/>
        </p:nvSpPr>
        <p:spPr>
          <a:xfrm>
            <a:off x="539750" y="5829300"/>
            <a:ext cx="11049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FFD080"/>
                </a:solidFill>
                <a:latin typeface="Arial"/>
              </a:rPr>
              <a:t>DESIGN PREVIEW · SAMPLE DATA · IMPLEMENTATION PENDING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VERIFY A MILESTONE</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03 / 06</a:t>
            </a:r>
          </a:p>
        </p:txBody>
      </p:sp>
      <p:sp>
        <p:nvSpPr>
          <p:cNvPr id="7" name="TextBox 6"/>
          <p:cNvSpPr txBox="1"/>
          <p:nvPr/>
        </p:nvSpPr>
        <p:spPr>
          <a:xfrm>
            <a:off x="508000" y="1047749"/>
            <a:ext cx="10858500" cy="1231900"/>
          </a:xfrm>
          <a:prstGeom prst="rect">
            <a:avLst/>
          </a:prstGeom>
          <a:noFill/>
        </p:spPr>
        <p:txBody>
          <a:bodyPr wrap="none" lIns="0" rIns="0" tIns="0" bIns="0">
            <a:spAutoFit/>
          </a:bodyPr>
          <a:lstStyle/>
          <a:p>
            <a:pPr>
              <a:lnSpc>
                <a:spcPts val="4650"/>
              </a:lnSpc>
              <a:spcBef>
                <a:spcPts val="0"/>
              </a:spcBef>
              <a:spcAft>
                <a:spcPts val="0"/>
              </a:spcAft>
            </a:pPr>
            <a:r>
              <a:rPr sz="3800" b="1">
                <a:solidFill>
                  <a:srgbClr val="F3F7FF"/>
                </a:solidFill>
                <a:latin typeface="Arial"/>
              </a:rPr>
              <a:t>Your milestone.</a:t>
            </a:r>
          </a:p>
          <a:p>
            <a:pPr>
              <a:lnSpc>
                <a:spcPts val="4650"/>
              </a:lnSpc>
              <a:spcBef>
                <a:spcPts val="0"/>
              </a:spcBef>
              <a:spcAft>
                <a:spcPts val="0"/>
              </a:spcAft>
            </a:pPr>
            <a:r>
              <a:rPr sz="3800" b="1">
                <a:solidFill>
                  <a:srgbClr val="F3F7FF"/>
                </a:solidFill>
                <a:latin typeface="Arial"/>
              </a:rPr>
              <a:t>An onchain record.</a:t>
            </a:r>
          </a:p>
        </p:txBody>
      </p:sp>
      <p:sp>
        <p:nvSpPr>
          <p:cNvPr id="8" name="TextBox 7"/>
          <p:cNvSpPr txBox="1"/>
          <p:nvPr/>
        </p:nvSpPr>
        <p:spPr>
          <a:xfrm>
            <a:off x="539750" y="2425700"/>
            <a:ext cx="10985500" cy="355600"/>
          </a:xfrm>
          <a:prstGeom prst="rect">
            <a:avLst/>
          </a:prstGeom>
          <a:noFill/>
        </p:spPr>
        <p:txBody>
          <a:bodyPr wrap="none" lIns="0" rIns="0" tIns="0" bIns="0">
            <a:spAutoFit/>
          </a:bodyPr>
          <a:lstStyle/>
          <a:p>
            <a:pPr>
              <a:lnSpc>
                <a:spcPts val="2400"/>
              </a:lnSpc>
              <a:spcBef>
                <a:spcPts val="0"/>
              </a:spcBef>
              <a:spcAft>
                <a:spcPts val="0"/>
              </a:spcAft>
            </a:pPr>
            <a:r>
              <a:rPr sz="1950" b="0">
                <a:solidFill>
                  <a:srgbClr val="35E5C5"/>
                </a:solidFill>
                <a:latin typeface="Arial"/>
              </a:rPr>
              <a:t>Raw health records stay on your phone.</a:t>
            </a:r>
          </a:p>
        </p:txBody>
      </p:sp>
      <p:sp>
        <p:nvSpPr>
          <p:cNvPr id="9" name="Rectangle 8"/>
          <p:cNvSpPr/>
          <p:nvPr/>
        </p:nvSpPr>
        <p:spPr>
          <a:xfrm>
            <a:off x="5080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1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01</a:t>
            </a:r>
          </a:p>
        </p:txBody>
      </p:sp>
      <p:sp>
        <p:nvSpPr>
          <p:cNvPr id="11" name="TextBox 10"/>
          <p:cNvSpPr txBox="1"/>
          <p:nvPr/>
        </p:nvSpPr>
        <p:spPr>
          <a:xfrm>
            <a:off x="6731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HEALTH SUMMARY</a:t>
            </a:r>
          </a:p>
        </p:txBody>
      </p:sp>
      <p:sp>
        <p:nvSpPr>
          <p:cNvPr id="12" name="TextBox 11"/>
          <p:cNvSpPr txBox="1"/>
          <p:nvPr/>
        </p:nvSpPr>
        <p:spPr>
          <a:xfrm>
            <a:off x="6731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Android Health</a:t>
            </a:r>
          </a:p>
          <a:p>
            <a:pPr>
              <a:lnSpc>
                <a:spcPts val="1650"/>
              </a:lnSpc>
              <a:spcBef>
                <a:spcPts val="0"/>
              </a:spcBef>
              <a:spcAft>
                <a:spcPts val="0"/>
              </a:spcAft>
            </a:pPr>
            <a:r>
              <a:rPr sz="1350" b="0">
                <a:solidFill>
                  <a:srgbClr val="A8B6CF"/>
                </a:solidFill>
                <a:latin typeface="Arial"/>
              </a:rPr>
              <a:t>Connect</a:t>
            </a:r>
          </a:p>
        </p:txBody>
      </p:sp>
      <p:sp>
        <p:nvSpPr>
          <p:cNvPr id="13" name="TextBox 12"/>
          <p:cNvSpPr txBox="1"/>
          <p:nvPr/>
        </p:nvSpPr>
        <p:spPr>
          <a:xfrm>
            <a:off x="3168650" y="3892550"/>
            <a:ext cx="190500" cy="285750"/>
          </a:xfrm>
          <a:prstGeom prst="rect">
            <a:avLst/>
          </a:prstGeom>
          <a:noFill/>
        </p:spPr>
        <p:txBody>
          <a:bodyPr wrap="none" lIns="0" rIns="0" tIns="0" bIns="0">
            <a:spAutoFit/>
          </a:bodyPr>
          <a:lstStyle/>
          <a:p>
            <a:pPr>
              <a:lnSpc>
                <a:spcPts val="1850"/>
              </a:lnSpc>
              <a:spcBef>
                <a:spcPts val="0"/>
              </a:spcBef>
              <a:spcAft>
                <a:spcPts val="0"/>
              </a:spcAft>
            </a:pPr>
            <a:r>
              <a:rPr sz="1500" b="1">
                <a:solidFill>
                  <a:srgbClr val="35E5C5"/>
                </a:solidFill>
                <a:latin typeface="Arial"/>
              </a:rPr>
              <a:t>&gt;</a:t>
            </a:r>
          </a:p>
        </p:txBody>
      </p:sp>
      <p:sp>
        <p:nvSpPr>
          <p:cNvPr id="14" name="Rectangle 13"/>
          <p:cNvSpPr/>
          <p:nvPr/>
        </p:nvSpPr>
        <p:spPr>
          <a:xfrm>
            <a:off x="33655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6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02</a:t>
            </a:r>
          </a:p>
        </p:txBody>
      </p:sp>
      <p:sp>
        <p:nvSpPr>
          <p:cNvPr id="16" name="TextBox 15"/>
          <p:cNvSpPr txBox="1"/>
          <p:nvPr/>
        </p:nvSpPr>
        <p:spPr>
          <a:xfrm>
            <a:off x="35306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VALIDATION</a:t>
            </a:r>
          </a:p>
        </p:txBody>
      </p:sp>
      <p:sp>
        <p:nvSpPr>
          <p:cNvPr id="17" name="TextBox 16"/>
          <p:cNvSpPr txBox="1"/>
          <p:nvPr/>
        </p:nvSpPr>
        <p:spPr>
          <a:xfrm>
            <a:off x="35306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Qualifying activity</a:t>
            </a:r>
          </a:p>
          <a:p>
            <a:pPr>
              <a:lnSpc>
                <a:spcPts val="1650"/>
              </a:lnSpc>
              <a:spcBef>
                <a:spcPts val="0"/>
              </a:spcBef>
              <a:spcAft>
                <a:spcPts val="0"/>
              </a:spcAft>
            </a:pPr>
            <a:r>
              <a:rPr sz="1350" b="0">
                <a:solidFill>
                  <a:srgbClr val="A8B6CF"/>
                </a:solidFill>
                <a:latin typeface="Arial"/>
              </a:rPr>
              <a:t>is checked</a:t>
            </a:r>
          </a:p>
        </p:txBody>
      </p:sp>
      <p:sp>
        <p:nvSpPr>
          <p:cNvPr id="18" name="TextBox 17"/>
          <p:cNvSpPr txBox="1"/>
          <p:nvPr/>
        </p:nvSpPr>
        <p:spPr>
          <a:xfrm>
            <a:off x="6026150" y="3892550"/>
            <a:ext cx="190500" cy="285750"/>
          </a:xfrm>
          <a:prstGeom prst="rect">
            <a:avLst/>
          </a:prstGeom>
          <a:noFill/>
        </p:spPr>
        <p:txBody>
          <a:bodyPr wrap="none" lIns="0" rIns="0" tIns="0" bIns="0">
            <a:spAutoFit/>
          </a:bodyPr>
          <a:lstStyle/>
          <a:p>
            <a:pPr>
              <a:lnSpc>
                <a:spcPts val="1850"/>
              </a:lnSpc>
              <a:spcBef>
                <a:spcPts val="0"/>
              </a:spcBef>
              <a:spcAft>
                <a:spcPts val="0"/>
              </a:spcAft>
            </a:pPr>
            <a:r>
              <a:rPr sz="1500" b="1">
                <a:solidFill>
                  <a:srgbClr val="35E5C5"/>
                </a:solidFill>
                <a:latin typeface="Arial"/>
              </a:rPr>
              <a:t>&gt;</a:t>
            </a:r>
          </a:p>
        </p:txBody>
      </p:sp>
      <p:sp>
        <p:nvSpPr>
          <p:cNvPr id="19" name="Rectangle 18"/>
          <p:cNvSpPr/>
          <p:nvPr/>
        </p:nvSpPr>
        <p:spPr>
          <a:xfrm>
            <a:off x="62230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81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03</a:t>
            </a:r>
          </a:p>
        </p:txBody>
      </p:sp>
      <p:sp>
        <p:nvSpPr>
          <p:cNvPr id="21" name="TextBox 20"/>
          <p:cNvSpPr txBox="1"/>
          <p:nvPr/>
        </p:nvSpPr>
        <p:spPr>
          <a:xfrm>
            <a:off x="63881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WALLET APPROVAL</a:t>
            </a:r>
          </a:p>
        </p:txBody>
      </p:sp>
      <p:sp>
        <p:nvSpPr>
          <p:cNvPr id="22" name="TextBox 21"/>
          <p:cNvSpPr txBox="1"/>
          <p:nvPr/>
        </p:nvSpPr>
        <p:spPr>
          <a:xfrm>
            <a:off x="63881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You approve</a:t>
            </a:r>
          </a:p>
          <a:p>
            <a:pPr>
              <a:lnSpc>
                <a:spcPts val="1650"/>
              </a:lnSpc>
              <a:spcBef>
                <a:spcPts val="0"/>
              </a:spcBef>
              <a:spcAft>
                <a:spcPts val="0"/>
              </a:spcAft>
            </a:pPr>
            <a:r>
              <a:rPr sz="1350" b="0">
                <a:solidFill>
                  <a:srgbClr val="A8B6CF"/>
                </a:solidFill>
                <a:latin typeface="Arial"/>
              </a:rPr>
              <a:t>the claim</a:t>
            </a:r>
          </a:p>
        </p:txBody>
      </p:sp>
      <p:sp>
        <p:nvSpPr>
          <p:cNvPr id="23" name="TextBox 22"/>
          <p:cNvSpPr txBox="1"/>
          <p:nvPr/>
        </p:nvSpPr>
        <p:spPr>
          <a:xfrm>
            <a:off x="8883650" y="3892550"/>
            <a:ext cx="190500" cy="285750"/>
          </a:xfrm>
          <a:prstGeom prst="rect">
            <a:avLst/>
          </a:prstGeom>
          <a:noFill/>
        </p:spPr>
        <p:txBody>
          <a:bodyPr wrap="none" lIns="0" rIns="0" tIns="0" bIns="0">
            <a:spAutoFit/>
          </a:bodyPr>
          <a:lstStyle/>
          <a:p>
            <a:pPr>
              <a:lnSpc>
                <a:spcPts val="1850"/>
              </a:lnSpc>
              <a:spcBef>
                <a:spcPts val="0"/>
              </a:spcBef>
              <a:spcAft>
                <a:spcPts val="0"/>
              </a:spcAft>
            </a:pPr>
            <a:r>
              <a:rPr sz="1500" b="1">
                <a:solidFill>
                  <a:srgbClr val="35E5C5"/>
                </a:solidFill>
                <a:latin typeface="Arial"/>
              </a:rPr>
              <a:t>&gt;</a:t>
            </a:r>
          </a:p>
        </p:txBody>
      </p:sp>
      <p:sp>
        <p:nvSpPr>
          <p:cNvPr id="24" name="Rectangle 23"/>
          <p:cNvSpPr/>
          <p:nvPr/>
        </p:nvSpPr>
        <p:spPr>
          <a:xfrm>
            <a:off x="90805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56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04</a:t>
            </a:r>
          </a:p>
        </p:txBody>
      </p:sp>
      <p:sp>
        <p:nvSpPr>
          <p:cNvPr id="26" name="TextBox 25"/>
          <p:cNvSpPr txBox="1"/>
          <p:nvPr/>
        </p:nvSpPr>
        <p:spPr>
          <a:xfrm>
            <a:off x="92456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ONCHAIN CLAIM</a:t>
            </a:r>
          </a:p>
        </p:txBody>
      </p:sp>
      <p:sp>
        <p:nvSpPr>
          <p:cNvPr id="27" name="TextBox 26"/>
          <p:cNvSpPr txBox="1"/>
          <p:nvPr/>
        </p:nvSpPr>
        <p:spPr>
          <a:xfrm>
            <a:off x="92456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View the transaction</a:t>
            </a:r>
          </a:p>
          <a:p>
            <a:pPr>
              <a:lnSpc>
                <a:spcPts val="1650"/>
              </a:lnSpc>
              <a:spcBef>
                <a:spcPts val="0"/>
              </a:spcBef>
              <a:spcAft>
                <a:spcPts val="0"/>
              </a:spcAft>
            </a:pPr>
            <a:r>
              <a:rPr sz="1350" b="0">
                <a:solidFill>
                  <a:srgbClr val="A8B6CF"/>
                </a:solidFill>
                <a:latin typeface="Arial"/>
              </a:rPr>
              <a:t>on Solana devnet</a:t>
            </a:r>
          </a:p>
        </p:txBody>
      </p:sp>
      <p:sp>
        <p:nvSpPr>
          <p:cNvPr id="28" name="TextBox 27"/>
          <p:cNvSpPr txBox="1"/>
          <p:nvPr/>
        </p:nvSpPr>
        <p:spPr>
          <a:xfrm>
            <a:off x="539750" y="5245100"/>
            <a:ext cx="111125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FD080"/>
                </a:solidFill>
                <a:latin typeface="Arial"/>
              </a:rPr>
              <a:t>WORKFLOW PREVIEW · DEVICE VALIDATION PENDING</a:t>
            </a:r>
          </a:p>
        </p:txBody>
      </p:sp>
      <p:sp>
        <p:nvSpPr>
          <p:cNvPr id="29" name="TextBox 28"/>
          <p:cNvSpPr txBox="1"/>
          <p:nvPr/>
        </p:nvSpPr>
        <p:spPr>
          <a:xfrm>
            <a:off x="539750" y="5689600"/>
            <a:ext cx="11112500" cy="279400"/>
          </a:xfrm>
          <a:prstGeom prst="rect">
            <a:avLst/>
          </a:prstGeom>
          <a:noFill/>
        </p:spPr>
        <p:txBody>
          <a:bodyPr wrap="none" lIns="0" rIns="0" tIns="0" bIns="0">
            <a:spAutoFit/>
          </a:bodyPr>
          <a:lstStyle/>
          <a:p>
            <a:pPr>
              <a:lnSpc>
                <a:spcPts val="1800"/>
              </a:lnSpc>
              <a:spcBef>
                <a:spcPts val="0"/>
              </a:spcBef>
              <a:spcAft>
                <a:spcPts val="0"/>
              </a:spcAft>
            </a:pPr>
            <a:r>
              <a:rPr sz="1450" b="0">
                <a:solidFill>
                  <a:srgbClr val="A8B6CF"/>
                </a:solidFill>
                <a:latin typeface="Arial"/>
              </a:rPr>
              <a:t>tSKR: devnet test token · No monetary value · Not official SKR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DISCOVER WILD GUARDIANS</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04 / 06</a:t>
            </a:r>
          </a:p>
        </p:txBody>
      </p:sp>
      <p:sp>
        <p:nvSpPr>
          <p:cNvPr id="7" name="TextBox 6"/>
          <p:cNvSpPr txBox="1"/>
          <p:nvPr/>
        </p:nvSpPr>
        <p:spPr>
          <a:xfrm>
            <a:off x="508000" y="1035050"/>
            <a:ext cx="11176000" cy="654050"/>
          </a:xfrm>
          <a:prstGeom prst="rect">
            <a:avLst/>
          </a:prstGeom>
          <a:noFill/>
        </p:spPr>
        <p:txBody>
          <a:bodyPr wrap="none" lIns="0" rIns="0" tIns="0" bIns="0">
            <a:spAutoFit/>
          </a:bodyPr>
          <a:lstStyle/>
          <a:p>
            <a:pPr>
              <a:lnSpc>
                <a:spcPts val="4750"/>
              </a:lnSpc>
              <a:spcBef>
                <a:spcPts val="0"/>
              </a:spcBef>
              <a:spcAft>
                <a:spcPts val="0"/>
              </a:spcAft>
            </a:pPr>
            <a:r>
              <a:rPr sz="3850" b="1">
                <a:solidFill>
                  <a:srgbClr val="F3F7FF"/>
                </a:solidFill>
                <a:latin typeface="Arial"/>
              </a:rPr>
              <a:t>Progress with a story.</a:t>
            </a:r>
          </a:p>
        </p:txBody>
      </p:sp>
      <p:sp>
        <p:nvSpPr>
          <p:cNvPr id="8" name="TextBox 7"/>
          <p:cNvSpPr txBox="1"/>
          <p:nvPr/>
        </p:nvSpPr>
        <p:spPr>
          <a:xfrm>
            <a:off x="539750" y="1765300"/>
            <a:ext cx="10985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FD080"/>
                </a:solidFill>
                <a:latin typeface="Arial"/>
              </a:rPr>
              <a:t>NEXT DESIGN · SWITCH EARNED SHOES + MATCHING BACKGROUNDS</a:t>
            </a:r>
          </a:p>
        </p:txBody>
      </p:sp>
      <p:sp>
        <p:nvSpPr>
          <p:cNvPr id="9" name="Rectangle 8"/>
          <p:cNvSpPr/>
          <p:nvPr/>
        </p:nvSpPr>
        <p:spPr>
          <a:xfrm>
            <a:off x="508000" y="2387600"/>
            <a:ext cx="5429250" cy="30734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sian-elephant.png"/>
          <p:cNvPicPr>
            <a:picLocks noChangeAspect="1"/>
          </p:cNvPicPr>
          <p:nvPr/>
        </p:nvPicPr>
        <p:blipFill>
          <a:blip r:embed="rId2"/>
          <a:stretch>
            <a:fillRect/>
          </a:stretch>
        </p:blipFill>
        <p:spPr>
          <a:xfrm>
            <a:off x="1492250" y="2457450"/>
            <a:ext cx="3454400" cy="2127250"/>
          </a:xfrm>
          <a:prstGeom prst="rect">
            <a:avLst/>
          </a:prstGeom>
        </p:spPr>
      </p:pic>
      <p:sp>
        <p:nvSpPr>
          <p:cNvPr id="11" name="TextBox 10"/>
          <p:cNvSpPr txBox="1"/>
          <p:nvPr/>
        </p:nvSpPr>
        <p:spPr>
          <a:xfrm>
            <a:off x="711200" y="4724400"/>
            <a:ext cx="50165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ASIAN ELEPHANT</a:t>
            </a:r>
          </a:p>
        </p:txBody>
      </p:sp>
      <p:sp>
        <p:nvSpPr>
          <p:cNvPr id="12" name="TextBox 11"/>
          <p:cNvSpPr txBox="1"/>
          <p:nvPr/>
        </p:nvSpPr>
        <p:spPr>
          <a:xfrm>
            <a:off x="711200" y="5086350"/>
            <a:ext cx="5080000" cy="266700"/>
          </a:xfrm>
          <a:prstGeom prst="rect">
            <a:avLst/>
          </a:prstGeom>
          <a:noFill/>
        </p:spPr>
        <p:txBody>
          <a:bodyPr wrap="none" lIns="0" rIns="0" tIns="0" bIns="0">
            <a:spAutoFit/>
          </a:bodyPr>
          <a:lstStyle/>
          <a:p>
            <a:pPr>
              <a:lnSpc>
                <a:spcPts val="1700"/>
              </a:lnSpc>
              <a:spcBef>
                <a:spcPts val="0"/>
              </a:spcBef>
              <a:spcAft>
                <a:spcPts val="0"/>
              </a:spcAft>
            </a:pPr>
            <a:r>
              <a:rPr sz="1400" b="0">
                <a:solidFill>
                  <a:srgbClr val="F3F7FF"/>
                </a:solidFill>
                <a:latin typeface="Arial"/>
              </a:rPr>
              <a:t>Forest theme · Earned shoe selection</a:t>
            </a:r>
          </a:p>
        </p:txBody>
      </p:sp>
      <p:sp>
        <p:nvSpPr>
          <p:cNvPr id="13" name="Rectangle 12"/>
          <p:cNvSpPr/>
          <p:nvPr/>
        </p:nvSpPr>
        <p:spPr>
          <a:xfrm>
            <a:off x="6254750" y="2387600"/>
            <a:ext cx="5429250" cy="30734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awksbill-turtle.png"/>
          <p:cNvPicPr>
            <a:picLocks noChangeAspect="1"/>
          </p:cNvPicPr>
          <p:nvPr/>
        </p:nvPicPr>
        <p:blipFill>
          <a:blip r:embed="rId3"/>
          <a:stretch>
            <a:fillRect/>
          </a:stretch>
        </p:blipFill>
        <p:spPr>
          <a:xfrm>
            <a:off x="7239000" y="2457450"/>
            <a:ext cx="3454400" cy="2127250"/>
          </a:xfrm>
          <a:prstGeom prst="rect">
            <a:avLst/>
          </a:prstGeom>
        </p:spPr>
      </p:pic>
      <p:sp>
        <p:nvSpPr>
          <p:cNvPr id="15" name="TextBox 14"/>
          <p:cNvSpPr txBox="1"/>
          <p:nvPr/>
        </p:nvSpPr>
        <p:spPr>
          <a:xfrm>
            <a:off x="6457950" y="4724400"/>
            <a:ext cx="50165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HAWKSBILL TURTLE</a:t>
            </a:r>
          </a:p>
        </p:txBody>
      </p:sp>
      <p:sp>
        <p:nvSpPr>
          <p:cNvPr id="16" name="TextBox 15"/>
          <p:cNvSpPr txBox="1"/>
          <p:nvPr/>
        </p:nvSpPr>
        <p:spPr>
          <a:xfrm>
            <a:off x="6457950" y="5086350"/>
            <a:ext cx="5080000" cy="266700"/>
          </a:xfrm>
          <a:prstGeom prst="rect">
            <a:avLst/>
          </a:prstGeom>
          <a:noFill/>
        </p:spPr>
        <p:txBody>
          <a:bodyPr wrap="none" lIns="0" rIns="0" tIns="0" bIns="0">
            <a:spAutoFit/>
          </a:bodyPr>
          <a:lstStyle/>
          <a:p>
            <a:pPr>
              <a:lnSpc>
                <a:spcPts val="1700"/>
              </a:lnSpc>
              <a:spcBef>
                <a:spcPts val="0"/>
              </a:spcBef>
              <a:spcAft>
                <a:spcPts val="0"/>
              </a:spcAft>
            </a:pPr>
            <a:r>
              <a:rPr sz="1400" b="0">
                <a:solidFill>
                  <a:srgbClr val="F3F7FF"/>
                </a:solidFill>
                <a:latin typeface="Arial"/>
              </a:rPr>
              <a:t>Ocean theme · Background ON / OFF</a:t>
            </a:r>
          </a:p>
        </p:txBody>
      </p:sp>
      <p:sp>
        <p:nvSpPr>
          <p:cNvPr id="17" name="TextBox 16"/>
          <p:cNvSpPr txBox="1"/>
          <p:nvPr/>
        </p:nvSpPr>
        <p:spPr>
          <a:xfrm>
            <a:off x="539750" y="5740400"/>
            <a:ext cx="11049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FFD080"/>
                </a:solidFill>
                <a:latin typeface="Arial"/>
              </a:rPr>
              <a:t>DESIGN PREVIEW · COSMETIC ONLY · ACTIVE LEVEL CONTROLS ELIGIBILITY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CONNECT WITH COMMUNITY</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05 / 06</a:t>
            </a:r>
          </a:p>
        </p:txBody>
      </p:sp>
      <p:sp>
        <p:nvSpPr>
          <p:cNvPr id="7" name="TextBox 6"/>
          <p:cNvSpPr txBox="1"/>
          <p:nvPr/>
        </p:nvSpPr>
        <p:spPr>
          <a:xfrm>
            <a:off x="508000" y="1003300"/>
            <a:ext cx="11049000" cy="1206500"/>
          </a:xfrm>
          <a:prstGeom prst="rect">
            <a:avLst/>
          </a:prstGeom>
          <a:noFill/>
        </p:spPr>
        <p:txBody>
          <a:bodyPr wrap="none" lIns="0" rIns="0" tIns="0" bIns="0">
            <a:spAutoFit/>
          </a:bodyPr>
          <a:lstStyle/>
          <a:p>
            <a:pPr>
              <a:lnSpc>
                <a:spcPts val="4550"/>
              </a:lnSpc>
              <a:spcBef>
                <a:spcPts val="0"/>
              </a:spcBef>
              <a:spcAft>
                <a:spcPts val="0"/>
              </a:spcAft>
            </a:pPr>
            <a:r>
              <a:rPr sz="3700" b="1">
                <a:solidFill>
                  <a:srgbClr val="F3F7FF"/>
                </a:solidFill>
                <a:latin typeface="Arial"/>
              </a:rPr>
              <a:t>From daily movement</a:t>
            </a:r>
          </a:p>
          <a:p>
            <a:pPr>
              <a:lnSpc>
                <a:spcPts val="4550"/>
              </a:lnSpc>
              <a:spcBef>
                <a:spcPts val="0"/>
              </a:spcBef>
              <a:spcAft>
                <a:spcPts val="0"/>
              </a:spcAft>
            </a:pPr>
            <a:r>
              <a:rPr sz="3700" b="1">
                <a:solidFill>
                  <a:srgbClr val="F3F7FF"/>
                </a:solidFill>
                <a:latin typeface="Arial"/>
              </a:rPr>
              <a:t>to shared experiences.</a:t>
            </a:r>
          </a:p>
        </p:txBody>
      </p:sp>
      <p:sp>
        <p:nvSpPr>
          <p:cNvPr id="8" name="TextBox 7"/>
          <p:cNvSpPr txBox="1"/>
          <p:nvPr/>
        </p:nvSpPr>
        <p:spPr>
          <a:xfrm>
            <a:off x="539750" y="2425700"/>
            <a:ext cx="109220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FD080"/>
                </a:solidFill>
                <a:latin typeface="Arial"/>
              </a:rPr>
              <a:t>EVENT PROTOTYPE · WORKFLOW PREVIEW</a:t>
            </a:r>
          </a:p>
        </p:txBody>
      </p:sp>
      <p:sp>
        <p:nvSpPr>
          <p:cNvPr id="9" name="Rectangle 8"/>
          <p:cNvSpPr/>
          <p:nvPr/>
        </p:nvSpPr>
        <p:spPr>
          <a:xfrm>
            <a:off x="508000" y="3016250"/>
            <a:ext cx="5397500" cy="1778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86500" y="3016250"/>
            <a:ext cx="5397500" cy="1778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200" y="3225800"/>
            <a:ext cx="4953000" cy="292100"/>
          </a:xfrm>
          <a:prstGeom prst="rect">
            <a:avLst/>
          </a:prstGeom>
          <a:noFill/>
        </p:spPr>
        <p:txBody>
          <a:bodyPr wrap="none" lIns="0" rIns="0" tIns="0" bIns="0">
            <a:spAutoFit/>
          </a:bodyPr>
          <a:lstStyle/>
          <a:p>
            <a:pPr>
              <a:lnSpc>
                <a:spcPts val="1900"/>
              </a:lnSpc>
              <a:spcBef>
                <a:spcPts val="0"/>
              </a:spcBef>
              <a:spcAft>
                <a:spcPts val="0"/>
              </a:spcAft>
            </a:pPr>
            <a:r>
              <a:rPr sz="1550" b="1">
                <a:solidFill>
                  <a:srgbClr val="35E5C5"/>
                </a:solidFill>
                <a:latin typeface="Arial"/>
              </a:rPr>
              <a:t>PARTICIPANT</a:t>
            </a:r>
          </a:p>
        </p:txBody>
      </p:sp>
      <p:sp>
        <p:nvSpPr>
          <p:cNvPr id="12" name="TextBox 11"/>
          <p:cNvSpPr txBox="1"/>
          <p:nvPr/>
        </p:nvSpPr>
        <p:spPr>
          <a:xfrm>
            <a:off x="711200" y="3721100"/>
            <a:ext cx="4953000" cy="711200"/>
          </a:xfrm>
          <a:prstGeom prst="rect">
            <a:avLst/>
          </a:prstGeom>
          <a:noFill/>
        </p:spPr>
        <p:txBody>
          <a:bodyPr wrap="none" lIns="0" rIns="0" tIns="0" bIns="0">
            <a:spAutoFit/>
          </a:bodyPr>
          <a:lstStyle/>
          <a:p>
            <a:pPr>
              <a:lnSpc>
                <a:spcPts val="2600"/>
              </a:lnSpc>
              <a:spcBef>
                <a:spcPts val="0"/>
              </a:spcBef>
              <a:spcAft>
                <a:spcPts val="0"/>
              </a:spcAft>
            </a:pPr>
            <a:r>
              <a:rPr sz="2100" b="0">
                <a:solidFill>
                  <a:srgbClr val="F3F7FF"/>
                </a:solidFill>
                <a:latin typeface="Arial"/>
              </a:rPr>
              <a:t>Discover an event</a:t>
            </a:r>
          </a:p>
          <a:p>
            <a:pPr>
              <a:lnSpc>
                <a:spcPts val="2600"/>
              </a:lnSpc>
              <a:spcBef>
                <a:spcPts val="0"/>
              </a:spcBef>
              <a:spcAft>
                <a:spcPts val="0"/>
              </a:spcAft>
            </a:pPr>
            <a:r>
              <a:rPr sz="2100" b="0">
                <a:solidFill>
                  <a:srgbClr val="F3F7FF"/>
                </a:solidFill>
                <a:latin typeface="Arial"/>
              </a:rPr>
              <a:t>Register and show a code</a:t>
            </a:r>
          </a:p>
        </p:txBody>
      </p:sp>
      <p:sp>
        <p:nvSpPr>
          <p:cNvPr id="13" name="TextBox 12"/>
          <p:cNvSpPr txBox="1"/>
          <p:nvPr/>
        </p:nvSpPr>
        <p:spPr>
          <a:xfrm>
            <a:off x="6489700" y="3225800"/>
            <a:ext cx="4953000" cy="292100"/>
          </a:xfrm>
          <a:prstGeom prst="rect">
            <a:avLst/>
          </a:prstGeom>
          <a:noFill/>
        </p:spPr>
        <p:txBody>
          <a:bodyPr wrap="none" lIns="0" rIns="0" tIns="0" bIns="0">
            <a:spAutoFit/>
          </a:bodyPr>
          <a:lstStyle/>
          <a:p>
            <a:pPr>
              <a:lnSpc>
                <a:spcPts val="1900"/>
              </a:lnSpc>
              <a:spcBef>
                <a:spcPts val="0"/>
              </a:spcBef>
              <a:spcAft>
                <a:spcPts val="0"/>
              </a:spcAft>
            </a:pPr>
            <a:r>
              <a:rPr sz="1550" b="1">
                <a:solidFill>
                  <a:srgbClr val="AD8CFF"/>
                </a:solidFill>
                <a:latin typeface="Arial"/>
              </a:rPr>
              <a:t>AUTHORIZED STAFF</a:t>
            </a:r>
          </a:p>
        </p:txBody>
      </p:sp>
      <p:sp>
        <p:nvSpPr>
          <p:cNvPr id="14" name="TextBox 13"/>
          <p:cNvSpPr txBox="1"/>
          <p:nvPr/>
        </p:nvSpPr>
        <p:spPr>
          <a:xfrm>
            <a:off x="6489700" y="3721100"/>
            <a:ext cx="4953000" cy="711200"/>
          </a:xfrm>
          <a:prstGeom prst="rect">
            <a:avLst/>
          </a:prstGeom>
          <a:noFill/>
        </p:spPr>
        <p:txBody>
          <a:bodyPr wrap="none" lIns="0" rIns="0" tIns="0" bIns="0">
            <a:spAutoFit/>
          </a:bodyPr>
          <a:lstStyle/>
          <a:p>
            <a:pPr>
              <a:lnSpc>
                <a:spcPts val="2600"/>
              </a:lnSpc>
              <a:spcBef>
                <a:spcPts val="0"/>
              </a:spcBef>
              <a:spcAft>
                <a:spcPts val="0"/>
              </a:spcAft>
            </a:pPr>
            <a:r>
              <a:rPr sz="2100" b="0">
                <a:solidFill>
                  <a:srgbClr val="F3F7FF"/>
                </a:solidFill>
                <a:latin typeface="Arial"/>
              </a:rPr>
              <a:t>Enter the participant code</a:t>
            </a:r>
          </a:p>
          <a:p>
            <a:pPr>
              <a:lnSpc>
                <a:spcPts val="2600"/>
              </a:lnSpc>
              <a:spcBef>
                <a:spcPts val="0"/>
              </a:spcBef>
              <a:spcAft>
                <a:spcPts val="0"/>
              </a:spcAft>
            </a:pPr>
            <a:r>
              <a:rPr sz="2100" b="0">
                <a:solidFill>
                  <a:srgbClr val="F3F7FF"/>
                </a:solidFill>
                <a:latin typeface="Arial"/>
              </a:rPr>
              <a:t>Confirm attendance</a:t>
            </a:r>
          </a:p>
        </p:txBody>
      </p:sp>
      <p:sp>
        <p:nvSpPr>
          <p:cNvPr id="15" name="TextBox 14"/>
          <p:cNvSpPr txBox="1"/>
          <p:nvPr/>
        </p:nvSpPr>
        <p:spPr>
          <a:xfrm>
            <a:off x="539750" y="5238750"/>
            <a:ext cx="11049000" cy="342900"/>
          </a:xfrm>
          <a:prstGeom prst="rect">
            <a:avLst/>
          </a:prstGeom>
          <a:noFill/>
        </p:spPr>
        <p:txBody>
          <a:bodyPr wrap="none" lIns="0" rIns="0" tIns="0" bIns="0">
            <a:spAutoFit/>
          </a:bodyPr>
          <a:lstStyle/>
          <a:p>
            <a:pPr>
              <a:lnSpc>
                <a:spcPts val="2300"/>
              </a:lnSpc>
              <a:spcBef>
                <a:spcPts val="0"/>
              </a:spcBef>
              <a:spcAft>
                <a:spcPts val="0"/>
              </a:spcAft>
            </a:pPr>
            <a:r>
              <a:rPr sz="1850" b="0">
                <a:solidFill>
                  <a:srgbClr val="F3F7FF"/>
                </a:solidFill>
                <a:latin typeface="Arial"/>
              </a:rPr>
              <a:t>NEXT: local community and conservation pilots.</a:t>
            </a:r>
          </a:p>
        </p:txBody>
      </p:sp>
      <p:sp>
        <p:nvSpPr>
          <p:cNvPr id="16" name="TextBox 15"/>
          <p:cNvSpPr txBox="1"/>
          <p:nvPr/>
        </p:nvSpPr>
        <p:spPr>
          <a:xfrm>
            <a:off x="539750" y="5727700"/>
            <a:ext cx="11049000" cy="266700"/>
          </a:xfrm>
          <a:prstGeom prst="rect">
            <a:avLst/>
          </a:prstGeom>
          <a:noFill/>
        </p:spPr>
        <p:txBody>
          <a:bodyPr wrap="none" lIns="0" rIns="0" tIns="0" bIns="0">
            <a:spAutoFit/>
          </a:bodyPr>
          <a:lstStyle/>
          <a:p>
            <a:pPr>
              <a:lnSpc>
                <a:spcPts val="1700"/>
              </a:lnSpc>
              <a:spcBef>
                <a:spcPts val="0"/>
              </a:spcBef>
              <a:spcAft>
                <a:spcPts val="0"/>
              </a:spcAft>
            </a:pPr>
            <a:r>
              <a:rPr sz="1400" b="0">
                <a:solidFill>
                  <a:srgbClr val="A8B6CF"/>
                </a:solidFill>
                <a:latin typeface="Arial"/>
              </a:rPr>
              <a:t>Device validation pending. Partnerships are planned.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BUILD WHAT COMES NEXT</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06 / 06</a:t>
            </a:r>
          </a:p>
        </p:txBody>
      </p:sp>
      <p:sp>
        <p:nvSpPr>
          <p:cNvPr id="7" name="TextBox 6"/>
          <p:cNvSpPr txBox="1"/>
          <p:nvPr/>
        </p:nvSpPr>
        <p:spPr>
          <a:xfrm>
            <a:off x="508000" y="1219200"/>
            <a:ext cx="11239500" cy="736600"/>
          </a:xfrm>
          <a:prstGeom prst="rect">
            <a:avLst/>
          </a:prstGeom>
          <a:noFill/>
        </p:spPr>
        <p:txBody>
          <a:bodyPr wrap="none" lIns="0" rIns="0" tIns="0" bIns="0">
            <a:spAutoFit/>
          </a:bodyPr>
          <a:lstStyle/>
          <a:p>
            <a:pPr>
              <a:lnSpc>
                <a:spcPts val="5400"/>
              </a:lnSpc>
              <a:spcBef>
                <a:spcPts val="0"/>
              </a:spcBef>
              <a:spcAft>
                <a:spcPts val="0"/>
              </a:spcAft>
            </a:pPr>
            <a:r>
              <a:rPr sz="4400" b="1">
                <a:solidFill>
                  <a:srgbClr val="F3F7FF"/>
                </a:solidFill>
                <a:latin typeface="Arial"/>
              </a:rPr>
              <a:t>Move for yourself.</a:t>
            </a:r>
          </a:p>
        </p:txBody>
      </p:sp>
      <p:sp>
        <p:nvSpPr>
          <p:cNvPr id="8" name="TextBox 7"/>
          <p:cNvSpPr txBox="1"/>
          <p:nvPr/>
        </p:nvSpPr>
        <p:spPr>
          <a:xfrm>
            <a:off x="508000" y="1993899"/>
            <a:ext cx="11239500" cy="1612900"/>
          </a:xfrm>
          <a:prstGeom prst="rect">
            <a:avLst/>
          </a:prstGeom>
          <a:noFill/>
        </p:spPr>
        <p:txBody>
          <a:bodyPr wrap="none" lIns="0" rIns="0" tIns="0" bIns="0">
            <a:spAutoFit/>
          </a:bodyPr>
          <a:lstStyle/>
          <a:p>
            <a:pPr>
              <a:lnSpc>
                <a:spcPts val="6150"/>
              </a:lnSpc>
              <a:spcBef>
                <a:spcPts val="0"/>
              </a:spcBef>
              <a:spcAft>
                <a:spcPts val="0"/>
              </a:spcAft>
            </a:pPr>
            <a:r>
              <a:rPr sz="5000" b="1">
                <a:solidFill>
                  <a:srgbClr val="35E5C5"/>
                </a:solidFill>
                <a:latin typeface="Arial"/>
              </a:rPr>
              <a:t>Move together</a:t>
            </a:r>
          </a:p>
          <a:p>
            <a:pPr>
              <a:lnSpc>
                <a:spcPts val="6150"/>
              </a:lnSpc>
              <a:spcBef>
                <a:spcPts val="0"/>
              </a:spcBef>
              <a:spcAft>
                <a:spcPts val="0"/>
              </a:spcAft>
            </a:pPr>
            <a:r>
              <a:rPr sz="5000" b="1">
                <a:solidFill>
                  <a:srgbClr val="35E5C5"/>
                </a:solidFill>
                <a:latin typeface="Arial"/>
              </a:rPr>
              <a:t>for nature.</a:t>
            </a:r>
          </a:p>
        </p:txBody>
      </p:sp>
      <p:sp>
        <p:nvSpPr>
          <p:cNvPr id="9" name="Rectangle 8"/>
          <p:cNvSpPr/>
          <p:nvPr/>
        </p:nvSpPr>
        <p:spPr>
          <a:xfrm>
            <a:off x="508000" y="4076699"/>
            <a:ext cx="5397500" cy="1270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86500" y="4076699"/>
            <a:ext cx="5397500" cy="1270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200" y="4254500"/>
            <a:ext cx="4889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THE EXPERIENCE</a:t>
            </a:r>
          </a:p>
        </p:txBody>
      </p:sp>
      <p:sp>
        <p:nvSpPr>
          <p:cNvPr id="12" name="TextBox 11"/>
          <p:cNvSpPr txBox="1"/>
          <p:nvPr/>
        </p:nvSpPr>
        <p:spPr>
          <a:xfrm>
            <a:off x="711200" y="4616450"/>
            <a:ext cx="4889500" cy="596900"/>
          </a:xfrm>
          <a:prstGeom prst="rect">
            <a:avLst/>
          </a:prstGeom>
          <a:noFill/>
        </p:spPr>
        <p:txBody>
          <a:bodyPr wrap="none" lIns="0" rIns="0" tIns="0" bIns="0">
            <a:spAutoFit/>
          </a:bodyPr>
          <a:lstStyle/>
          <a:p>
            <a:pPr>
              <a:lnSpc>
                <a:spcPts val="2150"/>
              </a:lnSpc>
              <a:spcBef>
                <a:spcPts val="0"/>
              </a:spcBef>
              <a:spcAft>
                <a:spcPts val="0"/>
              </a:spcAft>
            </a:pPr>
            <a:r>
              <a:rPr sz="1750" b="0">
                <a:solidFill>
                  <a:srgbClr val="F3F7FF"/>
                </a:solidFill>
                <a:latin typeface="Arial"/>
              </a:rPr>
              <a:t>Movement · Progress</a:t>
            </a:r>
          </a:p>
          <a:p>
            <a:pPr>
              <a:lnSpc>
                <a:spcPts val="2150"/>
              </a:lnSpc>
              <a:spcBef>
                <a:spcPts val="0"/>
              </a:spcBef>
              <a:spcAft>
                <a:spcPts val="0"/>
              </a:spcAft>
            </a:pPr>
            <a:r>
              <a:rPr sz="1750" b="0">
                <a:solidFill>
                  <a:srgbClr val="F3F7FF"/>
                </a:solidFill>
                <a:latin typeface="Arial"/>
              </a:rPr>
              <a:t>Conservation learning</a:t>
            </a:r>
          </a:p>
        </p:txBody>
      </p:sp>
      <p:sp>
        <p:nvSpPr>
          <p:cNvPr id="13" name="TextBox 12"/>
          <p:cNvSpPr txBox="1"/>
          <p:nvPr/>
        </p:nvSpPr>
        <p:spPr>
          <a:xfrm>
            <a:off x="6489700" y="4254500"/>
            <a:ext cx="492125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AD8CFF"/>
                </a:solidFill>
                <a:latin typeface="Arial"/>
              </a:rPr>
              <a:t>NEXT: LOCAL PILOTS</a:t>
            </a:r>
          </a:p>
        </p:txBody>
      </p:sp>
      <p:sp>
        <p:nvSpPr>
          <p:cNvPr id="14" name="TextBox 13"/>
          <p:cNvSpPr txBox="1"/>
          <p:nvPr/>
        </p:nvSpPr>
        <p:spPr>
          <a:xfrm>
            <a:off x="6489700" y="4616450"/>
            <a:ext cx="4921250" cy="571500"/>
          </a:xfrm>
          <a:prstGeom prst="rect">
            <a:avLst/>
          </a:prstGeom>
          <a:noFill/>
        </p:spPr>
        <p:txBody>
          <a:bodyPr wrap="none" lIns="0" rIns="0" tIns="0" bIns="0">
            <a:spAutoFit/>
          </a:bodyPr>
          <a:lstStyle/>
          <a:p>
            <a:pPr>
              <a:lnSpc>
                <a:spcPts val="2050"/>
              </a:lnSpc>
              <a:spcBef>
                <a:spcPts val="0"/>
              </a:spcBef>
              <a:spcAft>
                <a:spcPts val="0"/>
              </a:spcAft>
            </a:pPr>
            <a:r>
              <a:rPr sz="1650" b="0">
                <a:solidFill>
                  <a:srgbClr val="F3F7FF"/>
                </a:solidFill>
                <a:latin typeface="Arial"/>
              </a:rPr>
              <a:t>Planned: paid event services</a:t>
            </a:r>
          </a:p>
          <a:p>
            <a:pPr>
              <a:lnSpc>
                <a:spcPts val="2050"/>
              </a:lnSpc>
              <a:spcBef>
                <a:spcPts val="0"/>
              </a:spcBef>
              <a:spcAft>
                <a:spcPts val="0"/>
              </a:spcAft>
            </a:pPr>
            <a:r>
              <a:rPr sz="1650" b="0">
                <a:solidFill>
                  <a:srgbClr val="F3F7FF"/>
                </a:solidFill>
                <a:latin typeface="Arial"/>
              </a:rPr>
              <a:t>Separate conservation reporting</a:t>
            </a:r>
          </a:p>
        </p:txBody>
      </p:sp>
      <p:sp>
        <p:nvSpPr>
          <p:cNvPr id="15" name="TextBox 14"/>
          <p:cNvSpPr txBox="1"/>
          <p:nvPr/>
        </p:nvSpPr>
        <p:spPr>
          <a:xfrm>
            <a:off x="539750" y="5759450"/>
            <a:ext cx="10795000" cy="349250"/>
          </a:xfrm>
          <a:prstGeom prst="rect">
            <a:avLst/>
          </a:prstGeom>
          <a:noFill/>
        </p:spPr>
        <p:txBody>
          <a:bodyPr wrap="none" lIns="0" rIns="0" tIns="0" bIns="0">
            <a:spAutoFit/>
          </a:bodyPr>
          <a:lstStyle/>
          <a:p>
            <a:pPr>
              <a:lnSpc>
                <a:spcPts val="2350"/>
              </a:lnSpc>
              <a:spcBef>
                <a:spcPts val="0"/>
              </a:spcBef>
              <a:spcAft>
                <a:spcPts val="0"/>
              </a:spcAft>
            </a:pPr>
            <a:r>
              <a:rPr sz="1900" b="1">
                <a:solidFill>
                  <a:srgbClr val="F3F7FF"/>
                </a:solidFill>
                <a:latin typeface="Arial"/>
              </a:rPr>
              <a:t>NEONSHIFT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TextBox 1"/>
          <p:cNvSpPr txBox="1"/>
          <p:nvPr/>
        </p:nvSpPr>
        <p:spPr>
          <a:xfrm>
            <a:off x="508000" y="349250"/>
            <a:ext cx="11176000" cy="282575"/>
          </a:xfrm>
          <a:prstGeom prst="rect">
            <a:avLst/>
          </a:prstGeom>
          <a:noFill/>
        </p:spPr>
        <p:txBody>
          <a:bodyPr wrap="none" lIns="0" tIns="0" bIns="0" rIns="0">
            <a:spAutoFit/>
          </a:bodyPr>
          <a:lstStyle/>
          <a:p>
            <a:pPr>
              <a:lnSpc>
                <a:spcPts val="1625"/>
              </a:lnSpc>
              <a:spcAft>
                <a:spcPts val="0"/>
              </a:spcAft>
            </a:pPr>
            <a:r>
              <a:rPr sz="1250">
                <a:solidFill>
                  <a:srgbClr val="35E5C5"/>
                </a:solidFill>
                <a:latin typeface="Arial"/>
              </a:rPr>
              <a:t>NEONSHIFT / PERSONAL ACHIEVEMENT NFT</a:t>
            </a:r>
          </a:p>
        </p:txBody>
      </p:sp>
      <p:sp>
        <p:nvSpPr>
          <p:cNvPr id="3" name="TextBox 2"/>
          <p:cNvSpPr txBox="1"/>
          <p:nvPr/>
        </p:nvSpPr>
        <p:spPr>
          <a:xfrm>
            <a:off x="508000" y="762000"/>
            <a:ext cx="11176000" cy="588010"/>
          </a:xfrm>
          <a:prstGeom prst="rect">
            <a:avLst/>
          </a:prstGeom>
          <a:noFill/>
        </p:spPr>
        <p:txBody>
          <a:bodyPr wrap="none" lIns="0" tIns="0" bIns="0" rIns="0">
            <a:spAutoFit/>
          </a:bodyPr>
          <a:lstStyle/>
          <a:p>
            <a:pPr>
              <a:lnSpc>
                <a:spcPts val="4030"/>
              </a:lnSpc>
              <a:spcAft>
                <a:spcPts val="0"/>
              </a:spcAft>
            </a:pPr>
            <a:r>
              <a:rPr sz="3100">
                <a:solidFill>
                  <a:srgbClr val="F3F7FF"/>
                </a:solidFill>
                <a:latin typeface="Arial"/>
              </a:rPr>
              <a:t>A personal record, a collectible identity.</a:t>
            </a:r>
          </a:p>
        </p:txBody>
      </p:sp>
      <p:sp>
        <p:nvSpPr>
          <p:cNvPr id="4" name="TextBox 3"/>
          <p:cNvSpPr txBox="1"/>
          <p:nvPr/>
        </p:nvSpPr>
        <p:spPr>
          <a:xfrm>
            <a:off x="508000" y="6413500"/>
            <a:ext cx="11176000" cy="266065"/>
          </a:xfrm>
          <a:prstGeom prst="rect">
            <a:avLst/>
          </a:prstGeom>
          <a:noFill/>
        </p:spPr>
        <p:txBody>
          <a:bodyPr wrap="none" lIns="0" tIns="0" bIns="0" rIns="0">
            <a:spAutoFit/>
          </a:bodyPr>
          <a:lstStyle/>
          <a:p>
            <a:pPr>
              <a:lnSpc>
                <a:spcPts val="1495"/>
              </a:lnSpc>
              <a:spcAft>
                <a:spcPts val="0"/>
              </a:spcAft>
            </a:pPr>
            <a:r>
              <a:rPr sz="1150">
                <a:solidFill>
                  <a:srgbClr val="A8B6CF"/>
                </a:solidFill>
                <a:latin typeface="Arial"/>
              </a:rPr>
              <a:t>JUDGE APPENDIX 1/3  /  DESIGN PREVIEW - NOT A MINT RECEIPT</a:t>
            </a:r>
          </a:p>
        </p:txBody>
      </p:sp>
      <p:sp>
        <p:nvSpPr>
          <p:cNvPr id="5" name="Rounded Rectangle 4"/>
          <p:cNvSpPr/>
          <p:nvPr/>
        </p:nvSpPr>
        <p:spPr>
          <a:xfrm>
            <a:off x="508000" y="1651000"/>
            <a:ext cx="2641600" cy="3111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6750" y="1841500"/>
            <a:ext cx="2349500" cy="282575"/>
          </a:xfrm>
          <a:prstGeom prst="rect">
            <a:avLst/>
          </a:prstGeom>
          <a:noFill/>
        </p:spPr>
        <p:txBody>
          <a:bodyPr wrap="none" lIns="0" tIns="0" bIns="0" rIns="0">
            <a:spAutoFit/>
          </a:bodyPr>
          <a:lstStyle/>
          <a:p>
            <a:pPr>
              <a:lnSpc>
                <a:spcPts val="1625"/>
              </a:lnSpc>
              <a:spcAft>
                <a:spcPts val="0"/>
              </a:spcAft>
            </a:pPr>
            <a:r>
              <a:rPr sz="1250">
                <a:solidFill>
                  <a:srgbClr val="35E5C5"/>
                </a:solidFill>
                <a:latin typeface="Arial"/>
              </a:rPr>
              <a:t>GENESIS DISTANCE</a:t>
            </a:r>
          </a:p>
        </p:txBody>
      </p:sp>
      <p:sp>
        <p:nvSpPr>
          <p:cNvPr id="7" name="Rounded Rectangle 6"/>
          <p:cNvSpPr/>
          <p:nvPr/>
        </p:nvSpPr>
        <p:spPr>
          <a:xfrm>
            <a:off x="698500" y="2254250"/>
            <a:ext cx="2260600" cy="44450"/>
          </a:xfrm>
          <a:prstGeom prst="round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2571750"/>
            <a:ext cx="2349500" cy="637540"/>
          </a:xfrm>
          <a:prstGeom prst="rect">
            <a:avLst/>
          </a:prstGeom>
          <a:noFill/>
        </p:spPr>
        <p:txBody>
          <a:bodyPr wrap="none" lIns="0" tIns="0" bIns="0" rIns="0">
            <a:spAutoFit/>
          </a:bodyPr>
          <a:lstStyle/>
          <a:p>
            <a:pPr>
              <a:lnSpc>
                <a:spcPts val="4420"/>
              </a:lnSpc>
              <a:spcAft>
                <a:spcPts val="0"/>
              </a:spcAft>
            </a:pPr>
            <a:r>
              <a:rPr sz="3400">
                <a:solidFill>
                  <a:srgbClr val="35E5C5"/>
                </a:solidFill>
                <a:latin typeface="Arial"/>
              </a:rPr>
              <a:t>5</a:t>
            </a:r>
          </a:p>
        </p:txBody>
      </p:sp>
      <p:sp>
        <p:nvSpPr>
          <p:cNvPr id="9" name="TextBox 8"/>
          <p:cNvSpPr txBox="1"/>
          <p:nvPr/>
        </p:nvSpPr>
        <p:spPr>
          <a:xfrm>
            <a:off x="666750" y="3302000"/>
            <a:ext cx="2349500" cy="257810"/>
          </a:xfrm>
          <a:prstGeom prst="rect">
            <a:avLst/>
          </a:prstGeom>
          <a:noFill/>
        </p:spPr>
        <p:txBody>
          <a:bodyPr wrap="none" lIns="0" tIns="0" bIns="0" rIns="0">
            <a:spAutoFit/>
          </a:bodyPr>
          <a:lstStyle/>
          <a:p>
            <a:pPr>
              <a:lnSpc>
                <a:spcPts val="1430"/>
              </a:lnSpc>
              <a:spcAft>
                <a:spcPts val="0"/>
              </a:spcAft>
            </a:pPr>
            <a:r>
              <a:rPr sz="1100">
                <a:solidFill>
                  <a:srgbClr val="F3F7FF"/>
                </a:solidFill>
                <a:latin typeface="Arial"/>
              </a:rPr>
              <a:t>km / FIRST DISTANCE</a:t>
            </a:r>
          </a:p>
        </p:txBody>
      </p:sp>
      <p:sp>
        <p:nvSpPr>
          <p:cNvPr id="10" name="TextBox 9"/>
          <p:cNvSpPr txBox="1"/>
          <p:nvPr/>
        </p:nvSpPr>
        <p:spPr>
          <a:xfrm>
            <a:off x="666750" y="3829050"/>
            <a:ext cx="2349500" cy="257810"/>
          </a:xfrm>
          <a:prstGeom prst="rect">
            <a:avLst/>
          </a:prstGeom>
          <a:noFill/>
        </p:spPr>
        <p:txBody>
          <a:bodyPr wrap="none" lIns="0" tIns="0" bIns="0" rIns="0">
            <a:spAutoFit/>
          </a:bodyPr>
          <a:lstStyle/>
          <a:p>
            <a:pPr>
              <a:lnSpc>
                <a:spcPts val="1430"/>
              </a:lnSpc>
              <a:spcAft>
                <a:spcPts val="0"/>
              </a:spcAft>
            </a:pPr>
            <a:r>
              <a:rPr sz="1100">
                <a:solidFill>
                  <a:srgbClr val="A8B6CF"/>
                </a:solidFill>
                <a:latin typeface="Arial"/>
              </a:rPr>
              <a:t>DEVICE RECORDED</a:t>
            </a:r>
          </a:p>
        </p:txBody>
      </p:sp>
      <p:sp>
        <p:nvSpPr>
          <p:cNvPr id="11" name="TextBox 10"/>
          <p:cNvSpPr txBox="1"/>
          <p:nvPr/>
        </p:nvSpPr>
        <p:spPr>
          <a:xfrm>
            <a:off x="666750" y="4349750"/>
            <a:ext cx="2349500" cy="224790"/>
          </a:xfrm>
          <a:prstGeom prst="rect">
            <a:avLst/>
          </a:prstGeom>
          <a:noFill/>
        </p:spPr>
        <p:txBody>
          <a:bodyPr wrap="none" lIns="0" tIns="0" bIns="0" rIns="0">
            <a:spAutoFit/>
          </a:bodyPr>
          <a:lstStyle/>
          <a:p>
            <a:pPr>
              <a:lnSpc>
                <a:spcPts val="1170"/>
              </a:lnSpc>
              <a:spcAft>
                <a:spcPts val="0"/>
              </a:spcAft>
            </a:pPr>
            <a:r>
              <a:rPr sz="900">
                <a:solidFill>
                  <a:srgbClr val="A8B6CF"/>
                </a:solidFill>
                <a:latin typeface="Arial"/>
              </a:rPr>
              <a:t>SAMPLE / NO OWNER DATA</a:t>
            </a:r>
          </a:p>
        </p:txBody>
      </p:sp>
      <p:sp>
        <p:nvSpPr>
          <p:cNvPr id="12" name="Rounded Rectangle 11"/>
          <p:cNvSpPr/>
          <p:nvPr/>
        </p:nvSpPr>
        <p:spPr>
          <a:xfrm>
            <a:off x="3352800" y="1651000"/>
            <a:ext cx="2641600" cy="3111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550" y="1841500"/>
            <a:ext cx="2349500" cy="282575"/>
          </a:xfrm>
          <a:prstGeom prst="rect">
            <a:avLst/>
          </a:prstGeom>
          <a:noFill/>
        </p:spPr>
        <p:txBody>
          <a:bodyPr wrap="none" lIns="0" tIns="0" bIns="0" rIns="0">
            <a:spAutoFit/>
          </a:bodyPr>
          <a:lstStyle/>
          <a:p>
            <a:pPr>
              <a:lnSpc>
                <a:spcPts val="1625"/>
              </a:lnSpc>
              <a:spcAft>
                <a:spcPts val="0"/>
              </a:spcAft>
            </a:pPr>
            <a:r>
              <a:rPr sz="1250">
                <a:solidFill>
                  <a:srgbClr val="62CFFF"/>
                </a:solidFill>
                <a:latin typeface="Arial"/>
              </a:rPr>
              <a:t>GENESIS DISTANCE</a:t>
            </a:r>
          </a:p>
        </p:txBody>
      </p:sp>
      <p:sp>
        <p:nvSpPr>
          <p:cNvPr id="14" name="Rounded Rectangle 13"/>
          <p:cNvSpPr/>
          <p:nvPr/>
        </p:nvSpPr>
        <p:spPr>
          <a:xfrm>
            <a:off x="3543300" y="2254250"/>
            <a:ext cx="2260600" cy="44450"/>
          </a:xfrm>
          <a:prstGeom prst="roundRect">
            <a:avLst/>
          </a:prstGeom>
          <a:solidFill>
            <a:srgbClr val="62C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1550" y="2571750"/>
            <a:ext cx="2349500" cy="637540"/>
          </a:xfrm>
          <a:prstGeom prst="rect">
            <a:avLst/>
          </a:prstGeom>
          <a:noFill/>
        </p:spPr>
        <p:txBody>
          <a:bodyPr wrap="none" lIns="0" tIns="0" bIns="0" rIns="0">
            <a:spAutoFit/>
          </a:bodyPr>
          <a:lstStyle/>
          <a:p>
            <a:pPr>
              <a:lnSpc>
                <a:spcPts val="4420"/>
              </a:lnSpc>
              <a:spcAft>
                <a:spcPts val="0"/>
              </a:spcAft>
            </a:pPr>
            <a:r>
              <a:rPr sz="3400">
                <a:solidFill>
                  <a:srgbClr val="62CFFF"/>
                </a:solidFill>
                <a:latin typeface="Arial"/>
              </a:rPr>
              <a:t>10</a:t>
            </a:r>
          </a:p>
        </p:txBody>
      </p:sp>
      <p:sp>
        <p:nvSpPr>
          <p:cNvPr id="16" name="TextBox 15"/>
          <p:cNvSpPr txBox="1"/>
          <p:nvPr/>
        </p:nvSpPr>
        <p:spPr>
          <a:xfrm>
            <a:off x="3511550" y="3302000"/>
            <a:ext cx="2349500" cy="257810"/>
          </a:xfrm>
          <a:prstGeom prst="rect">
            <a:avLst/>
          </a:prstGeom>
          <a:noFill/>
        </p:spPr>
        <p:txBody>
          <a:bodyPr wrap="none" lIns="0" tIns="0" bIns="0" rIns="0">
            <a:spAutoFit/>
          </a:bodyPr>
          <a:lstStyle/>
          <a:p>
            <a:pPr>
              <a:lnSpc>
                <a:spcPts val="1430"/>
              </a:lnSpc>
              <a:spcAft>
                <a:spcPts val="0"/>
              </a:spcAft>
            </a:pPr>
            <a:r>
              <a:rPr sz="1100">
                <a:solidFill>
                  <a:srgbClr val="F3F7FF"/>
                </a:solidFill>
                <a:latin typeface="Arial"/>
              </a:rPr>
              <a:t>km / FIRST DISTANCE</a:t>
            </a:r>
          </a:p>
        </p:txBody>
      </p:sp>
      <p:sp>
        <p:nvSpPr>
          <p:cNvPr id="17" name="TextBox 16"/>
          <p:cNvSpPr txBox="1"/>
          <p:nvPr/>
        </p:nvSpPr>
        <p:spPr>
          <a:xfrm>
            <a:off x="3511550" y="3829050"/>
            <a:ext cx="2349500" cy="257810"/>
          </a:xfrm>
          <a:prstGeom prst="rect">
            <a:avLst/>
          </a:prstGeom>
          <a:noFill/>
        </p:spPr>
        <p:txBody>
          <a:bodyPr wrap="none" lIns="0" tIns="0" bIns="0" rIns="0">
            <a:spAutoFit/>
          </a:bodyPr>
          <a:lstStyle/>
          <a:p>
            <a:pPr>
              <a:lnSpc>
                <a:spcPts val="1430"/>
              </a:lnSpc>
              <a:spcAft>
                <a:spcPts val="0"/>
              </a:spcAft>
            </a:pPr>
            <a:r>
              <a:rPr sz="1100">
                <a:solidFill>
                  <a:srgbClr val="A8B6CF"/>
                </a:solidFill>
                <a:latin typeface="Arial"/>
              </a:rPr>
              <a:t>DEVICE RECORDED</a:t>
            </a:r>
          </a:p>
        </p:txBody>
      </p:sp>
      <p:sp>
        <p:nvSpPr>
          <p:cNvPr id="18" name="TextBox 17"/>
          <p:cNvSpPr txBox="1"/>
          <p:nvPr/>
        </p:nvSpPr>
        <p:spPr>
          <a:xfrm>
            <a:off x="3511550" y="4349750"/>
            <a:ext cx="2349500" cy="224790"/>
          </a:xfrm>
          <a:prstGeom prst="rect">
            <a:avLst/>
          </a:prstGeom>
          <a:noFill/>
        </p:spPr>
        <p:txBody>
          <a:bodyPr wrap="none" lIns="0" tIns="0" bIns="0" rIns="0">
            <a:spAutoFit/>
          </a:bodyPr>
          <a:lstStyle/>
          <a:p>
            <a:pPr>
              <a:lnSpc>
                <a:spcPts val="1170"/>
              </a:lnSpc>
              <a:spcAft>
                <a:spcPts val="0"/>
              </a:spcAft>
            </a:pPr>
            <a:r>
              <a:rPr sz="900">
                <a:solidFill>
                  <a:srgbClr val="A8B6CF"/>
                </a:solidFill>
                <a:latin typeface="Arial"/>
              </a:rPr>
              <a:t>SAMPLE / NO OWNER DATA</a:t>
            </a:r>
          </a:p>
        </p:txBody>
      </p:sp>
      <p:sp>
        <p:nvSpPr>
          <p:cNvPr id="19" name="Rounded Rectangle 18"/>
          <p:cNvSpPr/>
          <p:nvPr/>
        </p:nvSpPr>
        <p:spPr>
          <a:xfrm>
            <a:off x="6197600" y="1651000"/>
            <a:ext cx="2641600" cy="3111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6350" y="1841500"/>
            <a:ext cx="2349500" cy="282575"/>
          </a:xfrm>
          <a:prstGeom prst="rect">
            <a:avLst/>
          </a:prstGeom>
          <a:noFill/>
        </p:spPr>
        <p:txBody>
          <a:bodyPr wrap="none" lIns="0" tIns="0" bIns="0" rIns="0">
            <a:spAutoFit/>
          </a:bodyPr>
          <a:lstStyle/>
          <a:p>
            <a:pPr>
              <a:lnSpc>
                <a:spcPts val="1625"/>
              </a:lnSpc>
              <a:spcAft>
                <a:spcPts val="0"/>
              </a:spcAft>
            </a:pPr>
            <a:r>
              <a:rPr sz="1250">
                <a:solidFill>
                  <a:srgbClr val="AD8CFF"/>
                </a:solidFill>
                <a:latin typeface="Arial"/>
              </a:rPr>
              <a:t>GENESIS DISTANCE</a:t>
            </a:r>
          </a:p>
        </p:txBody>
      </p:sp>
      <p:sp>
        <p:nvSpPr>
          <p:cNvPr id="21" name="Rounded Rectangle 20"/>
          <p:cNvSpPr/>
          <p:nvPr/>
        </p:nvSpPr>
        <p:spPr>
          <a:xfrm>
            <a:off x="6388100" y="2254250"/>
            <a:ext cx="2260600" cy="44450"/>
          </a:xfrm>
          <a:prstGeom prst="roundRect">
            <a:avLst/>
          </a:prstGeom>
          <a:solidFill>
            <a:srgbClr val="AD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6350" y="2571750"/>
            <a:ext cx="2349500" cy="637540"/>
          </a:xfrm>
          <a:prstGeom prst="rect">
            <a:avLst/>
          </a:prstGeom>
          <a:noFill/>
        </p:spPr>
        <p:txBody>
          <a:bodyPr wrap="none" lIns="0" tIns="0" bIns="0" rIns="0">
            <a:spAutoFit/>
          </a:bodyPr>
          <a:lstStyle/>
          <a:p>
            <a:pPr>
              <a:lnSpc>
                <a:spcPts val="4420"/>
              </a:lnSpc>
              <a:spcAft>
                <a:spcPts val="0"/>
              </a:spcAft>
            </a:pPr>
            <a:r>
              <a:rPr sz="3400">
                <a:solidFill>
                  <a:srgbClr val="AD8CFF"/>
                </a:solidFill>
                <a:latin typeface="Arial"/>
              </a:rPr>
              <a:t>21.0975</a:t>
            </a:r>
          </a:p>
        </p:txBody>
      </p:sp>
      <p:sp>
        <p:nvSpPr>
          <p:cNvPr id="23" name="TextBox 22"/>
          <p:cNvSpPr txBox="1"/>
          <p:nvPr/>
        </p:nvSpPr>
        <p:spPr>
          <a:xfrm>
            <a:off x="6356350" y="3302000"/>
            <a:ext cx="2349500" cy="257810"/>
          </a:xfrm>
          <a:prstGeom prst="rect">
            <a:avLst/>
          </a:prstGeom>
          <a:noFill/>
        </p:spPr>
        <p:txBody>
          <a:bodyPr wrap="none" lIns="0" tIns="0" bIns="0" rIns="0">
            <a:spAutoFit/>
          </a:bodyPr>
          <a:lstStyle/>
          <a:p>
            <a:pPr>
              <a:lnSpc>
                <a:spcPts val="1430"/>
              </a:lnSpc>
              <a:spcAft>
                <a:spcPts val="0"/>
              </a:spcAft>
            </a:pPr>
            <a:r>
              <a:rPr sz="1100">
                <a:solidFill>
                  <a:srgbClr val="F3F7FF"/>
                </a:solidFill>
                <a:latin typeface="Arial"/>
              </a:rPr>
              <a:t>km / HALF MARATHON</a:t>
            </a:r>
          </a:p>
        </p:txBody>
      </p:sp>
      <p:sp>
        <p:nvSpPr>
          <p:cNvPr id="24" name="TextBox 23"/>
          <p:cNvSpPr txBox="1"/>
          <p:nvPr/>
        </p:nvSpPr>
        <p:spPr>
          <a:xfrm>
            <a:off x="6356350" y="3829050"/>
            <a:ext cx="2349500" cy="257810"/>
          </a:xfrm>
          <a:prstGeom prst="rect">
            <a:avLst/>
          </a:prstGeom>
          <a:noFill/>
        </p:spPr>
        <p:txBody>
          <a:bodyPr wrap="none" lIns="0" tIns="0" bIns="0" rIns="0">
            <a:spAutoFit/>
          </a:bodyPr>
          <a:lstStyle/>
          <a:p>
            <a:pPr>
              <a:lnSpc>
                <a:spcPts val="1430"/>
              </a:lnSpc>
              <a:spcAft>
                <a:spcPts val="0"/>
              </a:spcAft>
            </a:pPr>
            <a:r>
              <a:rPr sz="1100">
                <a:solidFill>
                  <a:srgbClr val="A8B6CF"/>
                </a:solidFill>
                <a:latin typeface="Arial"/>
              </a:rPr>
              <a:t>DEVICE RECORDED</a:t>
            </a:r>
          </a:p>
        </p:txBody>
      </p:sp>
      <p:sp>
        <p:nvSpPr>
          <p:cNvPr id="25" name="TextBox 24"/>
          <p:cNvSpPr txBox="1"/>
          <p:nvPr/>
        </p:nvSpPr>
        <p:spPr>
          <a:xfrm>
            <a:off x="6356350" y="4349750"/>
            <a:ext cx="2349500" cy="224790"/>
          </a:xfrm>
          <a:prstGeom prst="rect">
            <a:avLst/>
          </a:prstGeom>
          <a:noFill/>
        </p:spPr>
        <p:txBody>
          <a:bodyPr wrap="none" lIns="0" tIns="0" bIns="0" rIns="0">
            <a:spAutoFit/>
          </a:bodyPr>
          <a:lstStyle/>
          <a:p>
            <a:pPr>
              <a:lnSpc>
                <a:spcPts val="1170"/>
              </a:lnSpc>
              <a:spcAft>
                <a:spcPts val="0"/>
              </a:spcAft>
            </a:pPr>
            <a:r>
              <a:rPr sz="900">
                <a:solidFill>
                  <a:srgbClr val="A8B6CF"/>
                </a:solidFill>
                <a:latin typeface="Arial"/>
              </a:rPr>
              <a:t>SAMPLE / NO OWNER DATA</a:t>
            </a:r>
          </a:p>
        </p:txBody>
      </p:sp>
      <p:sp>
        <p:nvSpPr>
          <p:cNvPr id="26" name="Rounded Rectangle 25"/>
          <p:cNvSpPr/>
          <p:nvPr/>
        </p:nvSpPr>
        <p:spPr>
          <a:xfrm>
            <a:off x="9042400" y="1651000"/>
            <a:ext cx="2641600" cy="3111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1150" y="1841500"/>
            <a:ext cx="2349500" cy="282575"/>
          </a:xfrm>
          <a:prstGeom prst="rect">
            <a:avLst/>
          </a:prstGeom>
          <a:noFill/>
        </p:spPr>
        <p:txBody>
          <a:bodyPr wrap="none" lIns="0" tIns="0" bIns="0" rIns="0">
            <a:spAutoFit/>
          </a:bodyPr>
          <a:lstStyle/>
          <a:p>
            <a:pPr>
              <a:lnSpc>
                <a:spcPts val="1625"/>
              </a:lnSpc>
              <a:spcAft>
                <a:spcPts val="0"/>
              </a:spcAft>
            </a:pPr>
            <a:r>
              <a:rPr sz="1250">
                <a:solidFill>
                  <a:srgbClr val="FFD080"/>
                </a:solidFill>
                <a:latin typeface="Arial"/>
              </a:rPr>
              <a:t>GENESIS DISTANCE</a:t>
            </a:r>
          </a:p>
        </p:txBody>
      </p:sp>
      <p:sp>
        <p:nvSpPr>
          <p:cNvPr id="28" name="Rounded Rectangle 27"/>
          <p:cNvSpPr/>
          <p:nvPr/>
        </p:nvSpPr>
        <p:spPr>
          <a:xfrm>
            <a:off x="9232900" y="2254250"/>
            <a:ext cx="2260600" cy="44450"/>
          </a:xfrm>
          <a:prstGeom prst="roundRect">
            <a:avLst/>
          </a:prstGeom>
          <a:solidFill>
            <a:srgbClr val="FFD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01150" y="2571750"/>
            <a:ext cx="2349500" cy="637540"/>
          </a:xfrm>
          <a:prstGeom prst="rect">
            <a:avLst/>
          </a:prstGeom>
          <a:noFill/>
        </p:spPr>
        <p:txBody>
          <a:bodyPr wrap="none" lIns="0" tIns="0" bIns="0" rIns="0">
            <a:spAutoFit/>
          </a:bodyPr>
          <a:lstStyle/>
          <a:p>
            <a:pPr>
              <a:lnSpc>
                <a:spcPts val="4420"/>
              </a:lnSpc>
              <a:spcAft>
                <a:spcPts val="0"/>
              </a:spcAft>
            </a:pPr>
            <a:r>
              <a:rPr sz="3400">
                <a:solidFill>
                  <a:srgbClr val="FFD080"/>
                </a:solidFill>
                <a:latin typeface="Arial"/>
              </a:rPr>
              <a:t>42.195</a:t>
            </a:r>
          </a:p>
        </p:txBody>
      </p:sp>
      <p:sp>
        <p:nvSpPr>
          <p:cNvPr id="30" name="TextBox 29"/>
          <p:cNvSpPr txBox="1"/>
          <p:nvPr/>
        </p:nvSpPr>
        <p:spPr>
          <a:xfrm>
            <a:off x="9201150" y="3302000"/>
            <a:ext cx="2349500" cy="257810"/>
          </a:xfrm>
          <a:prstGeom prst="rect">
            <a:avLst/>
          </a:prstGeom>
          <a:noFill/>
        </p:spPr>
        <p:txBody>
          <a:bodyPr wrap="none" lIns="0" tIns="0" bIns="0" rIns="0">
            <a:spAutoFit/>
          </a:bodyPr>
          <a:lstStyle/>
          <a:p>
            <a:pPr>
              <a:lnSpc>
                <a:spcPts val="1430"/>
              </a:lnSpc>
              <a:spcAft>
                <a:spcPts val="0"/>
              </a:spcAft>
            </a:pPr>
            <a:r>
              <a:rPr sz="1100">
                <a:solidFill>
                  <a:srgbClr val="F3F7FF"/>
                </a:solidFill>
                <a:latin typeface="Arial"/>
              </a:rPr>
              <a:t>km / MARATHON</a:t>
            </a:r>
          </a:p>
        </p:txBody>
      </p:sp>
      <p:sp>
        <p:nvSpPr>
          <p:cNvPr id="31" name="TextBox 30"/>
          <p:cNvSpPr txBox="1"/>
          <p:nvPr/>
        </p:nvSpPr>
        <p:spPr>
          <a:xfrm>
            <a:off x="9201150" y="3829050"/>
            <a:ext cx="2349500" cy="257810"/>
          </a:xfrm>
          <a:prstGeom prst="rect">
            <a:avLst/>
          </a:prstGeom>
          <a:noFill/>
        </p:spPr>
        <p:txBody>
          <a:bodyPr wrap="none" lIns="0" tIns="0" bIns="0" rIns="0">
            <a:spAutoFit/>
          </a:bodyPr>
          <a:lstStyle/>
          <a:p>
            <a:pPr>
              <a:lnSpc>
                <a:spcPts val="1430"/>
              </a:lnSpc>
              <a:spcAft>
                <a:spcPts val="0"/>
              </a:spcAft>
            </a:pPr>
            <a:r>
              <a:rPr sz="1100">
                <a:solidFill>
                  <a:srgbClr val="A8B6CF"/>
                </a:solidFill>
                <a:latin typeface="Arial"/>
              </a:rPr>
              <a:t>DEVICE RECORDED</a:t>
            </a:r>
          </a:p>
        </p:txBody>
      </p:sp>
      <p:sp>
        <p:nvSpPr>
          <p:cNvPr id="32" name="TextBox 31"/>
          <p:cNvSpPr txBox="1"/>
          <p:nvPr/>
        </p:nvSpPr>
        <p:spPr>
          <a:xfrm>
            <a:off x="9201150" y="4349750"/>
            <a:ext cx="2349500" cy="224790"/>
          </a:xfrm>
          <a:prstGeom prst="rect">
            <a:avLst/>
          </a:prstGeom>
          <a:noFill/>
        </p:spPr>
        <p:txBody>
          <a:bodyPr wrap="none" lIns="0" tIns="0" bIns="0" rIns="0">
            <a:spAutoFit/>
          </a:bodyPr>
          <a:lstStyle/>
          <a:p>
            <a:pPr>
              <a:lnSpc>
                <a:spcPts val="1170"/>
              </a:lnSpc>
              <a:spcAft>
                <a:spcPts val="0"/>
              </a:spcAft>
            </a:pPr>
            <a:r>
              <a:rPr sz="900">
                <a:solidFill>
                  <a:srgbClr val="A8B6CF"/>
                </a:solidFill>
                <a:latin typeface="Arial"/>
              </a:rPr>
              <a:t>SAMPLE / NO OWNER DATA</a:t>
            </a:r>
          </a:p>
        </p:txBody>
      </p:sp>
      <p:sp>
        <p:nvSpPr>
          <p:cNvPr id="33" name="TextBox 32"/>
          <p:cNvSpPr txBox="1"/>
          <p:nvPr/>
        </p:nvSpPr>
        <p:spPr>
          <a:xfrm>
            <a:off x="508000" y="5092700"/>
            <a:ext cx="11176000" cy="307340"/>
          </a:xfrm>
          <a:prstGeom prst="rect">
            <a:avLst/>
          </a:prstGeom>
          <a:noFill/>
        </p:spPr>
        <p:txBody>
          <a:bodyPr wrap="none" lIns="0" tIns="0" bIns="0" rIns="0">
            <a:spAutoFit/>
          </a:bodyPr>
          <a:lstStyle/>
          <a:p>
            <a:pPr>
              <a:lnSpc>
                <a:spcPts val="1820"/>
              </a:lnSpc>
              <a:spcAft>
                <a:spcPts val="0"/>
              </a:spcAft>
            </a:pPr>
            <a:r>
              <a:rPr sz="1400">
                <a:solidFill>
                  <a:srgbClr val="35E5C5"/>
                </a:solidFill>
                <a:latin typeface="Arial"/>
              </a:rPr>
              <a:t>VISUAL SYSTEM</a:t>
            </a:r>
          </a:p>
        </p:txBody>
      </p:sp>
      <p:sp>
        <p:nvSpPr>
          <p:cNvPr id="34" name="TextBox 33"/>
          <p:cNvSpPr txBox="1"/>
          <p:nvPr/>
        </p:nvSpPr>
        <p:spPr>
          <a:xfrm>
            <a:off x="508000" y="5403850"/>
            <a:ext cx="11176000" cy="373380"/>
          </a:xfrm>
          <a:prstGeom prst="rect">
            <a:avLst/>
          </a:prstGeom>
          <a:noFill/>
        </p:spPr>
        <p:txBody>
          <a:bodyPr wrap="none" lIns="0" tIns="0" bIns="0" rIns="0">
            <a:spAutoFit/>
          </a:bodyPr>
          <a:lstStyle/>
          <a:p>
            <a:pPr>
              <a:lnSpc>
                <a:spcPts val="2340"/>
              </a:lnSpc>
              <a:spcAft>
                <a:spcPts val="0"/>
              </a:spcAft>
            </a:pPr>
            <a:r>
              <a:rPr sz="1800">
                <a:solidFill>
                  <a:srgbClr val="F3F7FF"/>
                </a:solidFill>
                <a:latin typeface="Arial"/>
              </a:rPr>
              <a:t>Distance first. A distinct color per milestone. Source labels stay visible.</a:t>
            </a:r>
          </a:p>
        </p:txBody>
      </p:sp>
      <p:sp>
        <p:nvSpPr>
          <p:cNvPr id="35" name="TextBox 34"/>
          <p:cNvSpPr txBox="1"/>
          <p:nvPr/>
        </p:nvSpPr>
        <p:spPr>
          <a:xfrm>
            <a:off x="508000" y="5842000"/>
            <a:ext cx="11176000" cy="315595"/>
          </a:xfrm>
          <a:prstGeom prst="rect">
            <a:avLst/>
          </a:prstGeom>
          <a:noFill/>
        </p:spPr>
        <p:txBody>
          <a:bodyPr wrap="none" lIns="0" tIns="0" bIns="0" rIns="0">
            <a:spAutoFit/>
          </a:bodyPr>
          <a:lstStyle/>
          <a:p>
            <a:pPr>
              <a:lnSpc>
                <a:spcPts val="1885"/>
              </a:lnSpc>
              <a:spcAft>
                <a:spcPts val="0"/>
              </a:spcAft>
            </a:pPr>
            <a:r>
              <a:rPr sz="1450">
                <a:solidFill>
                  <a:srgbClr val="A8B6CF"/>
                </a:solidFill>
                <a:latin typeface="Arial"/>
              </a:rPr>
              <a:t>Other series: PB / First Finish / Event Memory. Organizer and device records remain distinct.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TextBox 1"/>
          <p:cNvSpPr txBox="1"/>
          <p:nvPr/>
        </p:nvSpPr>
        <p:spPr>
          <a:xfrm>
            <a:off x="508000" y="349250"/>
            <a:ext cx="11176000" cy="282575"/>
          </a:xfrm>
          <a:prstGeom prst="rect">
            <a:avLst/>
          </a:prstGeom>
          <a:noFill/>
        </p:spPr>
        <p:txBody>
          <a:bodyPr wrap="none" lIns="0" tIns="0" bIns="0" rIns="0">
            <a:spAutoFit/>
          </a:bodyPr>
          <a:lstStyle/>
          <a:p>
            <a:pPr>
              <a:lnSpc>
                <a:spcPts val="1625"/>
              </a:lnSpc>
              <a:spcAft>
                <a:spcPts val="0"/>
              </a:spcAft>
            </a:pPr>
            <a:r>
              <a:rPr sz="1250">
                <a:solidFill>
                  <a:srgbClr val="35E5C5"/>
                </a:solidFill>
                <a:latin typeface="Arial"/>
              </a:rPr>
              <a:t>NEONSHIFT / PERSONAL ACHIEVEMENT NFT</a:t>
            </a:r>
          </a:p>
        </p:txBody>
      </p:sp>
      <p:sp>
        <p:nvSpPr>
          <p:cNvPr id="3" name="TextBox 2"/>
          <p:cNvSpPr txBox="1"/>
          <p:nvPr/>
        </p:nvSpPr>
        <p:spPr>
          <a:xfrm>
            <a:off x="508000" y="762000"/>
            <a:ext cx="11176000" cy="588010"/>
          </a:xfrm>
          <a:prstGeom prst="rect">
            <a:avLst/>
          </a:prstGeom>
          <a:noFill/>
        </p:spPr>
        <p:txBody>
          <a:bodyPr wrap="none" lIns="0" tIns="0" bIns="0" rIns="0">
            <a:spAutoFit/>
          </a:bodyPr>
          <a:lstStyle/>
          <a:p>
            <a:pPr>
              <a:lnSpc>
                <a:spcPts val="4030"/>
              </a:lnSpc>
              <a:spcAft>
                <a:spcPts val="0"/>
              </a:spcAft>
            </a:pPr>
            <a:r>
              <a:rPr sz="3100">
                <a:solidFill>
                  <a:srgbClr val="F3F7FF"/>
                </a:solidFill>
                <a:latin typeface="Arial"/>
              </a:rPr>
              <a:t>From verified achievement to wallet ownership.</a:t>
            </a:r>
          </a:p>
        </p:txBody>
      </p:sp>
      <p:sp>
        <p:nvSpPr>
          <p:cNvPr id="4" name="TextBox 3"/>
          <p:cNvSpPr txBox="1"/>
          <p:nvPr/>
        </p:nvSpPr>
        <p:spPr>
          <a:xfrm>
            <a:off x="508000" y="6413500"/>
            <a:ext cx="11176000" cy="266065"/>
          </a:xfrm>
          <a:prstGeom prst="rect">
            <a:avLst/>
          </a:prstGeom>
          <a:noFill/>
        </p:spPr>
        <p:txBody>
          <a:bodyPr wrap="none" lIns="0" tIns="0" bIns="0" rIns="0">
            <a:spAutoFit/>
          </a:bodyPr>
          <a:lstStyle/>
          <a:p>
            <a:pPr>
              <a:lnSpc>
                <a:spcPts val="1495"/>
              </a:lnSpc>
              <a:spcAft>
                <a:spcPts val="0"/>
              </a:spcAft>
            </a:pPr>
            <a:r>
              <a:rPr sz="1150">
                <a:solidFill>
                  <a:srgbClr val="A8B6CF"/>
                </a:solidFill>
                <a:latin typeface="Arial"/>
              </a:rPr>
              <a:t>JUDGE APPENDIX 2/3  /  DESIGN PREVIEW - NOT A MINT RECEIPT</a:t>
            </a:r>
          </a:p>
        </p:txBody>
      </p:sp>
      <p:sp>
        <p:nvSpPr>
          <p:cNvPr id="5" name="Rounded Rectangle 4"/>
          <p:cNvSpPr/>
          <p:nvPr/>
        </p:nvSpPr>
        <p:spPr>
          <a:xfrm>
            <a:off x="508000" y="1778000"/>
            <a:ext cx="2641600" cy="1968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7700" y="1968500"/>
            <a:ext cx="2362200" cy="323850"/>
          </a:xfrm>
          <a:prstGeom prst="rect">
            <a:avLst/>
          </a:prstGeom>
          <a:noFill/>
        </p:spPr>
        <p:txBody>
          <a:bodyPr wrap="none" lIns="0" tIns="0" bIns="0" rIns="0">
            <a:spAutoFit/>
          </a:bodyPr>
          <a:lstStyle/>
          <a:p>
            <a:pPr>
              <a:lnSpc>
                <a:spcPts val="1950"/>
              </a:lnSpc>
              <a:spcAft>
                <a:spcPts val="0"/>
              </a:spcAft>
            </a:pPr>
            <a:r>
              <a:rPr sz="1500">
                <a:solidFill>
                  <a:srgbClr val="35E5C5"/>
                </a:solidFill>
                <a:latin typeface="Arial"/>
              </a:rPr>
              <a:t>01 / RECORD</a:t>
            </a:r>
          </a:p>
        </p:txBody>
      </p:sp>
      <p:sp>
        <p:nvSpPr>
          <p:cNvPr id="7" name="TextBox 6"/>
          <p:cNvSpPr txBox="1"/>
          <p:nvPr/>
        </p:nvSpPr>
        <p:spPr>
          <a:xfrm>
            <a:off x="647700" y="2508250"/>
            <a:ext cx="2362200" cy="488950"/>
          </a:xfrm>
          <a:prstGeom prst="rect">
            <a:avLst/>
          </a:prstGeom>
          <a:noFill/>
        </p:spPr>
        <p:txBody>
          <a:bodyPr wrap="none" lIns="0" tIns="0" bIns="0" rIns="0">
            <a:spAutoFit/>
          </a:bodyPr>
          <a:lstStyle/>
          <a:p>
            <a:pPr>
              <a:lnSpc>
                <a:spcPts val="1625"/>
              </a:lnSpc>
              <a:spcAft>
                <a:spcPts val="0"/>
              </a:spcAft>
            </a:pPr>
            <a:r>
              <a:rPr sz="1250">
                <a:solidFill>
                  <a:srgbClr val="F3F7FF"/>
                </a:solidFill>
                <a:latin typeface="Arial"/>
              </a:rPr>
              <a:t>Complete a qualifying run.</a:t>
            </a:r>
          </a:p>
          <a:p>
            <a:pPr>
              <a:lnSpc>
                <a:spcPts val="1625"/>
              </a:lnSpc>
              <a:spcAft>
                <a:spcPts val="0"/>
              </a:spcAft>
            </a:pPr>
            <a:r>
              <a:rPr sz="1250">
                <a:solidFill>
                  <a:srgbClr val="F3F7FF"/>
                </a:solidFill>
                <a:latin typeface="Arial"/>
              </a:rPr>
              <a:t>Sync it to NeonShift.</a:t>
            </a:r>
          </a:p>
        </p:txBody>
      </p:sp>
      <p:sp>
        <p:nvSpPr>
          <p:cNvPr id="8" name="Rounded Rectangle 7"/>
          <p:cNvSpPr/>
          <p:nvPr/>
        </p:nvSpPr>
        <p:spPr>
          <a:xfrm>
            <a:off x="3352800" y="1778000"/>
            <a:ext cx="2641600" cy="1968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92500" y="1968500"/>
            <a:ext cx="2362200" cy="323850"/>
          </a:xfrm>
          <a:prstGeom prst="rect">
            <a:avLst/>
          </a:prstGeom>
          <a:noFill/>
        </p:spPr>
        <p:txBody>
          <a:bodyPr wrap="none" lIns="0" tIns="0" bIns="0" rIns="0">
            <a:spAutoFit/>
          </a:bodyPr>
          <a:lstStyle/>
          <a:p>
            <a:pPr>
              <a:lnSpc>
                <a:spcPts val="1950"/>
              </a:lnSpc>
              <a:spcAft>
                <a:spcPts val="0"/>
              </a:spcAft>
            </a:pPr>
            <a:r>
              <a:rPr sz="1500">
                <a:solidFill>
                  <a:srgbClr val="35E5C5"/>
                </a:solidFill>
                <a:latin typeface="Arial"/>
              </a:rPr>
              <a:t>02 / VERIFY</a:t>
            </a:r>
          </a:p>
        </p:txBody>
      </p:sp>
      <p:sp>
        <p:nvSpPr>
          <p:cNvPr id="10" name="TextBox 9"/>
          <p:cNvSpPr txBox="1"/>
          <p:nvPr/>
        </p:nvSpPr>
        <p:spPr>
          <a:xfrm>
            <a:off x="3492500" y="2508250"/>
            <a:ext cx="2362200" cy="488950"/>
          </a:xfrm>
          <a:prstGeom prst="rect">
            <a:avLst/>
          </a:prstGeom>
          <a:noFill/>
        </p:spPr>
        <p:txBody>
          <a:bodyPr wrap="none" lIns="0" tIns="0" bIns="0" rIns="0">
            <a:spAutoFit/>
          </a:bodyPr>
          <a:lstStyle/>
          <a:p>
            <a:pPr>
              <a:lnSpc>
                <a:spcPts val="1625"/>
              </a:lnSpc>
              <a:spcAft>
                <a:spcPts val="0"/>
              </a:spcAft>
            </a:pPr>
            <a:r>
              <a:rPr sz="1250">
                <a:solidFill>
                  <a:srgbClr val="F3F7FF"/>
                </a:solidFill>
                <a:latin typeface="Arial"/>
              </a:rPr>
              <a:t>Check source and eligibility.</a:t>
            </a:r>
          </a:p>
          <a:p>
            <a:pPr>
              <a:lnSpc>
                <a:spcPts val="1625"/>
              </a:lnSpc>
              <a:spcAft>
                <a:spcPts val="0"/>
              </a:spcAft>
            </a:pPr>
            <a:r>
              <a:rPr sz="1250">
                <a:solidFill>
                  <a:srgbClr val="F3F7FF"/>
                </a:solidFill>
                <a:latin typeface="Arial"/>
              </a:rPr>
              <a:t>Wait for registry approval.</a:t>
            </a:r>
          </a:p>
        </p:txBody>
      </p:sp>
      <p:sp>
        <p:nvSpPr>
          <p:cNvPr id="11" name="Rounded Rectangle 10"/>
          <p:cNvSpPr/>
          <p:nvPr/>
        </p:nvSpPr>
        <p:spPr>
          <a:xfrm>
            <a:off x="6197600" y="1778000"/>
            <a:ext cx="2641600" cy="1968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7300" y="1968500"/>
            <a:ext cx="2362200" cy="323850"/>
          </a:xfrm>
          <a:prstGeom prst="rect">
            <a:avLst/>
          </a:prstGeom>
          <a:noFill/>
        </p:spPr>
        <p:txBody>
          <a:bodyPr wrap="none" lIns="0" tIns="0" bIns="0" rIns="0">
            <a:spAutoFit/>
          </a:bodyPr>
          <a:lstStyle/>
          <a:p>
            <a:pPr>
              <a:lnSpc>
                <a:spcPts val="1950"/>
              </a:lnSpc>
              <a:spcAft>
                <a:spcPts val="0"/>
              </a:spcAft>
            </a:pPr>
            <a:r>
              <a:rPr sz="1500">
                <a:solidFill>
                  <a:srgbClr val="35E5C5"/>
                </a:solidFill>
                <a:latin typeface="Arial"/>
              </a:rPr>
              <a:t>03 / PREVIEW</a:t>
            </a:r>
          </a:p>
        </p:txBody>
      </p:sp>
      <p:sp>
        <p:nvSpPr>
          <p:cNvPr id="13" name="TextBox 12"/>
          <p:cNvSpPr txBox="1"/>
          <p:nvPr/>
        </p:nvSpPr>
        <p:spPr>
          <a:xfrm>
            <a:off x="6337300" y="2508250"/>
            <a:ext cx="2362200" cy="488950"/>
          </a:xfrm>
          <a:prstGeom prst="rect">
            <a:avLst/>
          </a:prstGeom>
          <a:noFill/>
        </p:spPr>
        <p:txBody>
          <a:bodyPr wrap="none" lIns="0" tIns="0" bIns="0" rIns="0">
            <a:spAutoFit/>
          </a:bodyPr>
          <a:lstStyle/>
          <a:p>
            <a:pPr>
              <a:lnSpc>
                <a:spcPts val="1625"/>
              </a:lnSpc>
              <a:spcAft>
                <a:spcPts val="0"/>
              </a:spcAft>
            </a:pPr>
            <a:r>
              <a:rPr sz="1250">
                <a:solidFill>
                  <a:srgbClr val="F3F7FF"/>
                </a:solidFill>
                <a:latin typeface="Arial"/>
              </a:rPr>
              <a:t>Choose public details.</a:t>
            </a:r>
          </a:p>
          <a:p>
            <a:pPr>
              <a:lnSpc>
                <a:spcPts val="1625"/>
              </a:lnSpc>
              <a:spcAft>
                <a:spcPts val="0"/>
              </a:spcAft>
            </a:pPr>
            <a:r>
              <a:rPr sz="1250">
                <a:solidFill>
                  <a:srgbClr val="F3F7FF"/>
                </a:solidFill>
                <a:latin typeface="Arial"/>
              </a:rPr>
              <a:t>Review metadata and SOL fee.</a:t>
            </a:r>
          </a:p>
        </p:txBody>
      </p:sp>
      <p:sp>
        <p:nvSpPr>
          <p:cNvPr id="14" name="Rounded Rectangle 13"/>
          <p:cNvSpPr/>
          <p:nvPr/>
        </p:nvSpPr>
        <p:spPr>
          <a:xfrm>
            <a:off x="9042400" y="1778000"/>
            <a:ext cx="2641600" cy="196850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2100" y="1968500"/>
            <a:ext cx="2362200" cy="323850"/>
          </a:xfrm>
          <a:prstGeom prst="rect">
            <a:avLst/>
          </a:prstGeom>
          <a:noFill/>
        </p:spPr>
        <p:txBody>
          <a:bodyPr wrap="none" lIns="0" tIns="0" bIns="0" rIns="0">
            <a:spAutoFit/>
          </a:bodyPr>
          <a:lstStyle/>
          <a:p>
            <a:pPr>
              <a:lnSpc>
                <a:spcPts val="1950"/>
              </a:lnSpc>
              <a:spcAft>
                <a:spcPts val="0"/>
              </a:spcAft>
            </a:pPr>
            <a:r>
              <a:rPr sz="1500">
                <a:solidFill>
                  <a:srgbClr val="35E5C5"/>
                </a:solidFill>
                <a:latin typeface="Arial"/>
              </a:rPr>
              <a:t>04 / APPROVE</a:t>
            </a:r>
          </a:p>
        </p:txBody>
      </p:sp>
      <p:sp>
        <p:nvSpPr>
          <p:cNvPr id="16" name="TextBox 15"/>
          <p:cNvSpPr txBox="1"/>
          <p:nvPr/>
        </p:nvSpPr>
        <p:spPr>
          <a:xfrm>
            <a:off x="9182100" y="2508250"/>
            <a:ext cx="2362200" cy="488950"/>
          </a:xfrm>
          <a:prstGeom prst="rect">
            <a:avLst/>
          </a:prstGeom>
          <a:noFill/>
        </p:spPr>
        <p:txBody>
          <a:bodyPr wrap="none" lIns="0" tIns="0" bIns="0" rIns="0">
            <a:spAutoFit/>
          </a:bodyPr>
          <a:lstStyle/>
          <a:p>
            <a:pPr>
              <a:lnSpc>
                <a:spcPts val="1625"/>
              </a:lnSpc>
              <a:spcAft>
                <a:spcPts val="0"/>
              </a:spcAft>
            </a:pPr>
            <a:r>
              <a:rPr sz="1250">
                <a:solidFill>
                  <a:srgbClr val="F3F7FF"/>
                </a:solidFill>
                <a:latin typeface="Arial"/>
              </a:rPr>
              <a:t>Approve in your wallet.</a:t>
            </a:r>
          </a:p>
          <a:p>
            <a:pPr>
              <a:lnSpc>
                <a:spcPts val="1625"/>
              </a:lnSpc>
              <a:spcAft>
                <a:spcPts val="0"/>
              </a:spcAft>
            </a:pPr>
            <a:r>
              <a:rPr sz="1250">
                <a:solidFill>
                  <a:srgbClr val="F3F7FF"/>
                </a:solidFill>
                <a:latin typeface="Arial"/>
              </a:rPr>
              <a:t>Wait for chain confirmation.</a:t>
            </a:r>
          </a:p>
        </p:txBody>
      </p:sp>
      <p:sp>
        <p:nvSpPr>
          <p:cNvPr id="17" name="TextBox 16"/>
          <p:cNvSpPr txBox="1"/>
          <p:nvPr/>
        </p:nvSpPr>
        <p:spPr>
          <a:xfrm>
            <a:off x="508000" y="4127500"/>
            <a:ext cx="11176000" cy="348615"/>
          </a:xfrm>
          <a:prstGeom prst="rect">
            <a:avLst/>
          </a:prstGeom>
          <a:noFill/>
        </p:spPr>
        <p:txBody>
          <a:bodyPr wrap="none" lIns="0" tIns="0" bIns="0" rIns="0">
            <a:spAutoFit/>
          </a:bodyPr>
          <a:lstStyle/>
          <a:p>
            <a:pPr>
              <a:lnSpc>
                <a:spcPts val="2145"/>
              </a:lnSpc>
              <a:spcAft>
                <a:spcPts val="0"/>
              </a:spcAft>
            </a:pPr>
            <a:r>
              <a:rPr sz="1650">
                <a:solidFill>
                  <a:srgbClr val="FFD080"/>
                </a:solidFill>
                <a:latin typeface="Arial"/>
              </a:rPr>
              <a:t>CLAIM = USER-INITIATED MINT</a:t>
            </a:r>
          </a:p>
        </p:txBody>
      </p:sp>
      <p:sp>
        <p:nvSpPr>
          <p:cNvPr id="18" name="TextBox 17"/>
          <p:cNvSpPr txBox="1"/>
          <p:nvPr/>
        </p:nvSpPr>
        <p:spPr>
          <a:xfrm>
            <a:off x="508000" y="4508500"/>
            <a:ext cx="11176000" cy="414655"/>
          </a:xfrm>
          <a:prstGeom prst="rect">
            <a:avLst/>
          </a:prstGeom>
          <a:noFill/>
        </p:spPr>
        <p:txBody>
          <a:bodyPr wrap="none" lIns="0" tIns="0" bIns="0" rIns="0">
            <a:spAutoFit/>
          </a:bodyPr>
          <a:lstStyle/>
          <a:p>
            <a:pPr>
              <a:lnSpc>
                <a:spcPts val="2665"/>
              </a:lnSpc>
              <a:spcAft>
                <a:spcPts val="0"/>
              </a:spcAft>
            </a:pPr>
            <a:r>
              <a:rPr sz="2050">
                <a:solidFill>
                  <a:srgbClr val="F3F7FF"/>
                </a:solidFill>
                <a:latin typeface="Arial"/>
              </a:rPr>
              <a:t>Reaching a target does not automatically mint an NFT.</a:t>
            </a:r>
          </a:p>
        </p:txBody>
      </p:sp>
      <p:sp>
        <p:nvSpPr>
          <p:cNvPr id="19" name="TextBox 18"/>
          <p:cNvSpPr txBox="1"/>
          <p:nvPr/>
        </p:nvSpPr>
        <p:spPr>
          <a:xfrm>
            <a:off x="508000" y="4953000"/>
            <a:ext cx="11176000" cy="356870"/>
          </a:xfrm>
          <a:prstGeom prst="rect">
            <a:avLst/>
          </a:prstGeom>
          <a:noFill/>
        </p:spPr>
        <p:txBody>
          <a:bodyPr wrap="none" lIns="0" tIns="0" bIns="0" rIns="0">
            <a:spAutoFit/>
          </a:bodyPr>
          <a:lstStyle/>
          <a:p>
            <a:pPr>
              <a:lnSpc>
                <a:spcPts val="2210"/>
              </a:lnSpc>
              <a:spcAft>
                <a:spcPts val="0"/>
              </a:spcAft>
            </a:pPr>
            <a:r>
              <a:rPr sz="1700">
                <a:solidFill>
                  <a:srgbClr val="F3F7FF"/>
                </a:solidFill>
                <a:latin typeface="Arial"/>
              </a:rPr>
              <a:t>No tSKR spend. Review the current SOL estimate before approving.</a:t>
            </a:r>
          </a:p>
        </p:txBody>
      </p:sp>
      <p:sp>
        <p:nvSpPr>
          <p:cNvPr id="20" name="TextBox 19"/>
          <p:cNvSpPr txBox="1"/>
          <p:nvPr/>
        </p:nvSpPr>
        <p:spPr>
          <a:xfrm>
            <a:off x="508000" y="5461000"/>
            <a:ext cx="11176000" cy="332105"/>
          </a:xfrm>
          <a:prstGeom prst="rect">
            <a:avLst/>
          </a:prstGeom>
          <a:noFill/>
        </p:spPr>
        <p:txBody>
          <a:bodyPr wrap="none" lIns="0" tIns="0" bIns="0" rIns="0">
            <a:spAutoFit/>
          </a:bodyPr>
          <a:lstStyle/>
          <a:p>
            <a:pPr>
              <a:lnSpc>
                <a:spcPts val="2015"/>
              </a:lnSpc>
              <a:spcAft>
                <a:spcPts val="0"/>
              </a:spcAft>
            </a:pPr>
            <a:r>
              <a:rPr sz="1550">
                <a:solidFill>
                  <a:srgbClr val="A8B6CF"/>
                </a:solidFill>
                <a:latin typeface="Arial"/>
              </a:rPr>
              <a:t>Public blockchain ownership remains visible; optional detail sharing is not anonymity.</a:t>
            </a:r>
          </a:p>
        </p:txBody>
      </p:sp>
      <p:sp>
        <p:nvSpPr>
          <p:cNvPr id="21" name="TextBox 20"/>
          <p:cNvSpPr txBox="1"/>
          <p:nvPr/>
        </p:nvSpPr>
        <p:spPr>
          <a:xfrm>
            <a:off x="508000" y="5810250"/>
            <a:ext cx="11176000" cy="332105"/>
          </a:xfrm>
          <a:prstGeom prst="rect">
            <a:avLst/>
          </a:prstGeom>
          <a:noFill/>
        </p:spPr>
        <p:txBody>
          <a:bodyPr wrap="none" lIns="0" tIns="0" bIns="0" rIns="0">
            <a:spAutoFit/>
          </a:bodyPr>
          <a:lstStyle/>
          <a:p>
            <a:pPr>
              <a:lnSpc>
                <a:spcPts val="2015"/>
              </a:lnSpc>
              <a:spcAft>
                <a:spcPts val="0"/>
              </a:spcAft>
            </a:pPr>
            <a:r>
              <a:rPr sz="1550">
                <a:solidFill>
                  <a:srgbClr val="A8B6CF"/>
                </a:solidFill>
                <a:latin typeface="Arial"/>
              </a:rPr>
              <a:t>Raw GPS, heart rate and weight are not included in the achievement NFT.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TextBox 1"/>
          <p:cNvSpPr txBox="1"/>
          <p:nvPr/>
        </p:nvSpPr>
        <p:spPr>
          <a:xfrm>
            <a:off x="508000" y="349250"/>
            <a:ext cx="11176000" cy="282575"/>
          </a:xfrm>
          <a:prstGeom prst="rect">
            <a:avLst/>
          </a:prstGeom>
          <a:noFill/>
        </p:spPr>
        <p:txBody>
          <a:bodyPr wrap="none" lIns="0" tIns="0" bIns="0" rIns="0">
            <a:spAutoFit/>
          </a:bodyPr>
          <a:lstStyle/>
          <a:p>
            <a:pPr>
              <a:lnSpc>
                <a:spcPts val="1625"/>
              </a:lnSpc>
              <a:spcAft>
                <a:spcPts val="0"/>
              </a:spcAft>
            </a:pPr>
            <a:r>
              <a:rPr sz="1250">
                <a:solidFill>
                  <a:srgbClr val="35E5C5"/>
                </a:solidFill>
                <a:latin typeface="Arial"/>
              </a:rPr>
              <a:t>NEONSHIFT / PERSONAL ACHIEVEMENT NFT</a:t>
            </a:r>
          </a:p>
        </p:txBody>
      </p:sp>
      <p:sp>
        <p:nvSpPr>
          <p:cNvPr id="3" name="TextBox 2"/>
          <p:cNvSpPr txBox="1"/>
          <p:nvPr/>
        </p:nvSpPr>
        <p:spPr>
          <a:xfrm>
            <a:off x="508000" y="762000"/>
            <a:ext cx="11176000" cy="588010"/>
          </a:xfrm>
          <a:prstGeom prst="rect">
            <a:avLst/>
          </a:prstGeom>
          <a:noFill/>
        </p:spPr>
        <p:txBody>
          <a:bodyPr wrap="none" lIns="0" tIns="0" bIns="0" rIns="0">
            <a:spAutoFit/>
          </a:bodyPr>
          <a:lstStyle/>
          <a:p>
            <a:pPr>
              <a:lnSpc>
                <a:spcPts val="4030"/>
              </a:lnSpc>
              <a:spcAft>
                <a:spcPts val="0"/>
              </a:spcAft>
            </a:pPr>
            <a:r>
              <a:rPr sz="3100">
                <a:solidFill>
                  <a:srgbClr val="F3F7FF"/>
                </a:solidFill>
                <a:latin typeface="Arial"/>
              </a:rPr>
              <a:t>Claim once. Keep the story. Show the evidence.</a:t>
            </a:r>
          </a:p>
        </p:txBody>
      </p:sp>
      <p:sp>
        <p:nvSpPr>
          <p:cNvPr id="4" name="TextBox 3"/>
          <p:cNvSpPr txBox="1"/>
          <p:nvPr/>
        </p:nvSpPr>
        <p:spPr>
          <a:xfrm>
            <a:off x="508000" y="6413500"/>
            <a:ext cx="11176000" cy="266065"/>
          </a:xfrm>
          <a:prstGeom prst="rect">
            <a:avLst/>
          </a:prstGeom>
          <a:noFill/>
        </p:spPr>
        <p:txBody>
          <a:bodyPr wrap="none" lIns="0" tIns="0" bIns="0" rIns="0">
            <a:spAutoFit/>
          </a:bodyPr>
          <a:lstStyle/>
          <a:p>
            <a:pPr>
              <a:lnSpc>
                <a:spcPts val="1495"/>
              </a:lnSpc>
              <a:spcAft>
                <a:spcPts val="0"/>
              </a:spcAft>
            </a:pPr>
            <a:r>
              <a:rPr sz="1150">
                <a:solidFill>
                  <a:srgbClr val="A8B6CF"/>
                </a:solidFill>
                <a:latin typeface="Arial"/>
              </a:rPr>
              <a:t>JUDGE APPENDIX 3/3  /  DESIGN PREVIEW - NOT A MINT RECEIPT</a:t>
            </a:r>
          </a:p>
        </p:txBody>
      </p:sp>
      <p:sp>
        <p:nvSpPr>
          <p:cNvPr id="5" name="Rounded Rectangle 4"/>
          <p:cNvSpPr/>
          <p:nvPr/>
        </p:nvSpPr>
        <p:spPr>
          <a:xfrm>
            <a:off x="508000" y="1651000"/>
            <a:ext cx="11176000" cy="92075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8500" y="1790700"/>
            <a:ext cx="10731500" cy="315595"/>
          </a:xfrm>
          <a:prstGeom prst="rect">
            <a:avLst/>
          </a:prstGeom>
          <a:noFill/>
        </p:spPr>
        <p:txBody>
          <a:bodyPr wrap="none" lIns="0" tIns="0" bIns="0" rIns="0">
            <a:spAutoFit/>
          </a:bodyPr>
          <a:lstStyle/>
          <a:p>
            <a:pPr>
              <a:lnSpc>
                <a:spcPts val="1885"/>
              </a:lnSpc>
              <a:spcAft>
                <a:spcPts val="0"/>
              </a:spcAft>
            </a:pPr>
            <a:r>
              <a:rPr sz="1450">
                <a:solidFill>
                  <a:srgbClr val="35E5C5"/>
                </a:solidFill>
                <a:latin typeface="Arial"/>
              </a:rPr>
              <a:t>ELIGIBLE IS NOT MINTED</a:t>
            </a:r>
          </a:p>
        </p:txBody>
      </p:sp>
      <p:sp>
        <p:nvSpPr>
          <p:cNvPr id="7" name="TextBox 6"/>
          <p:cNvSpPr txBox="1"/>
          <p:nvPr/>
        </p:nvSpPr>
        <p:spPr>
          <a:xfrm>
            <a:off x="698500" y="2139950"/>
            <a:ext cx="10731500" cy="332105"/>
          </a:xfrm>
          <a:prstGeom prst="rect">
            <a:avLst/>
          </a:prstGeom>
          <a:noFill/>
        </p:spPr>
        <p:txBody>
          <a:bodyPr wrap="none" lIns="0" tIns="0" bIns="0" rIns="0">
            <a:spAutoFit/>
          </a:bodyPr>
          <a:lstStyle/>
          <a:p>
            <a:pPr>
              <a:lnSpc>
                <a:spcPts val="2015"/>
              </a:lnSpc>
              <a:spcAft>
                <a:spcPts val="0"/>
              </a:spcAft>
            </a:pPr>
            <a:r>
              <a:rPr sz="1550">
                <a:solidFill>
                  <a:srgbClr val="F3F7FF"/>
                </a:solidFill>
                <a:latin typeface="Arial"/>
              </a:rPr>
              <a:t>Locked / under review / pending approval stay separate from claimed.</a:t>
            </a:r>
          </a:p>
        </p:txBody>
      </p:sp>
      <p:sp>
        <p:nvSpPr>
          <p:cNvPr id="8" name="Rounded Rectangle 7"/>
          <p:cNvSpPr/>
          <p:nvPr/>
        </p:nvSpPr>
        <p:spPr>
          <a:xfrm>
            <a:off x="508000" y="2730500"/>
            <a:ext cx="11176000" cy="92075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8500" y="2870200"/>
            <a:ext cx="10731500" cy="315595"/>
          </a:xfrm>
          <a:prstGeom prst="rect">
            <a:avLst/>
          </a:prstGeom>
          <a:noFill/>
        </p:spPr>
        <p:txBody>
          <a:bodyPr wrap="none" lIns="0" tIns="0" bIns="0" rIns="0">
            <a:spAutoFit/>
          </a:bodyPr>
          <a:lstStyle/>
          <a:p>
            <a:pPr>
              <a:lnSpc>
                <a:spcPts val="1885"/>
              </a:lnSpc>
              <a:spcAft>
                <a:spcPts val="0"/>
              </a:spcAft>
            </a:pPr>
            <a:r>
              <a:rPr sz="1450">
                <a:solidFill>
                  <a:srgbClr val="35E5C5"/>
                </a:solidFill>
                <a:latin typeface="Arial"/>
              </a:rPr>
              <a:t>CONFIRMED AND COLLECTED</a:t>
            </a:r>
          </a:p>
        </p:txBody>
      </p:sp>
      <p:sp>
        <p:nvSpPr>
          <p:cNvPr id="10" name="TextBox 9"/>
          <p:cNvSpPr txBox="1"/>
          <p:nvPr/>
        </p:nvSpPr>
        <p:spPr>
          <a:xfrm>
            <a:off x="698500" y="3219450"/>
            <a:ext cx="10731500" cy="332105"/>
          </a:xfrm>
          <a:prstGeom prst="rect">
            <a:avLst/>
          </a:prstGeom>
          <a:noFill/>
        </p:spPr>
        <p:txBody>
          <a:bodyPr wrap="none" lIns="0" tIns="0" bIns="0" rIns="0">
            <a:spAutoFit/>
          </a:bodyPr>
          <a:lstStyle/>
          <a:p>
            <a:pPr>
              <a:lnSpc>
                <a:spcPts val="2015"/>
              </a:lnSpc>
              <a:spcAft>
                <a:spcPts val="0"/>
              </a:spcAft>
            </a:pPr>
            <a:r>
              <a:rPr sz="1550">
                <a:solidFill>
                  <a:srgbClr val="F3F7FF"/>
                </a:solidFill>
                <a:latin typeface="Arial"/>
              </a:rPr>
              <a:t>Show the reveal, then open the collection and inspect the asset.</a:t>
            </a:r>
          </a:p>
        </p:txBody>
      </p:sp>
      <p:sp>
        <p:nvSpPr>
          <p:cNvPr id="11" name="Rounded Rectangle 10"/>
          <p:cNvSpPr/>
          <p:nvPr/>
        </p:nvSpPr>
        <p:spPr>
          <a:xfrm>
            <a:off x="508000" y="3810000"/>
            <a:ext cx="11176000" cy="920750"/>
          </a:xfrm>
          <a:prstGeom prst="round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3949700"/>
            <a:ext cx="10731500" cy="315595"/>
          </a:xfrm>
          <a:prstGeom prst="rect">
            <a:avLst/>
          </a:prstGeom>
          <a:noFill/>
        </p:spPr>
        <p:txBody>
          <a:bodyPr wrap="none" lIns="0" tIns="0" bIns="0" rIns="0">
            <a:spAutoFit/>
          </a:bodyPr>
          <a:lstStyle/>
          <a:p>
            <a:pPr>
              <a:lnSpc>
                <a:spcPts val="1885"/>
              </a:lnSpc>
              <a:spcAft>
                <a:spcPts val="0"/>
              </a:spcAft>
            </a:pPr>
            <a:r>
              <a:rPr sz="1450">
                <a:solidFill>
                  <a:srgbClr val="35E5C5"/>
                </a:solidFill>
                <a:latin typeface="Arial"/>
              </a:rPr>
              <a:t>RETRIES DO NOT CREATE DUPLICATES</a:t>
            </a:r>
          </a:p>
        </p:txBody>
      </p:sp>
      <p:sp>
        <p:nvSpPr>
          <p:cNvPr id="13" name="TextBox 12"/>
          <p:cNvSpPr txBox="1"/>
          <p:nvPr/>
        </p:nvSpPr>
        <p:spPr>
          <a:xfrm>
            <a:off x="698500" y="4298950"/>
            <a:ext cx="10731500" cy="332105"/>
          </a:xfrm>
          <a:prstGeom prst="rect">
            <a:avLst/>
          </a:prstGeom>
          <a:noFill/>
        </p:spPr>
        <p:txBody>
          <a:bodyPr wrap="none" lIns="0" tIns="0" bIns="0" rIns="0">
            <a:spAutoFit/>
          </a:bodyPr>
          <a:lstStyle/>
          <a:p>
            <a:pPr>
              <a:lnSpc>
                <a:spcPts val="2015"/>
              </a:lnSpc>
              <a:spcAft>
                <a:spcPts val="0"/>
              </a:spcAft>
            </a:pPr>
            <a:r>
              <a:rPr sz="1550">
                <a:solidFill>
                  <a:srgbClr val="F3F7FF"/>
                </a:solidFill>
                <a:latin typeface="Arial"/>
              </a:rPr>
              <a:t>An existing on-chain receipt returns the existing asset instead of minting again.</a:t>
            </a:r>
          </a:p>
        </p:txBody>
      </p:sp>
      <p:sp>
        <p:nvSpPr>
          <p:cNvPr id="14" name="TextBox 13"/>
          <p:cNvSpPr txBox="1"/>
          <p:nvPr/>
        </p:nvSpPr>
        <p:spPr>
          <a:xfrm>
            <a:off x="508000" y="5111750"/>
            <a:ext cx="11176000" cy="307340"/>
          </a:xfrm>
          <a:prstGeom prst="rect">
            <a:avLst/>
          </a:prstGeom>
          <a:noFill/>
        </p:spPr>
        <p:txBody>
          <a:bodyPr wrap="none" lIns="0" tIns="0" bIns="0" rIns="0">
            <a:spAutoFit/>
          </a:bodyPr>
          <a:lstStyle/>
          <a:p>
            <a:pPr>
              <a:lnSpc>
                <a:spcPts val="1820"/>
              </a:lnSpc>
              <a:spcAft>
                <a:spcPts val="0"/>
              </a:spcAft>
            </a:pPr>
            <a:r>
              <a:rPr sz="1400">
                <a:solidFill>
                  <a:srgbClr val="FFD080"/>
                </a:solidFill>
                <a:latin typeface="Arial"/>
              </a:rPr>
              <a:t>LIVE DEMO CHECKLIST</a:t>
            </a:r>
          </a:p>
        </p:txBody>
      </p:sp>
      <p:sp>
        <p:nvSpPr>
          <p:cNvPr id="15" name="TextBox 14"/>
          <p:cNvSpPr txBox="1"/>
          <p:nvPr/>
        </p:nvSpPr>
        <p:spPr>
          <a:xfrm>
            <a:off x="508000" y="5461000"/>
            <a:ext cx="11176000" cy="332105"/>
          </a:xfrm>
          <a:prstGeom prst="rect">
            <a:avLst/>
          </a:prstGeom>
          <a:noFill/>
        </p:spPr>
        <p:txBody>
          <a:bodyPr wrap="none" lIns="0" tIns="0" bIns="0" rIns="0">
            <a:spAutoFit/>
          </a:bodyPr>
          <a:lstStyle/>
          <a:p>
            <a:pPr>
              <a:lnSpc>
                <a:spcPts val="2015"/>
              </a:lnSpc>
              <a:spcAft>
                <a:spcPts val="0"/>
              </a:spcAft>
            </a:pPr>
            <a:r>
              <a:rPr sz="1550">
                <a:solidFill>
                  <a:srgbClr val="F3F7FF"/>
                </a:solidFill>
                <a:latin typeface="Arial"/>
              </a:rPr>
              <a:t>Eligibility -&gt; privacy + fee preview -&gt; wallet approval -&gt; confirmation -&gt; collection</a:t>
            </a:r>
          </a:p>
        </p:txBody>
      </p:sp>
      <p:sp>
        <p:nvSpPr>
          <p:cNvPr id="16" name="TextBox 15"/>
          <p:cNvSpPr txBox="1"/>
          <p:nvPr/>
        </p:nvSpPr>
        <p:spPr>
          <a:xfrm>
            <a:off x="508000" y="5873750"/>
            <a:ext cx="11176000" cy="315595"/>
          </a:xfrm>
          <a:prstGeom prst="rect">
            <a:avLst/>
          </a:prstGeom>
          <a:noFill/>
        </p:spPr>
        <p:txBody>
          <a:bodyPr wrap="none" lIns="0" tIns="0" bIns="0" rIns="0">
            <a:spAutoFit/>
          </a:bodyPr>
          <a:lstStyle/>
          <a:p>
            <a:pPr>
              <a:lnSpc>
                <a:spcPts val="1885"/>
              </a:lnSpc>
              <a:spcAft>
                <a:spcPts val="0"/>
              </a:spcAft>
            </a:pPr>
            <a:r>
              <a:rPr sz="1450">
                <a:solidFill>
                  <a:srgbClr val="A8B6CF"/>
                </a:solidFill>
                <a:latin typeface="Arial"/>
              </a:rPr>
              <a:t>Show the actual asset and transaction on Devnet. Never replace them with sample IDs.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