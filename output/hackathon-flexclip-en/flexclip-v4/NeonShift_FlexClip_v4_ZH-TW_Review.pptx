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最初幾天過後，是什麼讓我們繼續運動？NeonShift 將每天的運動轉化為看得見的成長、野生動物主題跑鞋，以及再次回來的理由。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NeonShift 為 Solana Mobile 打造，將日常活動連結到可以收藏與查證的成就。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從一次步行或跑步開始。記錄運動、保存在手機上，再透過 Activity 日誌回顧自己的進度。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可以選擇連網時自動同步，已保存的運動會由舊到新處理。初始鞋款與等級升級維持免費。記錄一筆運動，不代表自動取得獎勵資格。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符合條件的活動可以在 Solana Devnet 上申領獎勵。每日步數任務會先檢查 Android Health Connect 摘要，再由使用者透過錢包核准。交易結果可在區塊鏈瀏覽器查閱。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原始健康紀錄不會公布到鏈上。成就收藏品有各自的資格條件與核准流程。區塊鏈記錄的是申領，而不是運動的每一步。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NeonShift 將代幣付款用於外觀。符合首次五公里資格的跑者，可以使用 Devnet 測試代幣付費解鎖 Genesis Mint 邊框。訂單、價格與收款人由伺服器決定。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核對內容後，再透過錢包核准。伺服器驗證鏈上轉帳已確認後，就會為該錢包解鎖邊框。本次付款使用測試代幣，並非官方 SKR，不能購買經驗值、成績或成就。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Wild Guardians 將個人成長連結到保育學習。在地社群試辦仍在規劃中。目前不宣稱已有合作或捐款。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下一步：質押 SKR 可提升任務獎勵，跑鞋等級越高，加成越高。質押獎勵的固定比例，將撥入獨立追蹤的野生動物保育基金。比率尚未定案。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請透過提交連結查看 Android App、原始碼與評審指南。為自己而動，為棲地同行。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12750"/>
            <a:ext cx="50800" cy="158750"/>
          </a:xfrm>
          <a:prstGeom prst="rect">
            <a:avLst/>
          </a:prstGeom>
          <a:solidFill>
            <a:srgbClr val="35E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412750"/>
            <a:ext cx="69850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5E5C5"/>
                </a:solidFill>
                <a:latin typeface="Heiti TC"/>
              </a:rPr>
              <a:t>NEONSHIFT  /  A  ·  中文對稿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95000" y="412750"/>
            <a:ext cx="9525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6CF"/>
                </a:solidFill>
                <a:latin typeface="Heiti TC"/>
              </a:rPr>
              <a:t>01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206500"/>
            <a:ext cx="711200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每天動起來，</a:t>
            </a:r>
          </a:p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看見自己的成長。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2984500"/>
            <a:ext cx="7112000" cy="330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每天都有再次回來的理由。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750" y="41275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5E5C5"/>
                </a:solidFill>
                <a:latin typeface="Heiti TC"/>
              </a:rPr>
              <a:t>運動 / 成長 / 收藏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8000" y="965200"/>
            <a:ext cx="3429000" cy="4127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2026-10-02_c14_s01_home-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2550" y="1079500"/>
            <a:ext cx="1739900" cy="38734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9750" y="47371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D080"/>
                </a:solidFill>
                <a:latin typeface="Heiti TC"/>
              </a:rPr>
              <a:t>實機截圖 · 10/2 · APK 版本代碼 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750" y="5353050"/>
            <a:ext cx="111125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D080"/>
                </a:solidFill>
                <a:latin typeface="Heiti TC"/>
              </a:rPr>
              <a:t>真實資料 · 無展示覆寫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12750"/>
            <a:ext cx="50800" cy="158750"/>
          </a:xfrm>
          <a:prstGeom prst="rect">
            <a:avLst/>
          </a:prstGeom>
          <a:solidFill>
            <a:srgbClr val="35E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412750"/>
            <a:ext cx="69850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5E5C5"/>
                </a:solidFill>
                <a:latin typeface="Heiti TC"/>
              </a:rPr>
              <a:t>NEONSHIFT  /  A  ·  中文對稿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95000" y="412750"/>
            <a:ext cx="9525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6CF"/>
                </a:solidFill>
                <a:latin typeface="Heiti TC"/>
              </a:rPr>
              <a:t>02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206500"/>
            <a:ext cx="1117600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為 Solana Mobile</a:t>
            </a:r>
          </a:p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打造的運動體驗。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2984500"/>
            <a:ext cx="11176000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手機記錄運動。</a:t>
            </a:r>
          </a:p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健康摘要驗證，錢包自主核准。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750" y="4127500"/>
            <a:ext cx="11176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5E5C5"/>
                </a:solidFill>
                <a:latin typeface="Heiti TC"/>
              </a:rPr>
              <a:t>以手機為核心的運動體驗</a:t>
            </a:r>
          </a:p>
        </p:txBody>
      </p:sp>
      <p:sp>
        <p:nvSpPr>
          <p:cNvPr id="8" name="Rectangle 7"/>
          <p:cNvSpPr/>
          <p:nvPr/>
        </p:nvSpPr>
        <p:spPr>
          <a:xfrm>
            <a:off x="7810499" y="1492250"/>
            <a:ext cx="3810000" cy="825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0" y="1619250"/>
            <a:ext cx="571500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5E5C5"/>
                </a:solidFill>
                <a:latin typeface="Heiti T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1905000"/>
            <a:ext cx="339725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3F7FF"/>
                </a:solidFill>
                <a:latin typeface="Heiti TC"/>
              </a:rPr>
              <a:t>手機運動紀錄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10499" y="2584450"/>
            <a:ext cx="3810000" cy="825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2711450"/>
            <a:ext cx="571500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5E5C5"/>
                </a:solidFill>
                <a:latin typeface="Heiti T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997200"/>
            <a:ext cx="339725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3F7FF"/>
                </a:solidFill>
                <a:latin typeface="Heiti TC"/>
              </a:rPr>
              <a:t>健康資料摘要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10499" y="3676649"/>
            <a:ext cx="3810000" cy="825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01000" y="3803650"/>
            <a:ext cx="571500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5E5C5"/>
                </a:solidFill>
                <a:latin typeface="Heiti T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4089400"/>
            <a:ext cx="339725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3F7FF"/>
                </a:solidFill>
                <a:latin typeface="Heiti TC"/>
              </a:rPr>
              <a:t>錢包核准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750" y="5353050"/>
            <a:ext cx="111125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D080"/>
                </a:solidFill>
                <a:latin typeface="Heiti TC"/>
              </a:rPr>
              <a:t>產品概念說明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12750"/>
            <a:ext cx="50800" cy="158750"/>
          </a:xfrm>
          <a:prstGeom prst="rect">
            <a:avLst/>
          </a:prstGeom>
          <a:solidFill>
            <a:srgbClr val="35E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412750"/>
            <a:ext cx="69850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5E5C5"/>
                </a:solidFill>
                <a:latin typeface="Heiti TC"/>
              </a:rPr>
              <a:t>NEONSHIFT  /  B  ·  中文對稿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95000" y="412750"/>
            <a:ext cx="9525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6CF"/>
                </a:solidFill>
                <a:latin typeface="Heiti TC"/>
              </a:rPr>
              <a:t>03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206500"/>
            <a:ext cx="711200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走路、跑步，</a:t>
            </a:r>
          </a:p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看見自己的進步。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2984500"/>
            <a:ext cx="7112000" cy="330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記錄 → 保存 → 回顧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750" y="41275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5E5C5"/>
                </a:solidFill>
                <a:latin typeface="Heiti TC"/>
              </a:rPr>
              <a:t>你的個人運動日誌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8000" y="965200"/>
            <a:ext cx="3429000" cy="4127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2026-10-02_c14_s04_summary-finish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2550" y="1079500"/>
            <a:ext cx="1739900" cy="38734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9750" y="47371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D080"/>
                </a:solidFill>
                <a:latin typeface="Heiti TC"/>
              </a:rPr>
              <a:t>實機截圖 · 10/2 · APK 版本代碼 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750" y="5353050"/>
            <a:ext cx="111125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D080"/>
                </a:solidFill>
                <a:latin typeface="Heiti TC"/>
              </a:rPr>
              <a:t>真實資料 · 無展示覆寫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12750"/>
            <a:ext cx="50800" cy="158750"/>
          </a:xfrm>
          <a:prstGeom prst="rect">
            <a:avLst/>
          </a:prstGeom>
          <a:solidFill>
            <a:srgbClr val="35E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412750"/>
            <a:ext cx="69850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5E5C5"/>
                </a:solidFill>
                <a:latin typeface="Heiti TC"/>
              </a:rPr>
              <a:t>NEONSHIFT  /  B  ·  中文對稿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95000" y="412750"/>
            <a:ext cx="9525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6CF"/>
                </a:solidFill>
                <a:latin typeface="Heiti TC"/>
              </a:rPr>
              <a:t>04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206500"/>
            <a:ext cx="711200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準備好，</a:t>
            </a:r>
          </a:p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再同步。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2984500"/>
            <a:ext cx="7112000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自行選擇連網同步。</a:t>
            </a:r>
          </a:p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依運動時間由舊到新處理。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750" y="41275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5E5C5"/>
                </a:solidFill>
                <a:latin typeface="Heiti TC"/>
              </a:rPr>
              <a:t>初始鞋款與等級升級維持免費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8000" y="965200"/>
            <a:ext cx="3429000" cy="4127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2026-10-02_c14_s04_profile-sy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2550" y="1079500"/>
            <a:ext cx="1739900" cy="38734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9750" y="47371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D080"/>
                </a:solidFill>
                <a:latin typeface="Heiti TC"/>
              </a:rPr>
              <a:t>實機截圖 · 10/2 · APK 版本代碼 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750" y="5353050"/>
            <a:ext cx="111125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D080"/>
                </a:solidFill>
                <a:latin typeface="Heiti TC"/>
              </a:rPr>
              <a:t>真實資料 · 無展示覆寫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12750"/>
            <a:ext cx="50800" cy="158750"/>
          </a:xfrm>
          <a:prstGeom prst="rect">
            <a:avLst/>
          </a:prstGeom>
          <a:solidFill>
            <a:srgbClr val="35E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412750"/>
            <a:ext cx="69850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5E5C5"/>
                </a:solidFill>
                <a:latin typeface="Heiti TC"/>
              </a:rPr>
              <a:t>NEONSHIFT  /  C  ·  中文對稿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95000" y="412750"/>
            <a:ext cx="9525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6CF"/>
                </a:solidFill>
                <a:latin typeface="Heiti TC"/>
              </a:rPr>
              <a:t>05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206500"/>
            <a:ext cx="1117600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由你核准，</a:t>
            </a:r>
          </a:p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留下鏈上申領紀錄。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2984500"/>
            <a:ext cx="11176000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符合條件的摘要</a:t>
            </a:r>
          </a:p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→ 錢包核准 → 鏈上查證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750" y="4127500"/>
            <a:ext cx="11176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5E5C5"/>
                </a:solidFill>
                <a:latin typeface="Heiti TC"/>
              </a:rPr>
              <a:t>SOLANA DEVNET 測試網</a:t>
            </a:r>
          </a:p>
        </p:txBody>
      </p:sp>
      <p:sp>
        <p:nvSpPr>
          <p:cNvPr id="8" name="Rectangle 7"/>
          <p:cNvSpPr/>
          <p:nvPr/>
        </p:nvSpPr>
        <p:spPr>
          <a:xfrm>
            <a:off x="7810499" y="1492250"/>
            <a:ext cx="3810000" cy="825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0" y="1619250"/>
            <a:ext cx="571500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5E5C5"/>
                </a:solidFill>
                <a:latin typeface="Heiti T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1905000"/>
            <a:ext cx="339725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3F7FF"/>
                </a:solidFill>
                <a:latin typeface="Heiti TC"/>
              </a:rPr>
              <a:t>符合條件的摘要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10499" y="2584450"/>
            <a:ext cx="3810000" cy="825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2711450"/>
            <a:ext cx="571500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5E5C5"/>
                </a:solidFill>
                <a:latin typeface="Heiti T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997200"/>
            <a:ext cx="339725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3F7FF"/>
                </a:solidFill>
                <a:latin typeface="Heiti TC"/>
              </a:rPr>
              <a:t>使用錢包核准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10499" y="3676649"/>
            <a:ext cx="3810000" cy="825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01000" y="3803650"/>
            <a:ext cx="571500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5E5C5"/>
                </a:solidFill>
                <a:latin typeface="Heiti T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4089400"/>
            <a:ext cx="339725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3F7FF"/>
                </a:solidFill>
                <a:latin typeface="Heiti TC"/>
              </a:rPr>
              <a:t>Devnet 鏈上查證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750" y="5353050"/>
            <a:ext cx="111125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D080"/>
                </a:solidFill>
                <a:latin typeface="Heiti TC"/>
              </a:rPr>
              <a:t>流程概念說明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12750"/>
            <a:ext cx="50800" cy="158750"/>
          </a:xfrm>
          <a:prstGeom prst="rect">
            <a:avLst/>
          </a:prstGeom>
          <a:solidFill>
            <a:srgbClr val="35E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412750"/>
            <a:ext cx="69850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5E5C5"/>
                </a:solidFill>
                <a:latin typeface="Heiti TC"/>
              </a:rPr>
              <a:t>NEONSHIFT  /  C  ·  中文對稿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95000" y="412750"/>
            <a:ext cx="9525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6CF"/>
                </a:solidFill>
                <a:latin typeface="Heiti TC"/>
              </a:rPr>
              <a:t>06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206500"/>
            <a:ext cx="711200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收藏里程碑，</a:t>
            </a:r>
          </a:p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保留成就的意義。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2984500"/>
            <a:ext cx="7112000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各項成就都有自己的</a:t>
            </a:r>
          </a:p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資格條件與核准流程。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750" y="41275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5E5C5"/>
                </a:solidFill>
                <a:latin typeface="Heiti TC"/>
              </a:rPr>
              <a:t>原始健康紀錄不上鏈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8000" y="965200"/>
            <a:ext cx="3429000" cy="4127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2026-10-02_c14_s06_nft-first5k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2550" y="1079500"/>
            <a:ext cx="1739900" cy="38734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9750" y="47371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D080"/>
                </a:solidFill>
                <a:latin typeface="Heiti TC"/>
              </a:rPr>
              <a:t>實機截圖 · 10/2 · APK 版本代碼 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750" y="5353050"/>
            <a:ext cx="111125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D080"/>
                </a:solidFill>
                <a:latin typeface="Heiti TC"/>
              </a:rPr>
              <a:t>真實資料 · 無展示覆寫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12750"/>
            <a:ext cx="50800" cy="158750"/>
          </a:xfrm>
          <a:prstGeom prst="rect">
            <a:avLst/>
          </a:prstGeom>
          <a:solidFill>
            <a:srgbClr val="35E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412750"/>
            <a:ext cx="69850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5E5C5"/>
                </a:solidFill>
                <a:latin typeface="Heiti TC"/>
              </a:rPr>
              <a:t>NEONSHIFT  /  D  ·  中文對稿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95000" y="412750"/>
            <a:ext cx="9525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6CF"/>
                </a:solidFill>
                <a:latin typeface="Heiti TC"/>
              </a:rPr>
              <a:t>07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206500"/>
            <a:ext cx="711200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先取得資格，</a:t>
            </a:r>
          </a:p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再解鎖專屬邊框。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2984500"/>
            <a:ext cx="7112000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首次 5K 資格經驗證。</a:t>
            </a:r>
          </a:p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訂單、價格與收款人由伺服器決定。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750" y="41275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5E5C5"/>
                </a:solidFill>
                <a:latin typeface="Heiti TC"/>
              </a:rPr>
              <a:t>付款僅用於外觀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8000" y="965200"/>
            <a:ext cx="3429000" cy="4127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2026-10-01-skr-devnet-eligi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2550" y="1079500"/>
            <a:ext cx="1739900" cy="38734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9750" y="47371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D080"/>
                </a:solidFill>
                <a:latin typeface="Heiti TC"/>
              </a:rPr>
              <a:t>實機截圖 · 10/1 · APK 版本代碼 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750" y="5353050"/>
            <a:ext cx="111125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D080"/>
                </a:solidFill>
                <a:latin typeface="Heiti TC"/>
              </a:rPr>
              <a:t>TEST SKR · DEVNET · 非官方 SKR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12750"/>
            <a:ext cx="50800" cy="158750"/>
          </a:xfrm>
          <a:prstGeom prst="rect">
            <a:avLst/>
          </a:prstGeom>
          <a:solidFill>
            <a:srgbClr val="35E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412750"/>
            <a:ext cx="69850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5E5C5"/>
                </a:solidFill>
                <a:latin typeface="Heiti TC"/>
              </a:rPr>
              <a:t>NEONSHIFT  /  D  ·  中文對稿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95000" y="412750"/>
            <a:ext cx="9525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6CF"/>
                </a:solidFill>
                <a:latin typeface="Heiti TC"/>
              </a:rPr>
              <a:t>08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206500"/>
            <a:ext cx="711200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付款確認，</a:t>
            </a:r>
          </a:p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邊框解鎖。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2984500"/>
            <a:ext cx="7112000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錢包核准 → 鏈上查驗</a:t>
            </a:r>
          </a:p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→ 解鎖外觀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750" y="41275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5E5C5"/>
                </a:solidFill>
                <a:latin typeface="Heiti TC"/>
              </a:rPr>
              <a:t>不能購買經驗值、成績或成就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8000" y="965200"/>
            <a:ext cx="3429000" cy="4127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2026-10-01-skr-devnet-pa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2550" y="1079500"/>
            <a:ext cx="1739900" cy="38734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9750" y="47371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D080"/>
                </a:solidFill>
                <a:latin typeface="Heiti TC"/>
              </a:rPr>
              <a:t>實機截圖 · 10/1 · APK 版本代碼 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750" y="5353050"/>
            <a:ext cx="111125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D080"/>
                </a:solidFill>
                <a:latin typeface="Heiti TC"/>
              </a:rPr>
              <a:t>TEST SKR · DEVNET · 非官方 SKR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12750"/>
            <a:ext cx="50800" cy="158750"/>
          </a:xfrm>
          <a:prstGeom prst="rect">
            <a:avLst/>
          </a:prstGeom>
          <a:solidFill>
            <a:srgbClr val="35E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412750"/>
            <a:ext cx="69850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5E5C5"/>
                </a:solidFill>
                <a:latin typeface="Heiti TC"/>
              </a:rPr>
              <a:t>NEONSHIFT  /  E  ·  中文對稿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95000" y="412750"/>
            <a:ext cx="9525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6CF"/>
                </a:solidFill>
                <a:latin typeface="Heiti TC"/>
              </a:rPr>
              <a:t>09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206500"/>
            <a:ext cx="711200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讓成長，</a:t>
            </a:r>
          </a:p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連結野生動物故事。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2984500"/>
            <a:ext cx="7112000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現在：保育知識學習。</a:t>
            </a:r>
          </a:p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下一步：在地社群試辦。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750" y="41275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5E5C5"/>
                </a:solidFill>
                <a:latin typeface="Heiti TC"/>
              </a:rPr>
              <a:t>下一步：在地試辦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8000" y="965200"/>
            <a:ext cx="3429000" cy="4127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2026-10-02_c14_s09_elephant-habit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2550" y="1079500"/>
            <a:ext cx="1739900" cy="38734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9750" y="47371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D080"/>
                </a:solidFill>
                <a:latin typeface="Heiti TC"/>
              </a:rPr>
              <a:t>實機截圖 · 10/2 · APK 版本代碼 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750" y="5353050"/>
            <a:ext cx="111125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D080"/>
                </a:solidFill>
                <a:latin typeface="Heiti TC"/>
              </a:rPr>
              <a:t>App 內物種故事卡 · 試辦仍在規劃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12750"/>
            <a:ext cx="50800" cy="158750"/>
          </a:xfrm>
          <a:prstGeom prst="rect">
            <a:avLst/>
          </a:prstGeom>
          <a:solidFill>
            <a:srgbClr val="35E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412750"/>
            <a:ext cx="69850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5E5C5"/>
                </a:solidFill>
                <a:latin typeface="Heiti TC"/>
              </a:rPr>
              <a:t>NEONSHIFT  /  E  ·  中文對稿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95000" y="412750"/>
            <a:ext cx="9525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6CF"/>
                </a:solidFill>
                <a:latin typeface="Heiti TC"/>
              </a:rPr>
              <a:t>10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206500"/>
            <a:ext cx="1117600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下一步：質押 SKR，</a:t>
            </a:r>
          </a:p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依等級加成。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2984500"/>
            <a:ext cx="11176000" cy="889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跑鞋等級越高，質押加成越高。</a:t>
            </a:r>
          </a:p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質押獎勵的固定比例</a:t>
            </a:r>
          </a:p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撥入野生動物保育。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750" y="4127500"/>
            <a:ext cx="11176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5E5C5"/>
                </a:solidFill>
                <a:latin typeface="Heiti TC"/>
              </a:rPr>
              <a:t>規劃中 · 尚未上線 · 比率未定案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0499" y="1016000"/>
            <a:ext cx="3810000" cy="24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8B6CF"/>
                </a:solidFill>
                <a:latin typeface="Heiti TC"/>
              </a:rPr>
              <a:t>質押加成（示意）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810499" y="1301750"/>
            <a:ext cx="3810000" cy="4826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1441450"/>
            <a:ext cx="2095499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3F7FF"/>
                </a:solidFill>
                <a:latin typeface="Heiti TC"/>
              </a:rPr>
              <a:t>LV.1 原點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95000" y="1441450"/>
            <a:ext cx="698500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5E5C5"/>
                </a:solidFill>
                <a:latin typeface="Heiti TC"/>
              </a:rPr>
              <a:t>+5%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10499" y="1885950"/>
            <a:ext cx="3810000" cy="4826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1000" y="2025650"/>
            <a:ext cx="2095499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3F7FF"/>
                </a:solidFill>
                <a:latin typeface="Heiti TC"/>
              </a:rPr>
              <a:t>LV.2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95000" y="2025650"/>
            <a:ext cx="698500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5E5C5"/>
                </a:solidFill>
                <a:latin typeface="Heiti TC"/>
              </a:rPr>
              <a:t>+10%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10499" y="2470150"/>
            <a:ext cx="3810000" cy="4826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2609850"/>
            <a:ext cx="2095499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3F7FF"/>
                </a:solidFill>
                <a:latin typeface="Heiti TC"/>
              </a:rPr>
              <a:t>LV.3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95000" y="2609850"/>
            <a:ext cx="698500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5E5C5"/>
                </a:solidFill>
                <a:latin typeface="Heiti TC"/>
              </a:rPr>
              <a:t>+15%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0499" y="3054350"/>
            <a:ext cx="3810000" cy="4826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1000" y="3194050"/>
            <a:ext cx="2095499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3F7FF"/>
                </a:solidFill>
                <a:latin typeface="Heiti TC"/>
              </a:rPr>
              <a:t>LV.4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95000" y="3194050"/>
            <a:ext cx="698500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5E5C5"/>
                </a:solidFill>
                <a:latin typeface="Heiti TC"/>
              </a:rPr>
              <a:t>+20%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10499" y="3638550"/>
            <a:ext cx="3810000" cy="4826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1000" y="3778250"/>
            <a:ext cx="2095499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3F7FF"/>
                </a:solidFill>
                <a:latin typeface="Heiti TC"/>
              </a:rPr>
              <a:t>LV.5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95000" y="3778250"/>
            <a:ext cx="698500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5E5C5"/>
                </a:solidFill>
                <a:latin typeface="Heiti TC"/>
              </a:rPr>
              <a:t>+25%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10499" y="4311650"/>
            <a:ext cx="3810000" cy="571500"/>
          </a:xfrm>
          <a:prstGeom prst="rect">
            <a:avLst/>
          </a:prstGeom>
          <a:solidFill>
            <a:srgbClr val="1B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1000" y="4400550"/>
            <a:ext cx="2667000" cy="24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D080"/>
                </a:solidFill>
                <a:latin typeface="Heiti TC"/>
              </a:rPr>
              <a:t>保育提撥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1000" y="4629150"/>
            <a:ext cx="3302000" cy="24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3F7FF"/>
                </a:solidFill>
                <a:latin typeface="Heiti TC"/>
              </a:rPr>
              <a:t>質押獎勵的 10%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750" y="5353050"/>
            <a:ext cx="111125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D080"/>
                </a:solidFill>
                <a:latin typeface="Heiti TC"/>
              </a:rPr>
              <a:t>規劃中 · 尚未實作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12750"/>
            <a:ext cx="50800" cy="158750"/>
          </a:xfrm>
          <a:prstGeom prst="rect">
            <a:avLst/>
          </a:prstGeom>
          <a:solidFill>
            <a:srgbClr val="35E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412750"/>
            <a:ext cx="69850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5E5C5"/>
                </a:solidFill>
                <a:latin typeface="Heiti TC"/>
              </a:rPr>
              <a:t>NEONSHIFT  /  E  ·  中文對稿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95000" y="412750"/>
            <a:ext cx="9525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6CF"/>
                </a:solidFill>
                <a:latin typeface="Heiti TC"/>
              </a:rPr>
              <a:t>11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206500"/>
            <a:ext cx="1117600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為自己而動，</a:t>
            </a:r>
          </a:p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為棲地同行。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2984500"/>
            <a:ext cx="11176000" cy="330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探索 NeonShift。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750" y="4127500"/>
            <a:ext cx="11176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5E5C5"/>
                </a:solidFill>
                <a:latin typeface="Heiti TC"/>
              </a:rPr>
              <a:t>ANDROID APP / 原始碼 / 評審指南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750" y="5353050"/>
            <a:ext cx="111125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D080"/>
                </a:solidFill>
                <a:latin typeface="Heiti TC"/>
              </a:rPr>
              <a:t>NEONSHIFT · SOLANA MOBILE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