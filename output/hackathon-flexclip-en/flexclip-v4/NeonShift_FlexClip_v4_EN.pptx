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keeps us moving after the first few days? NeonShift turns everyday movement into visible progress, wildlife-inspired shoes, and a reason to return.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for Solana Mobile, it connects daily activity with achievements you can collect and verify.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walk or a run. Record your workout, save it on your phone, and review your progress in the Activity journal.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automatic sync when online, with saved workouts processed oldest first. Starter shoes and level upgrades remain free. Recording a workout does not automatically qualify you for a reward.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Qualifying activity connects to a claim on Solana devnet. For daily steps, an Android Health Connect summary is checked before wallet approval. View the resulting transaction in the explorer.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health records are not published onchain. Achievement collectibles have their own requirements and approval process. The blockchain records the claim, not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NeonShift gives token payments a cosmetic purpose. Eligible first-five-kilometer runners can unlock a Genesis Mint frame, paid with a test token on devnet. The server sets the order, price, and recipient.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details, then approve in your wallet. After the server verifies the confirmed transfer onchain, the frame unlocks for that wallet. This payment uses test tokens, not official SKR. It buys no experience points, records, or achievements.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Wild Guardians connect your progress with conservation learning. Local community pilots are planned. No partnership or donation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stake SKR to boost daily mission rewards, with higher boosts at higher shoe levels. A fixed share of the boost will fund a separately tracked wildlife conservation pool. Rates are not final.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Explore the Android app, source code, and reviewer guide through the submission links. Move for yourself. Move together for nature.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A</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01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Daily movement.</a:t>
            </a:r>
          </a:p>
          <a:p>
            <a:pPr>
              <a:lnSpc>
                <a:spcPts val="4300"/>
              </a:lnSpc>
              <a:spcBef>
                <a:spcPts val="0"/>
              </a:spcBef>
              <a:spcAft>
                <a:spcPts val="0"/>
              </a:spcAft>
            </a:pPr>
            <a:r>
              <a:rPr sz="3500" b="1">
                <a:solidFill>
                  <a:srgbClr val="F3F7FF"/>
                </a:solidFill>
                <a:latin typeface="Arial"/>
              </a:rPr>
              <a:t>Visible progress.</a:t>
            </a:r>
          </a:p>
        </p:txBody>
      </p:sp>
      <p:sp>
        <p:nvSpPr>
          <p:cNvPr id="6" name="TextBox 5"/>
          <p:cNvSpPr txBox="1"/>
          <p:nvPr/>
        </p:nvSpPr>
        <p:spPr>
          <a:xfrm>
            <a:off x="539750" y="2984500"/>
            <a:ext cx="7112000" cy="3302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A reason to return, every day.</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MOVE  /  GROW  /  COLLECT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1_home-top.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A</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02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Built for</a:t>
            </a:r>
          </a:p>
          <a:p>
            <a:pPr>
              <a:lnSpc>
                <a:spcPts val="4300"/>
              </a:lnSpc>
              <a:spcBef>
                <a:spcPts val="0"/>
              </a:spcBef>
              <a:spcAft>
                <a:spcPts val="0"/>
              </a:spcAft>
            </a:pPr>
            <a:r>
              <a:rPr sz="3500" b="1">
                <a:solidFill>
                  <a:srgbClr val="F3F7FF"/>
                </a:solidFill>
                <a:latin typeface="Arial"/>
              </a:rPr>
              <a:t>Solana Mobile.</a:t>
            </a:r>
          </a:p>
        </p:txBody>
      </p:sp>
      <p:sp>
        <p:nvSpPr>
          <p:cNvPr id="6" name="TextBox 5"/>
          <p:cNvSpPr txBox="1"/>
          <p:nvPr/>
        </p:nvSpPr>
        <p:spPr>
          <a:xfrm>
            <a:off x="539750" y="2984500"/>
            <a:ext cx="11176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Phone-based workouts.</a:t>
            </a:r>
          </a:p>
          <a:p>
            <a:pPr>
              <a:lnSpc>
                <a:spcPts val="2200"/>
              </a:lnSpc>
              <a:spcBef>
                <a:spcPts val="0"/>
              </a:spcBef>
              <a:spcAft>
                <a:spcPts val="0"/>
              </a:spcAft>
            </a:pPr>
            <a:r>
              <a:rPr sz="1800" b="0">
                <a:solidFill>
                  <a:srgbClr val="A8B6CF"/>
                </a:solidFill>
                <a:latin typeface="Arial"/>
              </a:rPr>
              <a:t>Health summaries. Wallet approval.</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MOBILE-FIRST FITNESS</a:t>
            </a:r>
          </a:p>
        </p:txBody>
      </p:sp>
      <p:sp>
        <p:nvSpPr>
          <p:cNvPr id="8" name="Rectangle 7"/>
          <p:cNvSpPr/>
          <p:nvPr/>
        </p:nvSpPr>
        <p:spPr>
          <a:xfrm>
            <a:off x="7810499" y="14922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192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01</a:t>
            </a:r>
          </a:p>
        </p:txBody>
      </p:sp>
      <p:sp>
        <p:nvSpPr>
          <p:cNvPr id="10" name="TextBox 9"/>
          <p:cNvSpPr txBox="1"/>
          <p:nvPr/>
        </p:nvSpPr>
        <p:spPr>
          <a:xfrm>
            <a:off x="8001000" y="19050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PHONE WORKOUTS</a:t>
            </a:r>
          </a:p>
        </p:txBody>
      </p:sp>
      <p:sp>
        <p:nvSpPr>
          <p:cNvPr id="11" name="Rectangle 10"/>
          <p:cNvSpPr/>
          <p:nvPr/>
        </p:nvSpPr>
        <p:spPr>
          <a:xfrm>
            <a:off x="7810499" y="25844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7114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02</a:t>
            </a:r>
          </a:p>
        </p:txBody>
      </p:sp>
      <p:sp>
        <p:nvSpPr>
          <p:cNvPr id="13" name="TextBox 12"/>
          <p:cNvSpPr txBox="1"/>
          <p:nvPr/>
        </p:nvSpPr>
        <p:spPr>
          <a:xfrm>
            <a:off x="8001000" y="29972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HEALTH SUMMARY</a:t>
            </a:r>
          </a:p>
        </p:txBody>
      </p:sp>
      <p:sp>
        <p:nvSpPr>
          <p:cNvPr id="14" name="Rectangle 13"/>
          <p:cNvSpPr/>
          <p:nvPr/>
        </p:nvSpPr>
        <p:spPr>
          <a:xfrm>
            <a:off x="7810499" y="3676649"/>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8036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03</a:t>
            </a:r>
          </a:p>
        </p:txBody>
      </p:sp>
      <p:sp>
        <p:nvSpPr>
          <p:cNvPr id="16" name="TextBox 15"/>
          <p:cNvSpPr txBox="1"/>
          <p:nvPr/>
        </p:nvSpPr>
        <p:spPr>
          <a:xfrm>
            <a:off x="8001000" y="40894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WALLET APPROVAL</a:t>
            </a:r>
          </a:p>
        </p:txBody>
      </p:sp>
      <p:sp>
        <p:nvSpPr>
          <p:cNvPr id="17" name="TextBox 1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PRODUCT OVERVIEW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B</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03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Walk. Run.</a:t>
            </a:r>
          </a:p>
          <a:p>
            <a:pPr>
              <a:lnSpc>
                <a:spcPts val="4300"/>
              </a:lnSpc>
              <a:spcBef>
                <a:spcPts val="0"/>
              </a:spcBef>
              <a:spcAft>
                <a:spcPts val="0"/>
              </a:spcAft>
            </a:pPr>
            <a:r>
              <a:rPr sz="3500" b="1">
                <a:solidFill>
                  <a:srgbClr val="F3F7FF"/>
                </a:solidFill>
                <a:latin typeface="Arial"/>
              </a:rPr>
              <a:t>See your progress.</a:t>
            </a:r>
          </a:p>
        </p:txBody>
      </p:sp>
      <p:sp>
        <p:nvSpPr>
          <p:cNvPr id="6" name="TextBox 5"/>
          <p:cNvSpPr txBox="1"/>
          <p:nvPr/>
        </p:nvSpPr>
        <p:spPr>
          <a:xfrm>
            <a:off x="539750" y="2984500"/>
            <a:ext cx="7112000" cy="3302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Record → Save → Review</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YOUR ACTIVITY JOURNAL</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4_summary-finished.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B</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04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Sync when</a:t>
            </a:r>
          </a:p>
          <a:p>
            <a:pPr>
              <a:lnSpc>
                <a:spcPts val="4300"/>
              </a:lnSpc>
              <a:spcBef>
                <a:spcPts val="0"/>
              </a:spcBef>
              <a:spcAft>
                <a:spcPts val="0"/>
              </a:spcAft>
            </a:pPr>
            <a:r>
              <a:rPr sz="3500" b="1">
                <a:solidFill>
                  <a:srgbClr val="F3F7FF"/>
                </a:solidFill>
                <a:latin typeface="Arial"/>
              </a:rPr>
              <a:t>you are ready.</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Optional online sync.</a:t>
            </a:r>
          </a:p>
          <a:p>
            <a:pPr>
              <a:lnSpc>
                <a:spcPts val="2200"/>
              </a:lnSpc>
              <a:spcBef>
                <a:spcPts val="0"/>
              </a:spcBef>
              <a:spcAft>
                <a:spcPts val="0"/>
              </a:spcAft>
            </a:pPr>
            <a:r>
              <a:rPr sz="1800" b="0">
                <a:solidFill>
                  <a:srgbClr val="A8B6CF"/>
                </a:solidFill>
                <a:latin typeface="Arial"/>
              </a:rPr>
              <a:t>Oldest workout first.</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STARTER SHOES + UPGRADES: NO PURCHASE NEEDED</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4_profile-sync.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C</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05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Your approval.</a:t>
            </a:r>
          </a:p>
          <a:p>
            <a:pPr>
              <a:lnSpc>
                <a:spcPts val="4300"/>
              </a:lnSpc>
              <a:spcBef>
                <a:spcPts val="0"/>
              </a:spcBef>
              <a:spcAft>
                <a:spcPts val="0"/>
              </a:spcAft>
            </a:pPr>
            <a:r>
              <a:rPr sz="3500" b="1">
                <a:solidFill>
                  <a:srgbClr val="F3F7FF"/>
                </a:solidFill>
                <a:latin typeface="Arial"/>
              </a:rPr>
              <a:t>An onchain claim.</a:t>
            </a:r>
          </a:p>
        </p:txBody>
      </p:sp>
      <p:sp>
        <p:nvSpPr>
          <p:cNvPr id="6" name="TextBox 5"/>
          <p:cNvSpPr txBox="1"/>
          <p:nvPr/>
        </p:nvSpPr>
        <p:spPr>
          <a:xfrm>
            <a:off x="539750" y="2984500"/>
            <a:ext cx="11176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Qualifying summary</a:t>
            </a:r>
          </a:p>
          <a:p>
            <a:pPr>
              <a:lnSpc>
                <a:spcPts val="2200"/>
              </a:lnSpc>
              <a:spcBef>
                <a:spcPts val="0"/>
              </a:spcBef>
              <a:spcAft>
                <a:spcPts val="0"/>
              </a:spcAft>
            </a:pPr>
            <a:r>
              <a:rPr sz="1800" b="0">
                <a:solidFill>
                  <a:srgbClr val="A8B6CF"/>
                </a:solidFill>
                <a:latin typeface="Arial"/>
              </a:rPr>
              <a:t>→ Wallet approval → Explorer</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SOLANA DEVNET</a:t>
            </a:r>
          </a:p>
        </p:txBody>
      </p:sp>
      <p:sp>
        <p:nvSpPr>
          <p:cNvPr id="8" name="Rectangle 7"/>
          <p:cNvSpPr/>
          <p:nvPr/>
        </p:nvSpPr>
        <p:spPr>
          <a:xfrm>
            <a:off x="7810499" y="14922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6192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01</a:t>
            </a:r>
          </a:p>
        </p:txBody>
      </p:sp>
      <p:sp>
        <p:nvSpPr>
          <p:cNvPr id="10" name="TextBox 9"/>
          <p:cNvSpPr txBox="1"/>
          <p:nvPr/>
        </p:nvSpPr>
        <p:spPr>
          <a:xfrm>
            <a:off x="8001000" y="19050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QUALIFYING SUMMARY</a:t>
            </a:r>
          </a:p>
        </p:txBody>
      </p:sp>
      <p:sp>
        <p:nvSpPr>
          <p:cNvPr id="11" name="Rectangle 10"/>
          <p:cNvSpPr/>
          <p:nvPr/>
        </p:nvSpPr>
        <p:spPr>
          <a:xfrm>
            <a:off x="7810499" y="2584450"/>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27114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02</a:t>
            </a:r>
          </a:p>
        </p:txBody>
      </p:sp>
      <p:sp>
        <p:nvSpPr>
          <p:cNvPr id="13" name="TextBox 12"/>
          <p:cNvSpPr txBox="1"/>
          <p:nvPr/>
        </p:nvSpPr>
        <p:spPr>
          <a:xfrm>
            <a:off x="8001000" y="29972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WALLET APPROVAL</a:t>
            </a:r>
          </a:p>
        </p:txBody>
      </p:sp>
      <p:sp>
        <p:nvSpPr>
          <p:cNvPr id="14" name="Rectangle 13"/>
          <p:cNvSpPr/>
          <p:nvPr/>
        </p:nvSpPr>
        <p:spPr>
          <a:xfrm>
            <a:off x="7810499" y="3676649"/>
            <a:ext cx="3810000" cy="825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803650"/>
            <a:ext cx="571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03</a:t>
            </a:r>
          </a:p>
        </p:txBody>
      </p:sp>
      <p:sp>
        <p:nvSpPr>
          <p:cNvPr id="16" name="TextBox 15"/>
          <p:cNvSpPr txBox="1"/>
          <p:nvPr/>
        </p:nvSpPr>
        <p:spPr>
          <a:xfrm>
            <a:off x="8001000" y="4089400"/>
            <a:ext cx="339725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3F7FF"/>
                </a:solidFill>
                <a:latin typeface="Arial"/>
              </a:rPr>
              <a:t>DEVNET EXPLORER</a:t>
            </a:r>
          </a:p>
        </p:txBody>
      </p:sp>
      <p:sp>
        <p:nvSpPr>
          <p:cNvPr id="17" name="TextBox 1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WORKFLOW OVERVIEW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C</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06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Collect milestones.</a:t>
            </a:r>
          </a:p>
          <a:p>
            <a:pPr>
              <a:lnSpc>
                <a:spcPts val="4300"/>
              </a:lnSpc>
              <a:spcBef>
                <a:spcPts val="0"/>
              </a:spcBef>
              <a:spcAft>
                <a:spcPts val="0"/>
              </a:spcAft>
            </a:pPr>
            <a:r>
              <a:rPr sz="3500" b="1">
                <a:solidFill>
                  <a:srgbClr val="F3F7FF"/>
                </a:solidFill>
                <a:latin typeface="Arial"/>
              </a:rPr>
              <a:t>Keep the meaning.</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Achievements have their own</a:t>
            </a:r>
          </a:p>
          <a:p>
            <a:pPr>
              <a:lnSpc>
                <a:spcPts val="2200"/>
              </a:lnSpc>
              <a:spcBef>
                <a:spcPts val="0"/>
              </a:spcBef>
              <a:spcAft>
                <a:spcPts val="0"/>
              </a:spcAft>
            </a:pPr>
            <a:r>
              <a:rPr sz="1800" b="0">
                <a:solidFill>
                  <a:srgbClr val="A8B6CF"/>
                </a:solidFill>
                <a:latin typeface="Arial"/>
              </a:rPr>
              <a:t>requirements and approval.</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RAW HEALTH RECORDS: NOT ONCHAIN</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6_nft-first5k-detail.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REAL DATA · NO DEMO OVERRIDE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D</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07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Earn eligibility.</a:t>
            </a:r>
          </a:p>
          <a:p>
            <a:pPr>
              <a:lnSpc>
                <a:spcPts val="4300"/>
              </a:lnSpc>
              <a:spcBef>
                <a:spcPts val="0"/>
              </a:spcBef>
              <a:spcAft>
                <a:spcPts val="0"/>
              </a:spcAft>
            </a:pPr>
            <a:r>
              <a:rPr sz="3500" b="1">
                <a:solidFill>
                  <a:srgbClr val="F3F7FF"/>
                </a:solidFill>
                <a:latin typeface="Arial"/>
              </a:rPr>
              <a:t>Unlock your frame.</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Verified first 5K eligibility.</a:t>
            </a:r>
          </a:p>
          <a:p>
            <a:pPr>
              <a:lnSpc>
                <a:spcPts val="2200"/>
              </a:lnSpc>
              <a:spcBef>
                <a:spcPts val="0"/>
              </a:spcBef>
              <a:spcAft>
                <a:spcPts val="0"/>
              </a:spcAft>
            </a:pPr>
            <a:r>
              <a:rPr sz="1800" b="0">
                <a:solidFill>
                  <a:srgbClr val="A8B6CF"/>
                </a:solidFill>
                <a:latin typeface="Arial"/>
              </a:rPr>
              <a:t>Server-set order, price, recipient.</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COSMETIC PAYMENT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1-skr-devnet-eligible.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01 · APK CODE 11</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TEST SKR · DEVNET · NOT OFFICIAL SKR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D</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08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Confirmed payment.</a:t>
            </a:r>
          </a:p>
          <a:p>
            <a:pPr>
              <a:lnSpc>
                <a:spcPts val="4300"/>
              </a:lnSpc>
              <a:spcBef>
                <a:spcPts val="0"/>
              </a:spcBef>
              <a:spcAft>
                <a:spcPts val="0"/>
              </a:spcAft>
            </a:pPr>
            <a:r>
              <a:rPr sz="3500" b="1">
                <a:solidFill>
                  <a:srgbClr val="F3F7FF"/>
                </a:solidFill>
                <a:latin typeface="Arial"/>
              </a:rPr>
              <a:t>Unlocked frame.</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Wallet approval → Onchain check</a:t>
            </a:r>
          </a:p>
          <a:p>
            <a:pPr>
              <a:lnSpc>
                <a:spcPts val="2200"/>
              </a:lnSpc>
              <a:spcBef>
                <a:spcPts val="0"/>
              </a:spcBef>
              <a:spcAft>
                <a:spcPts val="0"/>
              </a:spcAft>
            </a:pPr>
            <a:r>
              <a:rPr sz="1800" b="0">
                <a:solidFill>
                  <a:srgbClr val="A8B6CF"/>
                </a:solidFill>
                <a:latin typeface="Arial"/>
              </a:rPr>
              <a:t>→ Cosmetic unlock</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NO XP, RECORDS OR ACHIEVEMENTS BOUGHT</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1-skr-devnet-paid.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01 · APK CODE 11</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TEST SKR · DEVNET · NOT OFFICIAL SKR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09 / 11</a:t>
            </a:r>
          </a:p>
        </p:txBody>
      </p:sp>
      <p:sp>
        <p:nvSpPr>
          <p:cNvPr id="5" name="TextBox 4"/>
          <p:cNvSpPr txBox="1"/>
          <p:nvPr/>
        </p:nvSpPr>
        <p:spPr>
          <a:xfrm>
            <a:off x="508000" y="1206500"/>
            <a:ext cx="7112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Progress with</a:t>
            </a:r>
          </a:p>
          <a:p>
            <a:pPr>
              <a:lnSpc>
                <a:spcPts val="4300"/>
              </a:lnSpc>
              <a:spcBef>
                <a:spcPts val="0"/>
              </a:spcBef>
              <a:spcAft>
                <a:spcPts val="0"/>
              </a:spcAft>
            </a:pPr>
            <a:r>
              <a:rPr sz="3500" b="1">
                <a:solidFill>
                  <a:srgbClr val="F3F7FF"/>
                </a:solidFill>
                <a:latin typeface="Arial"/>
              </a:rPr>
              <a:t>a wildlife story.</a:t>
            </a:r>
          </a:p>
        </p:txBody>
      </p:sp>
      <p:sp>
        <p:nvSpPr>
          <p:cNvPr id="6" name="TextBox 5"/>
          <p:cNvSpPr txBox="1"/>
          <p:nvPr/>
        </p:nvSpPr>
        <p:spPr>
          <a:xfrm>
            <a:off x="539750" y="2984500"/>
            <a:ext cx="7112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Conservation learning today.</a:t>
            </a:r>
          </a:p>
          <a:p>
            <a:pPr>
              <a:lnSpc>
                <a:spcPts val="2200"/>
              </a:lnSpc>
              <a:spcBef>
                <a:spcPts val="0"/>
              </a:spcBef>
              <a:spcAft>
                <a:spcPts val="0"/>
              </a:spcAft>
            </a:pPr>
            <a:r>
              <a:rPr sz="1800" b="0">
                <a:solidFill>
                  <a:srgbClr val="A8B6CF"/>
                </a:solidFill>
                <a:latin typeface="Arial"/>
              </a:rPr>
              <a:t>Community pilots are planned.</a:t>
            </a:r>
          </a:p>
        </p:txBody>
      </p:sp>
      <p:sp>
        <p:nvSpPr>
          <p:cNvPr id="7" name="TextBox 6"/>
          <p:cNvSpPr txBox="1"/>
          <p:nvPr/>
        </p:nvSpPr>
        <p:spPr>
          <a:xfrm>
            <a:off x="539750" y="4127500"/>
            <a:ext cx="7112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TODAY: SPECIES STORY CARDS</a:t>
            </a:r>
          </a:p>
        </p:txBody>
      </p:sp>
      <p:sp>
        <p:nvSpPr>
          <p:cNvPr id="8" name="Rectangle 7"/>
          <p:cNvSpPr/>
          <p:nvPr/>
        </p:nvSpPr>
        <p:spPr>
          <a:xfrm>
            <a:off x="8128000" y="965200"/>
            <a:ext cx="3429000" cy="41275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26-10-02_c14_s09_elephant-habitat.png"/>
          <p:cNvPicPr>
            <a:picLocks noChangeAspect="1"/>
          </p:cNvPicPr>
          <p:nvPr/>
        </p:nvPicPr>
        <p:blipFill>
          <a:blip r:embed="rId2"/>
          <a:stretch>
            <a:fillRect/>
          </a:stretch>
        </p:blipFill>
        <p:spPr>
          <a:xfrm>
            <a:off x="8972550" y="1079500"/>
            <a:ext cx="1739900" cy="3873499"/>
          </a:xfrm>
          <a:prstGeom prst="rect">
            <a:avLst/>
          </a:prstGeom>
        </p:spPr>
      </p:pic>
      <p:sp>
        <p:nvSpPr>
          <p:cNvPr id="10" name="TextBox 9"/>
          <p:cNvSpPr txBox="1"/>
          <p:nvPr/>
        </p:nvSpPr>
        <p:spPr>
          <a:xfrm>
            <a:off x="539750" y="4737100"/>
            <a:ext cx="7112000" cy="247649"/>
          </a:xfrm>
          <a:prstGeom prst="rect">
            <a:avLst/>
          </a:prstGeom>
          <a:noFill/>
        </p:spPr>
        <p:txBody>
          <a:bodyPr wrap="none" lIns="0" rIns="0" tIns="0" bIns="0">
            <a:spAutoFit/>
          </a:bodyPr>
          <a:lstStyle/>
          <a:p>
            <a:pPr>
              <a:lnSpc>
                <a:spcPts val="1550"/>
              </a:lnSpc>
              <a:spcBef>
                <a:spcPts val="0"/>
              </a:spcBef>
              <a:spcAft>
                <a:spcPts val="0"/>
              </a:spcAft>
            </a:pPr>
            <a:r>
              <a:rPr sz="1250" b="0">
                <a:solidFill>
                  <a:srgbClr val="FFD080"/>
                </a:solidFill>
                <a:latin typeface="Arial"/>
              </a:rPr>
              <a:t>DEVICE CAPTURE · OCT 02 · APK CODE 14</a:t>
            </a:r>
          </a:p>
        </p:txBody>
      </p:sp>
      <p:sp>
        <p:nvSpPr>
          <p:cNvPr id="11" name="TextBox 10"/>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IN-APP STORY CARD · PILOTS PLANNED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10 / 11</a:t>
            </a:r>
          </a:p>
        </p:txBody>
      </p:sp>
      <p:sp>
        <p:nvSpPr>
          <p:cNvPr id="5" name="TextBox 4"/>
          <p:cNvSpPr txBox="1"/>
          <p:nvPr/>
        </p:nvSpPr>
        <p:spPr>
          <a:xfrm>
            <a:off x="508000" y="1206500"/>
            <a:ext cx="11176000" cy="11430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Next: stake SKR.</a:t>
            </a:r>
          </a:p>
          <a:p>
            <a:pPr>
              <a:lnSpc>
                <a:spcPts val="4300"/>
              </a:lnSpc>
              <a:spcBef>
                <a:spcPts val="0"/>
              </a:spcBef>
              <a:spcAft>
                <a:spcPts val="0"/>
              </a:spcAft>
            </a:pPr>
            <a:r>
              <a:rPr sz="3500" b="1">
                <a:solidFill>
                  <a:srgbClr val="F3F7FF"/>
                </a:solidFill>
                <a:latin typeface="Arial"/>
              </a:rPr>
              <a:t>Boost by level.</a:t>
            </a:r>
          </a:p>
        </p:txBody>
      </p:sp>
      <p:sp>
        <p:nvSpPr>
          <p:cNvPr id="6" name="TextBox 5"/>
          <p:cNvSpPr txBox="1"/>
          <p:nvPr/>
        </p:nvSpPr>
        <p:spPr>
          <a:xfrm>
            <a:off x="539750" y="2984500"/>
            <a:ext cx="11176000" cy="8890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Stake SKR to boost daily mission rewards.</a:t>
            </a:r>
          </a:p>
          <a:p>
            <a:pPr>
              <a:lnSpc>
                <a:spcPts val="2200"/>
              </a:lnSpc>
              <a:spcBef>
                <a:spcPts val="0"/>
              </a:spcBef>
              <a:spcAft>
                <a:spcPts val="0"/>
              </a:spcAft>
            </a:pPr>
            <a:r>
              <a:rPr sz="1800" b="0">
                <a:solidFill>
                  <a:srgbClr val="A8B6CF"/>
                </a:solidFill>
                <a:latin typeface="Arial"/>
              </a:rPr>
              <a:t>Higher shoe levels earn higher boosts.</a:t>
            </a:r>
          </a:p>
          <a:p>
            <a:pPr>
              <a:lnSpc>
                <a:spcPts val="2200"/>
              </a:lnSpc>
              <a:spcBef>
                <a:spcPts val="0"/>
              </a:spcBef>
              <a:spcAft>
                <a:spcPts val="0"/>
              </a:spcAft>
            </a:pPr>
            <a:r>
              <a:rPr sz="1800" b="0">
                <a:solidFill>
                  <a:srgbClr val="A8B6CF"/>
                </a:solidFill>
                <a:latin typeface="Arial"/>
              </a:rPr>
              <a:t>10% of the boost goes to wildlife conservation.</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ROADMAP  ·  NOT LIVE  ·  RATES NOT FINAL</a:t>
            </a:r>
          </a:p>
        </p:txBody>
      </p:sp>
      <p:sp>
        <p:nvSpPr>
          <p:cNvPr id="8" name="TextBox 7"/>
          <p:cNvSpPr txBox="1"/>
          <p:nvPr/>
        </p:nvSpPr>
        <p:spPr>
          <a:xfrm>
            <a:off x="7810499" y="1016000"/>
            <a:ext cx="3810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A8B6CF"/>
                </a:solidFill>
                <a:latin typeface="Arial"/>
              </a:rPr>
              <a:t>STAKING BOOST (ILLUSTRATIVE)</a:t>
            </a:r>
          </a:p>
        </p:txBody>
      </p:sp>
      <p:sp>
        <p:nvSpPr>
          <p:cNvPr id="9" name="Rectangle 8"/>
          <p:cNvSpPr/>
          <p:nvPr/>
        </p:nvSpPr>
        <p:spPr>
          <a:xfrm>
            <a:off x="7810499" y="13017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4414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LV.1  ORIGIN</a:t>
            </a:r>
          </a:p>
        </p:txBody>
      </p:sp>
      <p:sp>
        <p:nvSpPr>
          <p:cNvPr id="11" name="TextBox 10"/>
          <p:cNvSpPr txBox="1"/>
          <p:nvPr/>
        </p:nvSpPr>
        <p:spPr>
          <a:xfrm>
            <a:off x="10795000" y="14414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+1%</a:t>
            </a:r>
          </a:p>
        </p:txBody>
      </p:sp>
      <p:sp>
        <p:nvSpPr>
          <p:cNvPr id="12" name="Rectangle 11"/>
          <p:cNvSpPr/>
          <p:nvPr/>
        </p:nvSpPr>
        <p:spPr>
          <a:xfrm>
            <a:off x="7810499" y="18859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0256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LV.2</a:t>
            </a:r>
          </a:p>
        </p:txBody>
      </p:sp>
      <p:sp>
        <p:nvSpPr>
          <p:cNvPr id="14" name="TextBox 13"/>
          <p:cNvSpPr txBox="1"/>
          <p:nvPr/>
        </p:nvSpPr>
        <p:spPr>
          <a:xfrm>
            <a:off x="10795000" y="20256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+3%</a:t>
            </a:r>
          </a:p>
        </p:txBody>
      </p:sp>
      <p:sp>
        <p:nvSpPr>
          <p:cNvPr id="15" name="Rectangle 14"/>
          <p:cNvSpPr/>
          <p:nvPr/>
        </p:nvSpPr>
        <p:spPr>
          <a:xfrm>
            <a:off x="7810499" y="24701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26098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LV.3</a:t>
            </a:r>
          </a:p>
        </p:txBody>
      </p:sp>
      <p:sp>
        <p:nvSpPr>
          <p:cNvPr id="17" name="TextBox 16"/>
          <p:cNvSpPr txBox="1"/>
          <p:nvPr/>
        </p:nvSpPr>
        <p:spPr>
          <a:xfrm>
            <a:off x="10795000" y="26098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+5%</a:t>
            </a:r>
          </a:p>
        </p:txBody>
      </p:sp>
      <p:sp>
        <p:nvSpPr>
          <p:cNvPr id="18" name="Rectangle 17"/>
          <p:cNvSpPr/>
          <p:nvPr/>
        </p:nvSpPr>
        <p:spPr>
          <a:xfrm>
            <a:off x="7810499" y="30543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1940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LV.4</a:t>
            </a:r>
          </a:p>
        </p:txBody>
      </p:sp>
      <p:sp>
        <p:nvSpPr>
          <p:cNvPr id="20" name="TextBox 19"/>
          <p:cNvSpPr txBox="1"/>
          <p:nvPr/>
        </p:nvSpPr>
        <p:spPr>
          <a:xfrm>
            <a:off x="10795000" y="31940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+7%</a:t>
            </a:r>
          </a:p>
        </p:txBody>
      </p:sp>
      <p:sp>
        <p:nvSpPr>
          <p:cNvPr id="21" name="Rectangle 20"/>
          <p:cNvSpPr/>
          <p:nvPr/>
        </p:nvSpPr>
        <p:spPr>
          <a:xfrm>
            <a:off x="7810499" y="3638550"/>
            <a:ext cx="3810000" cy="482600"/>
          </a:xfrm>
          <a:prstGeom prst="rect">
            <a:avLst/>
          </a:prstGeom>
          <a:solidFill>
            <a:srgbClr val="11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0" y="3778250"/>
            <a:ext cx="2095499"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F3F7FF"/>
                </a:solidFill>
                <a:latin typeface="Arial"/>
              </a:rPr>
              <a:t>LV.5</a:t>
            </a:r>
          </a:p>
        </p:txBody>
      </p:sp>
      <p:sp>
        <p:nvSpPr>
          <p:cNvPr id="23" name="TextBox 22"/>
          <p:cNvSpPr txBox="1"/>
          <p:nvPr/>
        </p:nvSpPr>
        <p:spPr>
          <a:xfrm>
            <a:off x="10795000" y="3778250"/>
            <a:ext cx="698500" cy="260350"/>
          </a:xfrm>
          <a:prstGeom prst="rect">
            <a:avLst/>
          </a:prstGeom>
          <a:noFill/>
        </p:spPr>
        <p:txBody>
          <a:bodyPr wrap="none" lIns="0" rIns="0" tIns="0" bIns="0">
            <a:spAutoFit/>
          </a:bodyPr>
          <a:lstStyle/>
          <a:p>
            <a:pPr>
              <a:lnSpc>
                <a:spcPts val="1650"/>
              </a:lnSpc>
              <a:spcBef>
                <a:spcPts val="0"/>
              </a:spcBef>
              <a:spcAft>
                <a:spcPts val="0"/>
              </a:spcAft>
            </a:pPr>
            <a:r>
              <a:rPr sz="1350" b="1">
                <a:solidFill>
                  <a:srgbClr val="35E5C5"/>
                </a:solidFill>
                <a:latin typeface="Arial"/>
              </a:rPr>
              <a:t>+10%</a:t>
            </a:r>
          </a:p>
        </p:txBody>
      </p:sp>
      <p:sp>
        <p:nvSpPr>
          <p:cNvPr id="24" name="Rectangle 23"/>
          <p:cNvSpPr/>
          <p:nvPr/>
        </p:nvSpPr>
        <p:spPr>
          <a:xfrm>
            <a:off x="7810499" y="4311650"/>
            <a:ext cx="3810000" cy="571500"/>
          </a:xfrm>
          <a:prstGeom prst="rect">
            <a:avLst/>
          </a:prstGeom>
          <a:solidFill>
            <a:srgbClr val="1B2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4400550"/>
            <a:ext cx="2667000" cy="241300"/>
          </a:xfrm>
          <a:prstGeom prst="rect">
            <a:avLst/>
          </a:prstGeom>
          <a:noFill/>
        </p:spPr>
        <p:txBody>
          <a:bodyPr wrap="none" lIns="0" rIns="0" tIns="0" bIns="0">
            <a:spAutoFit/>
          </a:bodyPr>
          <a:lstStyle/>
          <a:p>
            <a:pPr>
              <a:lnSpc>
                <a:spcPts val="1500"/>
              </a:lnSpc>
              <a:spcBef>
                <a:spcPts val="0"/>
              </a:spcBef>
              <a:spcAft>
                <a:spcPts val="0"/>
              </a:spcAft>
            </a:pPr>
            <a:r>
              <a:rPr sz="1200" b="1">
                <a:solidFill>
                  <a:srgbClr val="FFD080"/>
                </a:solidFill>
                <a:latin typeface="Arial"/>
              </a:rPr>
              <a:t>CONSERVATION SHARE</a:t>
            </a:r>
          </a:p>
        </p:txBody>
      </p:sp>
      <p:sp>
        <p:nvSpPr>
          <p:cNvPr id="26" name="TextBox 25"/>
          <p:cNvSpPr txBox="1"/>
          <p:nvPr/>
        </p:nvSpPr>
        <p:spPr>
          <a:xfrm>
            <a:off x="8001000" y="4629150"/>
            <a:ext cx="3302000" cy="241300"/>
          </a:xfrm>
          <a:prstGeom prst="rect">
            <a:avLst/>
          </a:prstGeom>
          <a:noFill/>
        </p:spPr>
        <p:txBody>
          <a:bodyPr wrap="none" lIns="0" rIns="0" tIns="0" bIns="0">
            <a:spAutoFit/>
          </a:bodyPr>
          <a:lstStyle/>
          <a:p>
            <a:pPr>
              <a:lnSpc>
                <a:spcPts val="1500"/>
              </a:lnSpc>
              <a:spcBef>
                <a:spcPts val="0"/>
              </a:spcBef>
              <a:spcAft>
                <a:spcPts val="0"/>
              </a:spcAft>
            </a:pPr>
            <a:r>
              <a:rPr sz="1200" b="0">
                <a:solidFill>
                  <a:srgbClr val="F3F7FF"/>
                </a:solidFill>
                <a:latin typeface="Arial"/>
              </a:rPr>
              <a:t>10% of the boost</a:t>
            </a:r>
          </a:p>
        </p:txBody>
      </p:sp>
      <p:sp>
        <p:nvSpPr>
          <p:cNvPr id="27" name="TextBox 26"/>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PLANNED · NOT IMPLEMENTED · NO RETURNS PROMISED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B16"/>
        </a:solidFill>
        <a:effectLst/>
      </p:bgPr>
    </p:bg>
    <p:spTree>
      <p:nvGrpSpPr>
        <p:cNvPr id="1" name=""/>
        <p:cNvGrpSpPr/>
        <p:nvPr/>
      </p:nvGrpSpPr>
      <p:grpSpPr/>
      <p:sp>
        <p:nvSpPr>
          <p:cNvPr id="2" name="Rectangle 1"/>
          <p:cNvSpPr/>
          <p:nvPr/>
        </p:nvSpPr>
        <p:spPr>
          <a:xfrm>
            <a:off x="508000" y="412750"/>
            <a:ext cx="50800" cy="158750"/>
          </a:xfrm>
          <a:prstGeom prst="rect">
            <a:avLst/>
          </a:prstGeom>
          <a:solidFill>
            <a:srgbClr val="35E5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8500" y="412750"/>
            <a:ext cx="6985000" cy="254000"/>
          </a:xfrm>
          <a:prstGeom prst="rect">
            <a:avLst/>
          </a:prstGeom>
          <a:noFill/>
        </p:spPr>
        <p:txBody>
          <a:bodyPr wrap="none" lIns="0" rIns="0" tIns="0" bIns="0">
            <a:spAutoFit/>
          </a:bodyPr>
          <a:lstStyle/>
          <a:p>
            <a:pPr>
              <a:lnSpc>
                <a:spcPts val="1600"/>
              </a:lnSpc>
              <a:spcBef>
                <a:spcPts val="0"/>
              </a:spcBef>
              <a:spcAft>
                <a:spcPts val="0"/>
              </a:spcAft>
            </a:pPr>
            <a:r>
              <a:rPr sz="1300" b="1">
                <a:solidFill>
                  <a:srgbClr val="35E5C5"/>
                </a:solidFill>
                <a:latin typeface="Arial"/>
              </a:rPr>
              <a:t>NEONSHIFT  /  E</a:t>
            </a:r>
          </a:p>
        </p:txBody>
      </p:sp>
      <p:sp>
        <p:nvSpPr>
          <p:cNvPr id="4" name="TextBox 3"/>
          <p:cNvSpPr txBox="1"/>
          <p:nvPr/>
        </p:nvSpPr>
        <p:spPr>
          <a:xfrm>
            <a:off x="10795000" y="412750"/>
            <a:ext cx="952500" cy="254000"/>
          </a:xfrm>
          <a:prstGeom prst="rect">
            <a:avLst/>
          </a:prstGeom>
          <a:noFill/>
        </p:spPr>
        <p:txBody>
          <a:bodyPr wrap="none" lIns="0" rIns="0" tIns="0" bIns="0">
            <a:spAutoFit/>
          </a:bodyPr>
          <a:lstStyle/>
          <a:p>
            <a:pPr>
              <a:lnSpc>
                <a:spcPts val="1600"/>
              </a:lnSpc>
              <a:spcBef>
                <a:spcPts val="0"/>
              </a:spcBef>
              <a:spcAft>
                <a:spcPts val="0"/>
              </a:spcAft>
            </a:pPr>
            <a:r>
              <a:rPr sz="1300" b="0">
                <a:solidFill>
                  <a:srgbClr val="A8B6CF"/>
                </a:solidFill>
                <a:latin typeface="Arial"/>
              </a:rPr>
              <a:t>11 / 11</a:t>
            </a:r>
          </a:p>
        </p:txBody>
      </p:sp>
      <p:sp>
        <p:nvSpPr>
          <p:cNvPr id="5" name="TextBox 4"/>
          <p:cNvSpPr txBox="1"/>
          <p:nvPr/>
        </p:nvSpPr>
        <p:spPr>
          <a:xfrm>
            <a:off x="508000" y="1206500"/>
            <a:ext cx="11176000" cy="1689100"/>
          </a:xfrm>
          <a:prstGeom prst="rect">
            <a:avLst/>
          </a:prstGeom>
          <a:noFill/>
        </p:spPr>
        <p:txBody>
          <a:bodyPr wrap="none" lIns="0" rIns="0" tIns="0" bIns="0">
            <a:spAutoFit/>
          </a:bodyPr>
          <a:lstStyle/>
          <a:p>
            <a:pPr>
              <a:lnSpc>
                <a:spcPts val="4300"/>
              </a:lnSpc>
              <a:spcBef>
                <a:spcPts val="0"/>
              </a:spcBef>
              <a:spcAft>
                <a:spcPts val="0"/>
              </a:spcAft>
            </a:pPr>
            <a:r>
              <a:rPr sz="3500" b="1">
                <a:solidFill>
                  <a:srgbClr val="F3F7FF"/>
                </a:solidFill>
                <a:latin typeface="Arial"/>
              </a:rPr>
              <a:t>Move for yourself.</a:t>
            </a:r>
          </a:p>
          <a:p>
            <a:pPr>
              <a:lnSpc>
                <a:spcPts val="4300"/>
              </a:lnSpc>
              <a:spcBef>
                <a:spcPts val="0"/>
              </a:spcBef>
              <a:spcAft>
                <a:spcPts val="0"/>
              </a:spcAft>
            </a:pPr>
            <a:r>
              <a:rPr sz="3500" b="1">
                <a:solidFill>
                  <a:srgbClr val="F3F7FF"/>
                </a:solidFill>
                <a:latin typeface="Arial"/>
              </a:rPr>
              <a:t>Move together</a:t>
            </a:r>
          </a:p>
          <a:p>
            <a:pPr>
              <a:lnSpc>
                <a:spcPts val="4300"/>
              </a:lnSpc>
              <a:spcBef>
                <a:spcPts val="0"/>
              </a:spcBef>
              <a:spcAft>
                <a:spcPts val="0"/>
              </a:spcAft>
            </a:pPr>
            <a:r>
              <a:rPr sz="3500" b="1">
                <a:solidFill>
                  <a:srgbClr val="F3F7FF"/>
                </a:solidFill>
                <a:latin typeface="Arial"/>
              </a:rPr>
              <a:t>for nature.</a:t>
            </a:r>
          </a:p>
        </p:txBody>
      </p:sp>
      <p:sp>
        <p:nvSpPr>
          <p:cNvPr id="6" name="TextBox 5"/>
          <p:cNvSpPr txBox="1"/>
          <p:nvPr/>
        </p:nvSpPr>
        <p:spPr>
          <a:xfrm>
            <a:off x="539750" y="3098800"/>
            <a:ext cx="11176000" cy="609600"/>
          </a:xfrm>
          <a:prstGeom prst="rect">
            <a:avLst/>
          </a:prstGeom>
          <a:noFill/>
        </p:spPr>
        <p:txBody>
          <a:bodyPr wrap="none" lIns="0" rIns="0" tIns="0" bIns="0">
            <a:spAutoFit/>
          </a:bodyPr>
          <a:lstStyle/>
          <a:p>
            <a:pPr>
              <a:lnSpc>
                <a:spcPts val="2200"/>
              </a:lnSpc>
              <a:spcBef>
                <a:spcPts val="0"/>
              </a:spcBef>
              <a:spcAft>
                <a:spcPts val="0"/>
              </a:spcAft>
            </a:pPr>
            <a:r>
              <a:rPr sz="1800" b="0">
                <a:solidFill>
                  <a:srgbClr val="A8B6CF"/>
                </a:solidFill>
                <a:latin typeface="Arial"/>
              </a:rPr>
              <a:t>Explore NeonShift.</a:t>
            </a:r>
          </a:p>
          <a:p>
            <a:pPr>
              <a:lnSpc>
                <a:spcPts val="2200"/>
              </a:lnSpc>
              <a:spcBef>
                <a:spcPts val="0"/>
              </a:spcBef>
              <a:spcAft>
                <a:spcPts val="0"/>
              </a:spcAft>
            </a:pPr>
            <a:r>
              <a:rPr sz="1800" b="0">
                <a:solidFill>
                  <a:srgbClr val="A8B6CF"/>
                </a:solidFill>
                <a:latin typeface="Arial"/>
              </a:rPr>
              <a:t>github.com/stan0714/neonshift  ·  neonshift.cc</a:t>
            </a:r>
          </a:p>
        </p:txBody>
      </p:sp>
      <p:sp>
        <p:nvSpPr>
          <p:cNvPr id="7" name="TextBox 6"/>
          <p:cNvSpPr txBox="1"/>
          <p:nvPr/>
        </p:nvSpPr>
        <p:spPr>
          <a:xfrm>
            <a:off x="539750" y="4127500"/>
            <a:ext cx="111760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35E5C5"/>
                </a:solidFill>
                <a:latin typeface="Arial"/>
              </a:rPr>
              <a:t>ANDROID APP  /  SOURCE  /  REVIEWER GUIDE</a:t>
            </a:r>
          </a:p>
        </p:txBody>
      </p:sp>
      <p:sp>
        <p:nvSpPr>
          <p:cNvPr id="8" name="TextBox 7"/>
          <p:cNvSpPr txBox="1"/>
          <p:nvPr/>
        </p:nvSpPr>
        <p:spPr>
          <a:xfrm>
            <a:off x="539750" y="5353050"/>
            <a:ext cx="11112500" cy="247649"/>
          </a:xfrm>
          <a:prstGeom prst="rect">
            <a:avLst/>
          </a:prstGeom>
          <a:noFill/>
        </p:spPr>
        <p:txBody>
          <a:bodyPr wrap="none" lIns="0" rIns="0" tIns="0" bIns="0">
            <a:spAutoFit/>
          </a:bodyPr>
          <a:lstStyle/>
          <a:p>
            <a:pPr>
              <a:lnSpc>
                <a:spcPts val="1550"/>
              </a:lnSpc>
              <a:spcBef>
                <a:spcPts val="0"/>
              </a:spcBef>
              <a:spcAft>
                <a:spcPts val="0"/>
              </a:spcAft>
            </a:pPr>
            <a:r>
              <a:rPr sz="1250" b="1">
                <a:solidFill>
                  <a:srgbClr val="FFD080"/>
                </a:solidFill>
                <a:latin typeface="Arial"/>
              </a:rPr>
              <a:t>NEONSHIFT · SOLANA MOBILE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