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keeps us moving after the first few days? NeonShift turns everyday movement into visible progress, wildlife-inspired shoes, and a reason to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Solana Mobile, it connects daily activity with achievements you can collect and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walk or a run. Record your workout, save it on your phone, and review your progress in the Activity journal.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sync when online, with saved workouts processed oldest first. Starter shoes and level upgrades remain free. Recording a workout does not automatically qualify you for a reward.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Qualifying activity connects to a claim on Solana devnet. For daily steps, an Android Health Connect summary is checked before wallet approval. View the resulting transaction in the explorer.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health records are not published onchain. Achievement collectibles have their own requirements and approval process. The blockchain records the claim, not every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NeonShift gives token payments a cosmetic purpose. Eligible first-five-kilometer runners can unlock a Genesis Mint frame, paid with a test token on devnet. The server sets the order, price, and recipient.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details, then approve in your wallet. After the server verifies the confirmed transfer onchain, the frame unlocks for that wallet. This payment uses test tokens, not official SKR. It buys no experience points, records, or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Wild Guardians connect your progress with conservation learning. Local community pilots are planned. No partnership or donation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stake SKR to boost mission rewards, with higher boosts at higher shoe levels. A fixed share of staking rewards will fund a separately tracked wildlife conservation pool. Rates are not 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the Android app, source code, and reviewer guide through the submission links. Move for yourself. Move together for 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01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Daily movement.</a:t>
            </a:r>
          </a:p>
          <a:p>
            <a:pPr>
              <a:lnSpc>
                <a:spcPts val="4300"/>
              </a:lnSpc>
              <a:spcBef>
                <a:spcPts val="0"/>
              </a:spcBef>
              <a:spcAft>
                <a:spcPts val="0"/>
              </a:spcAft>
            </a:pPr>
            <a:r>
              <a:rPr sz="3500" b="1">
                <a:solidFill>
                  <a:srgbClr val="F3F7FF"/>
                </a:solidFill>
                <a:latin typeface="Arial"/>
              </a:rPr>
              <a:t>Visible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 reason to return, every day.</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MOVE  /  GROW  /  COLLECT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1_home-top.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02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Built for</a:t>
            </a:r>
          </a:p>
          <a:p>
            <a:pPr>
              <a:lnSpc>
                <a:spcPts val="4300"/>
              </a:lnSpc>
              <a:spcBef>
                <a:spcPts val="0"/>
              </a:spcBef>
              <a:spcAft>
                <a:spcPts val="0"/>
              </a:spcAft>
            </a:pPr>
            <a:r>
              <a:rPr sz="3500" b="1">
                <a:solidFill>
                  <a:srgbClr val="F3F7FF"/>
                </a:solidFill>
                <a:latin typeface="Arial"/>
              </a:rPr>
              <a:t>Solana Mobile.</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Phone-based workouts.</a:t>
            </a:r>
          </a:p>
          <a:p>
            <a:pPr>
              <a:lnSpc>
                <a:spcPts val="2200"/>
              </a:lnSpc>
              <a:spcBef>
                <a:spcPts val="0"/>
              </a:spcBef>
              <a:spcAft>
                <a:spcPts val="0"/>
              </a:spcAft>
            </a:pPr>
            <a:r>
              <a:rPr sz="1800" b="0">
                <a:solidFill>
                  <a:srgbClr val="A8B6CF"/>
                </a:solidFill>
                <a:latin typeface="Arial"/>
              </a:rPr>
              <a:t>Health summaries. Wallet approval.</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MOBILE-FIRST FITNESS</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PHONE WORKOUTS</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HEALTH SUMMARY</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PRODUCT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03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Walk. Run.</a:t>
            </a:r>
          </a:p>
          <a:p>
            <a:pPr>
              <a:lnSpc>
                <a:spcPts val="4300"/>
              </a:lnSpc>
              <a:spcBef>
                <a:spcPts val="0"/>
              </a:spcBef>
              <a:spcAft>
                <a:spcPts val="0"/>
              </a:spcAft>
            </a:pPr>
            <a:r>
              <a:rPr sz="3500" b="1">
                <a:solidFill>
                  <a:srgbClr val="F3F7FF"/>
                </a:solidFill>
                <a:latin typeface="Arial"/>
              </a:rPr>
              <a:t>See your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Record → Save → Review</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YOUR ACTIVITY JOURNAL</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4_summary-finishe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04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Sync when</a:t>
            </a:r>
          </a:p>
          <a:p>
            <a:pPr>
              <a:lnSpc>
                <a:spcPts val="4300"/>
              </a:lnSpc>
              <a:spcBef>
                <a:spcPts val="0"/>
              </a:spcBef>
              <a:spcAft>
                <a:spcPts val="0"/>
              </a:spcAft>
            </a:pPr>
            <a:r>
              <a:rPr sz="3500" b="1">
                <a:solidFill>
                  <a:srgbClr val="F3F7FF"/>
                </a:solidFill>
                <a:latin typeface="Arial"/>
              </a:rPr>
              <a:t>you are ready.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Optional online sync.</a:t>
            </a:r>
          </a:p>
          <a:p>
            <a:pPr>
              <a:lnSpc>
                <a:spcPts val="2200"/>
              </a:lnSpc>
              <a:spcBef>
                <a:spcPts val="0"/>
              </a:spcBef>
              <a:spcAft>
                <a:spcPts val="0"/>
              </a:spcAft>
            </a:pPr>
            <a:r>
              <a:rPr sz="1800" b="0">
                <a:solidFill>
                  <a:srgbClr val="A8B6CF"/>
                </a:solidFill>
                <a:latin typeface="Arial"/>
              </a:rPr>
              <a:t>Oldest workout first.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STARTER SHOES + UPGRADES: FREE</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4_profile-sync.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05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Your approval.</a:t>
            </a:r>
          </a:p>
          <a:p>
            <a:pPr>
              <a:lnSpc>
                <a:spcPts val="4300"/>
              </a:lnSpc>
              <a:spcBef>
                <a:spcPts val="0"/>
              </a:spcBef>
              <a:spcAft>
                <a:spcPts val="0"/>
              </a:spcAft>
            </a:pPr>
            <a:r>
              <a:rPr sz="3500" b="1">
                <a:solidFill>
                  <a:srgbClr val="F3F7FF"/>
                </a:solidFill>
                <a:latin typeface="Arial"/>
              </a:rPr>
              <a:t>An onchain claim.</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Qualifying summary</a:t>
            </a:r>
          </a:p>
          <a:p>
            <a:pPr>
              <a:lnSpc>
                <a:spcPts val="2200"/>
              </a:lnSpc>
              <a:spcBef>
                <a:spcPts val="0"/>
              </a:spcBef>
              <a:spcAft>
                <a:spcPts val="0"/>
              </a:spcAft>
            </a:pPr>
            <a:r>
              <a:rPr sz="1800" b="0">
                <a:solidFill>
                  <a:srgbClr val="A8B6CF"/>
                </a:solidFill>
                <a:latin typeface="Arial"/>
              </a:rPr>
              <a:t>→ Wallet approval → Explorer</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SOLANA DEVNET</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QUALIFYING SUMMARY</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DEVNET EXPLORER</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WORKFLOW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06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Collect milestones.</a:t>
            </a:r>
          </a:p>
          <a:p>
            <a:pPr>
              <a:lnSpc>
                <a:spcPts val="4300"/>
              </a:lnSpc>
              <a:spcBef>
                <a:spcPts val="0"/>
              </a:spcBef>
              <a:spcAft>
                <a:spcPts val="0"/>
              </a:spcAft>
            </a:pPr>
            <a:r>
              <a:rPr sz="3500" b="1">
                <a:solidFill>
                  <a:srgbClr val="F3F7FF"/>
                </a:solidFill>
                <a:latin typeface="Arial"/>
              </a:rPr>
              <a:t>Keep the meaning.</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Achievements have their own</a:t>
            </a:r>
          </a:p>
          <a:p>
            <a:pPr>
              <a:lnSpc>
                <a:spcPts val="2200"/>
              </a:lnSpc>
              <a:spcBef>
                <a:spcPts val="0"/>
              </a:spcBef>
              <a:spcAft>
                <a:spcPts val="0"/>
              </a:spcAft>
            </a:pPr>
            <a:r>
              <a:rPr sz="1800" b="0">
                <a:solidFill>
                  <a:srgbClr val="A8B6CF"/>
                </a:solidFill>
                <a:latin typeface="Arial"/>
              </a:rPr>
              <a:t>requirements and approval.</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RAW HEALTH RECORDS: NOT ONCHAIN</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6_nft-first5k-detail.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07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Earn eligibility.</a:t>
            </a:r>
          </a:p>
          <a:p>
            <a:pPr>
              <a:lnSpc>
                <a:spcPts val="4300"/>
              </a:lnSpc>
              <a:spcBef>
                <a:spcPts val="0"/>
              </a:spcBef>
              <a:spcAft>
                <a:spcPts val="0"/>
              </a:spcAft>
            </a:pPr>
            <a:r>
              <a:rPr sz="3500" b="1">
                <a:solidFill>
                  <a:srgbClr val="F3F7FF"/>
                </a:solidFill>
                <a:latin typeface="Arial"/>
              </a:rPr>
              <a:t>Unlock your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Verified first 5K eligibility.</a:t>
            </a:r>
          </a:p>
          <a:p>
            <a:pPr>
              <a:lnSpc>
                <a:spcPts val="2200"/>
              </a:lnSpc>
              <a:spcBef>
                <a:spcPts val="0"/>
              </a:spcBef>
              <a:spcAft>
                <a:spcPts val="0"/>
              </a:spcAft>
            </a:pPr>
            <a:r>
              <a:rPr sz="1800" b="0">
                <a:solidFill>
                  <a:srgbClr val="A8B6CF"/>
                </a:solidFill>
                <a:latin typeface="Arial"/>
              </a:rPr>
              <a:t>Server-set order, price, recipient.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COSMETIC PAYMENT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eligible.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08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Confirmed payment.</a:t>
            </a:r>
          </a:p>
          <a:p>
            <a:pPr>
              <a:lnSpc>
                <a:spcPts val="4300"/>
              </a:lnSpc>
              <a:spcBef>
                <a:spcPts val="0"/>
              </a:spcBef>
              <a:spcAft>
                <a:spcPts val="0"/>
              </a:spcAft>
            </a:pPr>
            <a:r>
              <a:rPr sz="3500" b="1">
                <a:solidFill>
                  <a:srgbClr val="F3F7FF"/>
                </a:solidFill>
                <a:latin typeface="Arial"/>
              </a:rPr>
              <a:t>Unlocked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Wallet approval → Onchain check</a:t>
            </a:r>
          </a:p>
          <a:p>
            <a:pPr>
              <a:lnSpc>
                <a:spcPts val="2200"/>
              </a:lnSpc>
              <a:spcBef>
                <a:spcPts val="0"/>
              </a:spcBef>
              <a:spcAft>
                <a:spcPts val="0"/>
              </a:spcAft>
            </a:pPr>
            <a:r>
              <a:rPr sz="1800" b="0">
                <a:solidFill>
                  <a:srgbClr val="A8B6CF"/>
                </a:solidFill>
                <a:latin typeface="Arial"/>
              </a:rPr>
              <a:t>→ Cosmetic unlock</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NO XP, RECORDS OR ACHIEVEMENTS BOUGHT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pai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09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Progress with</a:t>
            </a:r>
          </a:p>
          <a:p>
            <a:pPr>
              <a:lnSpc>
                <a:spcPts val="4300"/>
              </a:lnSpc>
              <a:spcBef>
                <a:spcPts val="0"/>
              </a:spcBef>
              <a:spcAft>
                <a:spcPts val="0"/>
              </a:spcAft>
            </a:pPr>
            <a:r>
              <a:rPr sz="3500" b="1">
                <a:solidFill>
                  <a:srgbClr val="F3F7FF"/>
                </a:solidFill>
                <a:latin typeface="Arial"/>
              </a:rPr>
              <a:t>a wildlife story.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Conservation learning today.</a:t>
            </a:r>
          </a:p>
          <a:p>
            <a:pPr>
              <a:lnSpc>
                <a:spcPts val="2200"/>
              </a:lnSpc>
              <a:spcBef>
                <a:spcPts val="0"/>
              </a:spcBef>
              <a:spcAft>
                <a:spcPts val="0"/>
              </a:spcAft>
            </a:pPr>
            <a:r>
              <a:rPr sz="1800" b="0">
                <a:solidFill>
                  <a:srgbClr val="A8B6CF"/>
                </a:solidFill>
                <a:latin typeface="Arial"/>
              </a:rPr>
              <a:t>Community pilots are planned.</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NEXT: LOCAL PILOTS</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9_elephant-habitat.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IN-APP STORY CARD · PILOTS PLANNED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10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Next: stake SKR.</a:t>
            </a:r>
          </a:p>
          <a:p>
            <a:pPr>
              <a:lnSpc>
                <a:spcPts val="4300"/>
              </a:lnSpc>
              <a:spcBef>
                <a:spcPts val="0"/>
              </a:spcBef>
              <a:spcAft>
                <a:spcPts val="0"/>
              </a:spcAft>
            </a:pPr>
            <a:r>
              <a:rPr sz="3500" b="1">
                <a:solidFill>
                  <a:srgbClr val="F3F7FF"/>
                </a:solidFill>
                <a:latin typeface="Arial"/>
              </a:rPr>
              <a:t>Boost by level.</a:t>
            </a:r>
          </a:p>
        </p:txBody>
      </p:sp>
      <p:sp>
        <p:nvSpPr>
          <p:cNvPr id="6" name="TextBox 5"/>
          <p:cNvSpPr txBox="1"/>
          <p:nvPr/>
        </p:nvSpPr>
        <p:spPr>
          <a:xfrm>
            <a:off x="539750" y="2984500"/>
            <a:ext cx="11176000" cy="8890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Higher shoe levels earn higher boosts.</a:t>
            </a:r>
          </a:p>
          <a:p>
            <a:pPr>
              <a:lnSpc>
                <a:spcPts val="2200"/>
              </a:lnSpc>
              <a:spcBef>
                <a:spcPts val="0"/>
              </a:spcBef>
              <a:spcAft>
                <a:spcPts val="0"/>
              </a:spcAft>
            </a:pPr>
            <a:r>
              <a:rPr sz="1800" b="0">
                <a:solidFill>
                  <a:srgbClr val="A8B6CF"/>
                </a:solidFill>
                <a:latin typeface="Arial"/>
              </a:rPr>
              <a:t>A fixed share of staking rewards</a:t>
            </a:r>
          </a:p>
          <a:p>
            <a:pPr>
              <a:lnSpc>
                <a:spcPts val="2200"/>
              </a:lnSpc>
              <a:spcBef>
                <a:spcPts val="0"/>
              </a:spcBef>
              <a:spcAft>
                <a:spcPts val="0"/>
              </a:spcAft>
            </a:pPr>
            <a:r>
              <a:rPr sz="1800" b="0">
                <a:solidFill>
                  <a:srgbClr val="A8B6CF"/>
                </a:solidFill>
                <a:latin typeface="Arial"/>
              </a:rPr>
              <a:t>funds wildlife conservation.</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ROADMAP  ·  NOT LIVE  ·  RATES NOT FINAL</a:t>
            </a:r>
          </a:p>
        </p:txBody>
      </p:sp>
      <p:sp>
        <p:nvSpPr>
          <p:cNvPr id="8" name="TextBox 7"/>
          <p:cNvSpPr txBox="1"/>
          <p:nvPr/>
        </p:nvSpPr>
        <p:spPr>
          <a:xfrm>
            <a:off x="7810499" y="1016000"/>
            <a:ext cx="3810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A8B6CF"/>
                </a:solidFill>
                <a:latin typeface="Arial"/>
              </a:rPr>
              <a:t>STAKING BOOST (ILLUSTRATIVE)</a:t>
            </a:r>
          </a:p>
        </p:txBody>
      </p:sp>
      <p:sp>
        <p:nvSpPr>
          <p:cNvPr id="9" name="Rectangle 8"/>
          <p:cNvSpPr/>
          <p:nvPr/>
        </p:nvSpPr>
        <p:spPr>
          <a:xfrm>
            <a:off x="7810499" y="13017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4414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LV.1  ORIGIN</a:t>
            </a:r>
          </a:p>
        </p:txBody>
      </p:sp>
      <p:sp>
        <p:nvSpPr>
          <p:cNvPr id="11" name="TextBox 10"/>
          <p:cNvSpPr txBox="1"/>
          <p:nvPr/>
        </p:nvSpPr>
        <p:spPr>
          <a:xfrm>
            <a:off x="10795000" y="14414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a:t>
            </a:r>
          </a:p>
        </p:txBody>
      </p:sp>
      <p:sp>
        <p:nvSpPr>
          <p:cNvPr id="12" name="Rectangle 11"/>
          <p:cNvSpPr/>
          <p:nvPr/>
        </p:nvSpPr>
        <p:spPr>
          <a:xfrm>
            <a:off x="7810499" y="18859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20256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LV.2</a:t>
            </a:r>
          </a:p>
        </p:txBody>
      </p:sp>
      <p:sp>
        <p:nvSpPr>
          <p:cNvPr id="14" name="TextBox 13"/>
          <p:cNvSpPr txBox="1"/>
          <p:nvPr/>
        </p:nvSpPr>
        <p:spPr>
          <a:xfrm>
            <a:off x="10795000" y="20256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+3%</a:t>
            </a:r>
          </a:p>
        </p:txBody>
      </p:sp>
      <p:sp>
        <p:nvSpPr>
          <p:cNvPr id="15" name="Rectangle 14"/>
          <p:cNvSpPr/>
          <p:nvPr/>
        </p:nvSpPr>
        <p:spPr>
          <a:xfrm>
            <a:off x="7810499" y="24701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0" y="26098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LV.3</a:t>
            </a:r>
          </a:p>
        </p:txBody>
      </p:sp>
      <p:sp>
        <p:nvSpPr>
          <p:cNvPr id="17" name="TextBox 16"/>
          <p:cNvSpPr txBox="1"/>
          <p:nvPr/>
        </p:nvSpPr>
        <p:spPr>
          <a:xfrm>
            <a:off x="10795000" y="26098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+5%</a:t>
            </a:r>
          </a:p>
        </p:txBody>
      </p:sp>
      <p:sp>
        <p:nvSpPr>
          <p:cNvPr id="18" name="Rectangle 17"/>
          <p:cNvSpPr/>
          <p:nvPr/>
        </p:nvSpPr>
        <p:spPr>
          <a:xfrm>
            <a:off x="7810499" y="30543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31940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LV.4</a:t>
            </a:r>
          </a:p>
        </p:txBody>
      </p:sp>
      <p:sp>
        <p:nvSpPr>
          <p:cNvPr id="20" name="TextBox 19"/>
          <p:cNvSpPr txBox="1"/>
          <p:nvPr/>
        </p:nvSpPr>
        <p:spPr>
          <a:xfrm>
            <a:off x="10795000" y="31940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+7%</a:t>
            </a:r>
          </a:p>
        </p:txBody>
      </p:sp>
      <p:sp>
        <p:nvSpPr>
          <p:cNvPr id="21" name="Rectangle 20"/>
          <p:cNvSpPr/>
          <p:nvPr/>
        </p:nvSpPr>
        <p:spPr>
          <a:xfrm>
            <a:off x="7810499" y="36385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37782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LV.5</a:t>
            </a:r>
          </a:p>
        </p:txBody>
      </p:sp>
      <p:sp>
        <p:nvSpPr>
          <p:cNvPr id="23" name="TextBox 22"/>
          <p:cNvSpPr txBox="1"/>
          <p:nvPr/>
        </p:nvSpPr>
        <p:spPr>
          <a:xfrm>
            <a:off x="10795000" y="37782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+10%</a:t>
            </a:r>
          </a:p>
        </p:txBody>
      </p:sp>
      <p:sp>
        <p:nvSpPr>
          <p:cNvPr id="24" name="Rectangle 23"/>
          <p:cNvSpPr/>
          <p:nvPr/>
        </p:nvSpPr>
        <p:spPr>
          <a:xfrm>
            <a:off x="7810499" y="4311650"/>
            <a:ext cx="3810000" cy="571500"/>
          </a:xfrm>
          <a:prstGeom prst="rect">
            <a:avLst/>
          </a:prstGeom>
          <a:solidFill>
            <a:srgbClr val="1B2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0" y="4400550"/>
            <a:ext cx="2667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CONSERVATION SHARE</a:t>
            </a:r>
          </a:p>
        </p:txBody>
      </p:sp>
      <p:sp>
        <p:nvSpPr>
          <p:cNvPr id="26" name="TextBox 25"/>
          <p:cNvSpPr txBox="1"/>
          <p:nvPr/>
        </p:nvSpPr>
        <p:spPr>
          <a:xfrm>
            <a:off x="8001000" y="4629150"/>
            <a:ext cx="3302000" cy="241300"/>
          </a:xfrm>
          <a:prstGeom prst="rect">
            <a:avLst/>
          </a:prstGeom>
          <a:noFill/>
        </p:spPr>
        <p:txBody>
          <a:bodyPr wrap="none" lIns="0" rIns="0" tIns="0" bIns="0">
            <a:spAutoFit/>
          </a:bodyPr>
          <a:lstStyle/>
          <a:p>
            <a:pPr>
              <a:lnSpc>
                <a:spcPts val="1500"/>
              </a:lnSpc>
              <a:spcBef>
                <a:spcPts val="0"/>
              </a:spcBef>
              <a:spcAft>
                <a:spcPts val="0"/>
              </a:spcAft>
            </a:pPr>
            <a:r>
              <a:rPr sz="1200" b="0">
                <a:solidFill>
                  <a:srgbClr val="F3F7FF"/>
                </a:solidFill>
                <a:latin typeface="Arial"/>
              </a:rPr>
              <a:t>10% of staking rewards</a:t>
            </a:r>
          </a:p>
        </p:txBody>
      </p:sp>
      <p:sp>
        <p:nvSpPr>
          <p:cNvPr id="27" name="TextBox 2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PLANNED · NOT IMPLEMENTED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11 / 11</a:t>
            </a:r>
          </a:p>
        </p:txBody>
      </p:sp>
      <p:sp>
        <p:nvSpPr>
          <p:cNvPr id="5" name="TextBox 4"/>
          <p:cNvSpPr txBox="1"/>
          <p:nvPr/>
        </p:nvSpPr>
        <p:spPr>
          <a:xfrm>
            <a:off x="508000" y="1206500"/>
            <a:ext cx="11176000" cy="16891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Move for yourself.</a:t>
            </a:r>
          </a:p>
          <a:p>
            <a:pPr>
              <a:lnSpc>
                <a:spcPts val="4300"/>
              </a:lnSpc>
              <a:spcBef>
                <a:spcPts val="0"/>
              </a:spcBef>
              <a:spcAft>
                <a:spcPts val="0"/>
              </a:spcAft>
            </a:pPr>
            <a:r>
              <a:rPr sz="3500" b="1">
                <a:solidFill>
                  <a:srgbClr val="F3F7FF"/>
                </a:solidFill>
                <a:latin typeface="Arial"/>
              </a:rPr>
              <a:t>Move together</a:t>
            </a:r>
          </a:p>
          <a:p>
            <a:pPr>
              <a:lnSpc>
                <a:spcPts val="4300"/>
              </a:lnSpc>
              <a:spcBef>
                <a:spcPts val="0"/>
              </a:spcBef>
              <a:spcAft>
                <a:spcPts val="0"/>
              </a:spcAft>
            </a:pPr>
            <a:r>
              <a:rPr sz="3500" b="1">
                <a:solidFill>
                  <a:srgbClr val="F3F7FF"/>
                </a:solidFill>
                <a:latin typeface="Arial"/>
              </a:rPr>
              <a:t>for nature.</a:t>
            </a:r>
          </a:p>
        </p:txBody>
      </p:sp>
      <p:sp>
        <p:nvSpPr>
          <p:cNvPr id="6" name="TextBox 5"/>
          <p:cNvSpPr txBox="1"/>
          <p:nvPr/>
        </p:nvSpPr>
        <p:spPr>
          <a:xfrm>
            <a:off x="539750" y="2984500"/>
            <a:ext cx="11176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Explore NeonShift.</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ANDROID APP  /  SOURCE  /  REVIEWER GUIDE</a:t>
            </a:r>
          </a:p>
        </p:txBody>
      </p:sp>
      <p:sp>
        <p:nvSpPr>
          <p:cNvPr id="8" name="TextBox 7"/>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NEONSHIFT · SOLANA MOBILE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