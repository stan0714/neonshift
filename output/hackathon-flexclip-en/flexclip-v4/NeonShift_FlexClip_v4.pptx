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keeps us moving after the first few days? NeonShift turns everyday movement into visible progress, wildlife-inspired shoes, and a reason to return.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for Solana Mobile, it connects daily activity with achievements you can collect and verify.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walk or a run. Record your workout, save it on your phone, and review your progress in the Activity journal.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automatic sync when online, with saved workouts processed oldest first. Starter shoes and level upgrades remain free. Recording a workout does not automatically qualify you for a reward.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Qualifying activity connects to a claim on Solana devnet. For daily steps, an Android Health Connect summary is checked before wallet approval. View the resulting transaction in the explorer.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health records are not published onchain. Achievement collectibles have their own requirements and approval process. The blockchain records the claim, not every step.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NeonShift gives token payments a cosmetic purpose. Eligible first-five-kilometer runners can unlock a Genesis Mint frame, paid with a test token on devnet. The server sets the order, price, and recipient.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the details, then approve in your wallet. After the server verifies the confirmed transfer onchain, the frame unlocks for that wallet. This payment uses test tokens, not official SKR. It buys no experience points, records, or achievements.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Wild Guardians connect your progress with conservation learning. Local community pilots are planned. No partnership or donation is claimed.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stake SKR to boost mission rewards, with higher boosts at higher shoe levels. A fixed share of staking rewards will fund a separately tracked wildlife conservation pool. Rates are not final.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Explore the Android app, source code, and reviewer guide through the submission links. Move for yourself. Move together for nature.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A</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01 / 11</a:t>
            </a:r>
          </a:p>
        </p:txBody>
      </p:sp>
      <p:sp>
        <p:nvSpPr>
          <p:cNvPr id="5" name="TextBox 4"/>
          <p:cNvSpPr txBox="1"/>
          <p:nvPr/>
        </p:nvSpPr>
        <p:spPr>
          <a:xfrm>
            <a:off x="508000" y="1206500"/>
            <a:ext cx="7112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Daily movement.</a:t>
            </a:r>
          </a:p>
          <a:p>
            <a:pPr>
              <a:lnSpc>
                <a:spcPts val="4300"/>
              </a:lnSpc>
              <a:spcBef>
                <a:spcPts val="0"/>
              </a:spcBef>
              <a:spcAft>
                <a:spcPts val="0"/>
              </a:spcAft>
            </a:pPr>
            <a:r>
              <a:rPr sz="3500" b="1">
                <a:solidFill>
                  <a:srgbClr val="F3F7FF"/>
                </a:solidFill>
                <a:latin typeface="Arial"/>
              </a:rPr>
              <a:t>Visible progress.</a:t>
            </a:r>
          </a:p>
        </p:txBody>
      </p:sp>
      <p:sp>
        <p:nvSpPr>
          <p:cNvPr id="6" name="TextBox 5"/>
          <p:cNvSpPr txBox="1"/>
          <p:nvPr/>
        </p:nvSpPr>
        <p:spPr>
          <a:xfrm>
            <a:off x="539750" y="2984500"/>
            <a:ext cx="7112000" cy="3302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A reason to return, every day.</a:t>
            </a:r>
          </a:p>
        </p:txBody>
      </p:sp>
      <p:sp>
        <p:nvSpPr>
          <p:cNvPr id="7" name="TextBox 6"/>
          <p:cNvSpPr txBox="1"/>
          <p:nvPr/>
        </p:nvSpPr>
        <p:spPr>
          <a:xfrm>
            <a:off x="539750" y="4127500"/>
            <a:ext cx="7112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MOVE  /  GROW  /  COLLECT</a:t>
            </a:r>
          </a:p>
        </p:txBody>
      </p:sp>
      <p:sp>
        <p:nvSpPr>
          <p:cNvPr id="8" name="Rectangle 7"/>
          <p:cNvSpPr/>
          <p:nvPr/>
        </p:nvSpPr>
        <p:spPr>
          <a:xfrm>
            <a:off x="8128000" y="965200"/>
            <a:ext cx="3429000" cy="4127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26-10-02_c14_s01_home-top.png"/>
          <p:cNvPicPr>
            <a:picLocks noChangeAspect="1"/>
          </p:cNvPicPr>
          <p:nvPr/>
        </p:nvPicPr>
        <p:blipFill>
          <a:blip r:embed="rId2"/>
          <a:stretch>
            <a:fillRect/>
          </a:stretch>
        </p:blipFill>
        <p:spPr>
          <a:xfrm>
            <a:off x="8972550" y="1079500"/>
            <a:ext cx="1739900" cy="3873499"/>
          </a:xfrm>
          <a:prstGeom prst="rect">
            <a:avLst/>
          </a:prstGeom>
        </p:spPr>
      </p:pic>
      <p:sp>
        <p:nvSpPr>
          <p:cNvPr id="10" name="TextBox 9"/>
          <p:cNvSpPr txBox="1"/>
          <p:nvPr/>
        </p:nvSpPr>
        <p:spPr>
          <a:xfrm>
            <a:off x="539750" y="4737100"/>
            <a:ext cx="7112000" cy="247649"/>
          </a:xfrm>
          <a:prstGeom prst="rect">
            <a:avLst/>
          </a:prstGeom>
          <a:noFill/>
        </p:spPr>
        <p:txBody>
          <a:bodyPr wrap="none" lIns="0" rIns="0" tIns="0" bIns="0">
            <a:spAutoFit/>
          </a:bodyPr>
          <a:lstStyle/>
          <a:p>
            <a:pPr>
              <a:lnSpc>
                <a:spcPts val="1550"/>
              </a:lnSpc>
              <a:spcBef>
                <a:spcPts val="0"/>
              </a:spcBef>
              <a:spcAft>
                <a:spcPts val="0"/>
              </a:spcAft>
            </a:pPr>
            <a:r>
              <a:rPr sz="1250" b="0">
                <a:solidFill>
                  <a:srgbClr val="FFD080"/>
                </a:solidFill>
                <a:latin typeface="Arial"/>
              </a:rPr>
              <a:t>DEVICE CAPTURE · OCT 02 · APK CODE 14</a:t>
            </a:r>
          </a:p>
        </p:txBody>
      </p:sp>
      <p:sp>
        <p:nvSpPr>
          <p:cNvPr id="11" name="TextBox 10"/>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REAL DATA · NO DEMO OVERRIDE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A</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02 / 11</a:t>
            </a:r>
          </a:p>
        </p:txBody>
      </p:sp>
      <p:sp>
        <p:nvSpPr>
          <p:cNvPr id="5" name="TextBox 4"/>
          <p:cNvSpPr txBox="1"/>
          <p:nvPr/>
        </p:nvSpPr>
        <p:spPr>
          <a:xfrm>
            <a:off x="508000" y="1206500"/>
            <a:ext cx="11176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Built for</a:t>
            </a:r>
          </a:p>
          <a:p>
            <a:pPr>
              <a:lnSpc>
                <a:spcPts val="4300"/>
              </a:lnSpc>
              <a:spcBef>
                <a:spcPts val="0"/>
              </a:spcBef>
              <a:spcAft>
                <a:spcPts val="0"/>
              </a:spcAft>
            </a:pPr>
            <a:r>
              <a:rPr sz="3500" b="1">
                <a:solidFill>
                  <a:srgbClr val="F3F7FF"/>
                </a:solidFill>
                <a:latin typeface="Arial"/>
              </a:rPr>
              <a:t>Solana Mobile.</a:t>
            </a:r>
          </a:p>
        </p:txBody>
      </p:sp>
      <p:sp>
        <p:nvSpPr>
          <p:cNvPr id="6" name="TextBox 5"/>
          <p:cNvSpPr txBox="1"/>
          <p:nvPr/>
        </p:nvSpPr>
        <p:spPr>
          <a:xfrm>
            <a:off x="539750" y="2984500"/>
            <a:ext cx="11176000" cy="6096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Phone-based workouts.</a:t>
            </a:r>
          </a:p>
          <a:p>
            <a:pPr>
              <a:lnSpc>
                <a:spcPts val="2200"/>
              </a:lnSpc>
              <a:spcBef>
                <a:spcPts val="0"/>
              </a:spcBef>
              <a:spcAft>
                <a:spcPts val="0"/>
              </a:spcAft>
            </a:pPr>
            <a:r>
              <a:rPr sz="1800" b="0">
                <a:solidFill>
                  <a:srgbClr val="A8B6CF"/>
                </a:solidFill>
                <a:latin typeface="Arial"/>
              </a:rPr>
              <a:t>Health summaries. Wallet approval.</a:t>
            </a:r>
          </a:p>
        </p:txBody>
      </p:sp>
      <p:sp>
        <p:nvSpPr>
          <p:cNvPr id="7" name="TextBox 6"/>
          <p:cNvSpPr txBox="1"/>
          <p:nvPr/>
        </p:nvSpPr>
        <p:spPr>
          <a:xfrm>
            <a:off x="539750" y="4127500"/>
            <a:ext cx="11176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MOBILE-FIRST FITNESS</a:t>
            </a:r>
          </a:p>
        </p:txBody>
      </p:sp>
      <p:sp>
        <p:nvSpPr>
          <p:cNvPr id="8" name="Rectangle 7"/>
          <p:cNvSpPr/>
          <p:nvPr/>
        </p:nvSpPr>
        <p:spPr>
          <a:xfrm>
            <a:off x="7810499" y="1492250"/>
            <a:ext cx="3810000" cy="825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619250"/>
            <a:ext cx="571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01</a:t>
            </a:r>
          </a:p>
        </p:txBody>
      </p:sp>
      <p:sp>
        <p:nvSpPr>
          <p:cNvPr id="10" name="TextBox 9"/>
          <p:cNvSpPr txBox="1"/>
          <p:nvPr/>
        </p:nvSpPr>
        <p:spPr>
          <a:xfrm>
            <a:off x="8001000" y="1905000"/>
            <a:ext cx="339725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3F7FF"/>
                </a:solidFill>
                <a:latin typeface="Arial"/>
              </a:rPr>
              <a:t>PHONE WORKOUTS</a:t>
            </a:r>
          </a:p>
        </p:txBody>
      </p:sp>
      <p:sp>
        <p:nvSpPr>
          <p:cNvPr id="11" name="Rectangle 10"/>
          <p:cNvSpPr/>
          <p:nvPr/>
        </p:nvSpPr>
        <p:spPr>
          <a:xfrm>
            <a:off x="7810499" y="2584450"/>
            <a:ext cx="3810000" cy="825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2711450"/>
            <a:ext cx="571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02</a:t>
            </a:r>
          </a:p>
        </p:txBody>
      </p:sp>
      <p:sp>
        <p:nvSpPr>
          <p:cNvPr id="13" name="TextBox 12"/>
          <p:cNvSpPr txBox="1"/>
          <p:nvPr/>
        </p:nvSpPr>
        <p:spPr>
          <a:xfrm>
            <a:off x="8001000" y="2997200"/>
            <a:ext cx="339725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3F7FF"/>
                </a:solidFill>
                <a:latin typeface="Arial"/>
              </a:rPr>
              <a:t>HEALTH SUMMARY</a:t>
            </a:r>
          </a:p>
        </p:txBody>
      </p:sp>
      <p:sp>
        <p:nvSpPr>
          <p:cNvPr id="14" name="Rectangle 13"/>
          <p:cNvSpPr/>
          <p:nvPr/>
        </p:nvSpPr>
        <p:spPr>
          <a:xfrm>
            <a:off x="7810499" y="3676649"/>
            <a:ext cx="3810000" cy="825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3803650"/>
            <a:ext cx="571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03</a:t>
            </a:r>
          </a:p>
        </p:txBody>
      </p:sp>
      <p:sp>
        <p:nvSpPr>
          <p:cNvPr id="16" name="TextBox 15"/>
          <p:cNvSpPr txBox="1"/>
          <p:nvPr/>
        </p:nvSpPr>
        <p:spPr>
          <a:xfrm>
            <a:off x="8001000" y="4089400"/>
            <a:ext cx="339725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3F7FF"/>
                </a:solidFill>
                <a:latin typeface="Arial"/>
              </a:rPr>
              <a:t>WALLET APPROVAL</a:t>
            </a:r>
          </a:p>
        </p:txBody>
      </p:sp>
      <p:sp>
        <p:nvSpPr>
          <p:cNvPr id="17" name="TextBox 16"/>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PRODUCT OVERVIEW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B</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03 / 11</a:t>
            </a:r>
          </a:p>
        </p:txBody>
      </p:sp>
      <p:sp>
        <p:nvSpPr>
          <p:cNvPr id="5" name="TextBox 4"/>
          <p:cNvSpPr txBox="1"/>
          <p:nvPr/>
        </p:nvSpPr>
        <p:spPr>
          <a:xfrm>
            <a:off x="508000" y="1206500"/>
            <a:ext cx="7112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Walk. Run.</a:t>
            </a:r>
          </a:p>
          <a:p>
            <a:pPr>
              <a:lnSpc>
                <a:spcPts val="4300"/>
              </a:lnSpc>
              <a:spcBef>
                <a:spcPts val="0"/>
              </a:spcBef>
              <a:spcAft>
                <a:spcPts val="0"/>
              </a:spcAft>
            </a:pPr>
            <a:r>
              <a:rPr sz="3500" b="1">
                <a:solidFill>
                  <a:srgbClr val="F3F7FF"/>
                </a:solidFill>
                <a:latin typeface="Arial"/>
              </a:rPr>
              <a:t>See your progress.</a:t>
            </a:r>
          </a:p>
        </p:txBody>
      </p:sp>
      <p:sp>
        <p:nvSpPr>
          <p:cNvPr id="6" name="TextBox 5"/>
          <p:cNvSpPr txBox="1"/>
          <p:nvPr/>
        </p:nvSpPr>
        <p:spPr>
          <a:xfrm>
            <a:off x="539750" y="2984500"/>
            <a:ext cx="7112000" cy="3302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Record → Save → Review</a:t>
            </a:r>
          </a:p>
        </p:txBody>
      </p:sp>
      <p:sp>
        <p:nvSpPr>
          <p:cNvPr id="7" name="TextBox 6"/>
          <p:cNvSpPr txBox="1"/>
          <p:nvPr/>
        </p:nvSpPr>
        <p:spPr>
          <a:xfrm>
            <a:off x="539750" y="4127500"/>
            <a:ext cx="7112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YOUR ACTIVITY JOURNAL</a:t>
            </a:r>
          </a:p>
        </p:txBody>
      </p:sp>
      <p:sp>
        <p:nvSpPr>
          <p:cNvPr id="8" name="Rectangle 7"/>
          <p:cNvSpPr/>
          <p:nvPr/>
        </p:nvSpPr>
        <p:spPr>
          <a:xfrm>
            <a:off x="8128000" y="965200"/>
            <a:ext cx="3429000" cy="4127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26-10-02_c14_s04_summary-finished.png"/>
          <p:cNvPicPr>
            <a:picLocks noChangeAspect="1"/>
          </p:cNvPicPr>
          <p:nvPr/>
        </p:nvPicPr>
        <p:blipFill>
          <a:blip r:embed="rId2"/>
          <a:stretch>
            <a:fillRect/>
          </a:stretch>
        </p:blipFill>
        <p:spPr>
          <a:xfrm>
            <a:off x="8972550" y="1079500"/>
            <a:ext cx="1739900" cy="3873499"/>
          </a:xfrm>
          <a:prstGeom prst="rect">
            <a:avLst/>
          </a:prstGeom>
        </p:spPr>
      </p:pic>
      <p:sp>
        <p:nvSpPr>
          <p:cNvPr id="10" name="TextBox 9"/>
          <p:cNvSpPr txBox="1"/>
          <p:nvPr/>
        </p:nvSpPr>
        <p:spPr>
          <a:xfrm>
            <a:off x="539750" y="4737100"/>
            <a:ext cx="7112000" cy="247649"/>
          </a:xfrm>
          <a:prstGeom prst="rect">
            <a:avLst/>
          </a:prstGeom>
          <a:noFill/>
        </p:spPr>
        <p:txBody>
          <a:bodyPr wrap="none" lIns="0" rIns="0" tIns="0" bIns="0">
            <a:spAutoFit/>
          </a:bodyPr>
          <a:lstStyle/>
          <a:p>
            <a:pPr>
              <a:lnSpc>
                <a:spcPts val="1550"/>
              </a:lnSpc>
              <a:spcBef>
                <a:spcPts val="0"/>
              </a:spcBef>
              <a:spcAft>
                <a:spcPts val="0"/>
              </a:spcAft>
            </a:pPr>
            <a:r>
              <a:rPr sz="1250" b="0">
                <a:solidFill>
                  <a:srgbClr val="FFD080"/>
                </a:solidFill>
                <a:latin typeface="Arial"/>
              </a:rPr>
              <a:t>DEVICE CAPTURE · OCT 02 · APK CODE 14</a:t>
            </a:r>
          </a:p>
        </p:txBody>
      </p:sp>
      <p:sp>
        <p:nvSpPr>
          <p:cNvPr id="11" name="TextBox 10"/>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REAL DATA · NO DEMO OVERRIDE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B</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04 / 11</a:t>
            </a:r>
          </a:p>
        </p:txBody>
      </p:sp>
      <p:sp>
        <p:nvSpPr>
          <p:cNvPr id="5" name="TextBox 4"/>
          <p:cNvSpPr txBox="1"/>
          <p:nvPr/>
        </p:nvSpPr>
        <p:spPr>
          <a:xfrm>
            <a:off x="508000" y="1206500"/>
            <a:ext cx="7112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Sync when</a:t>
            </a:r>
          </a:p>
          <a:p>
            <a:pPr>
              <a:lnSpc>
                <a:spcPts val="4300"/>
              </a:lnSpc>
              <a:spcBef>
                <a:spcPts val="0"/>
              </a:spcBef>
              <a:spcAft>
                <a:spcPts val="0"/>
              </a:spcAft>
            </a:pPr>
            <a:r>
              <a:rPr sz="3500" b="1">
                <a:solidFill>
                  <a:srgbClr val="F3F7FF"/>
                </a:solidFill>
                <a:latin typeface="Arial"/>
              </a:rPr>
              <a:t>you are ready.</a:t>
            </a:r>
          </a:p>
        </p:txBody>
      </p:sp>
      <p:sp>
        <p:nvSpPr>
          <p:cNvPr id="6" name="TextBox 5"/>
          <p:cNvSpPr txBox="1"/>
          <p:nvPr/>
        </p:nvSpPr>
        <p:spPr>
          <a:xfrm>
            <a:off x="539750" y="2984500"/>
            <a:ext cx="7112000" cy="6096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Optional online sync.</a:t>
            </a:r>
          </a:p>
          <a:p>
            <a:pPr>
              <a:lnSpc>
                <a:spcPts val="2200"/>
              </a:lnSpc>
              <a:spcBef>
                <a:spcPts val="0"/>
              </a:spcBef>
              <a:spcAft>
                <a:spcPts val="0"/>
              </a:spcAft>
            </a:pPr>
            <a:r>
              <a:rPr sz="1800" b="0">
                <a:solidFill>
                  <a:srgbClr val="A8B6CF"/>
                </a:solidFill>
                <a:latin typeface="Arial"/>
              </a:rPr>
              <a:t>Oldest workout first.</a:t>
            </a:r>
          </a:p>
        </p:txBody>
      </p:sp>
      <p:sp>
        <p:nvSpPr>
          <p:cNvPr id="7" name="TextBox 6"/>
          <p:cNvSpPr txBox="1"/>
          <p:nvPr/>
        </p:nvSpPr>
        <p:spPr>
          <a:xfrm>
            <a:off x="539750" y="4127500"/>
            <a:ext cx="7112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STARTER SHOES + UPGRADES: FREE</a:t>
            </a:r>
          </a:p>
        </p:txBody>
      </p:sp>
      <p:sp>
        <p:nvSpPr>
          <p:cNvPr id="8" name="Rectangle 7"/>
          <p:cNvSpPr/>
          <p:nvPr/>
        </p:nvSpPr>
        <p:spPr>
          <a:xfrm>
            <a:off x="8128000" y="965200"/>
            <a:ext cx="3429000" cy="4127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26-10-02_c14_s04_profile-sync.png"/>
          <p:cNvPicPr>
            <a:picLocks noChangeAspect="1"/>
          </p:cNvPicPr>
          <p:nvPr/>
        </p:nvPicPr>
        <p:blipFill>
          <a:blip r:embed="rId2"/>
          <a:stretch>
            <a:fillRect/>
          </a:stretch>
        </p:blipFill>
        <p:spPr>
          <a:xfrm>
            <a:off x="8972550" y="1079500"/>
            <a:ext cx="1739900" cy="3873499"/>
          </a:xfrm>
          <a:prstGeom prst="rect">
            <a:avLst/>
          </a:prstGeom>
        </p:spPr>
      </p:pic>
      <p:sp>
        <p:nvSpPr>
          <p:cNvPr id="10" name="TextBox 9"/>
          <p:cNvSpPr txBox="1"/>
          <p:nvPr/>
        </p:nvSpPr>
        <p:spPr>
          <a:xfrm>
            <a:off x="539750" y="4737100"/>
            <a:ext cx="7112000" cy="247649"/>
          </a:xfrm>
          <a:prstGeom prst="rect">
            <a:avLst/>
          </a:prstGeom>
          <a:noFill/>
        </p:spPr>
        <p:txBody>
          <a:bodyPr wrap="none" lIns="0" rIns="0" tIns="0" bIns="0">
            <a:spAutoFit/>
          </a:bodyPr>
          <a:lstStyle/>
          <a:p>
            <a:pPr>
              <a:lnSpc>
                <a:spcPts val="1550"/>
              </a:lnSpc>
              <a:spcBef>
                <a:spcPts val="0"/>
              </a:spcBef>
              <a:spcAft>
                <a:spcPts val="0"/>
              </a:spcAft>
            </a:pPr>
            <a:r>
              <a:rPr sz="1250" b="0">
                <a:solidFill>
                  <a:srgbClr val="FFD080"/>
                </a:solidFill>
                <a:latin typeface="Arial"/>
              </a:rPr>
              <a:t>DEVICE CAPTURE · OCT 02 · APK CODE 14</a:t>
            </a:r>
          </a:p>
        </p:txBody>
      </p:sp>
      <p:sp>
        <p:nvSpPr>
          <p:cNvPr id="11" name="TextBox 10"/>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REAL DATA · NO DEMO OVERRIDE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C</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05 / 11</a:t>
            </a:r>
          </a:p>
        </p:txBody>
      </p:sp>
      <p:sp>
        <p:nvSpPr>
          <p:cNvPr id="5" name="TextBox 4"/>
          <p:cNvSpPr txBox="1"/>
          <p:nvPr/>
        </p:nvSpPr>
        <p:spPr>
          <a:xfrm>
            <a:off x="508000" y="1206500"/>
            <a:ext cx="11176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Your approval.</a:t>
            </a:r>
          </a:p>
          <a:p>
            <a:pPr>
              <a:lnSpc>
                <a:spcPts val="4300"/>
              </a:lnSpc>
              <a:spcBef>
                <a:spcPts val="0"/>
              </a:spcBef>
              <a:spcAft>
                <a:spcPts val="0"/>
              </a:spcAft>
            </a:pPr>
            <a:r>
              <a:rPr sz="3500" b="1">
                <a:solidFill>
                  <a:srgbClr val="F3F7FF"/>
                </a:solidFill>
                <a:latin typeface="Arial"/>
              </a:rPr>
              <a:t>An onchain claim.</a:t>
            </a:r>
          </a:p>
        </p:txBody>
      </p:sp>
      <p:sp>
        <p:nvSpPr>
          <p:cNvPr id="6" name="TextBox 5"/>
          <p:cNvSpPr txBox="1"/>
          <p:nvPr/>
        </p:nvSpPr>
        <p:spPr>
          <a:xfrm>
            <a:off x="539750" y="2984500"/>
            <a:ext cx="11176000" cy="6096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Qualifying summary</a:t>
            </a:r>
          </a:p>
          <a:p>
            <a:pPr>
              <a:lnSpc>
                <a:spcPts val="2200"/>
              </a:lnSpc>
              <a:spcBef>
                <a:spcPts val="0"/>
              </a:spcBef>
              <a:spcAft>
                <a:spcPts val="0"/>
              </a:spcAft>
            </a:pPr>
            <a:r>
              <a:rPr sz="1800" b="0">
                <a:solidFill>
                  <a:srgbClr val="A8B6CF"/>
                </a:solidFill>
                <a:latin typeface="Arial"/>
              </a:rPr>
              <a:t>→ Wallet approval → Explorer</a:t>
            </a:r>
          </a:p>
        </p:txBody>
      </p:sp>
      <p:sp>
        <p:nvSpPr>
          <p:cNvPr id="7" name="TextBox 6"/>
          <p:cNvSpPr txBox="1"/>
          <p:nvPr/>
        </p:nvSpPr>
        <p:spPr>
          <a:xfrm>
            <a:off x="539750" y="4127500"/>
            <a:ext cx="11176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SOLANA DEVNET</a:t>
            </a:r>
          </a:p>
        </p:txBody>
      </p:sp>
      <p:sp>
        <p:nvSpPr>
          <p:cNvPr id="8" name="Rectangle 7"/>
          <p:cNvSpPr/>
          <p:nvPr/>
        </p:nvSpPr>
        <p:spPr>
          <a:xfrm>
            <a:off x="7810499" y="1492250"/>
            <a:ext cx="3810000" cy="825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619250"/>
            <a:ext cx="571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01</a:t>
            </a:r>
          </a:p>
        </p:txBody>
      </p:sp>
      <p:sp>
        <p:nvSpPr>
          <p:cNvPr id="10" name="TextBox 9"/>
          <p:cNvSpPr txBox="1"/>
          <p:nvPr/>
        </p:nvSpPr>
        <p:spPr>
          <a:xfrm>
            <a:off x="8001000" y="1905000"/>
            <a:ext cx="339725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3F7FF"/>
                </a:solidFill>
                <a:latin typeface="Arial"/>
              </a:rPr>
              <a:t>QUALIFYING SUMMARY</a:t>
            </a:r>
          </a:p>
        </p:txBody>
      </p:sp>
      <p:sp>
        <p:nvSpPr>
          <p:cNvPr id="11" name="Rectangle 10"/>
          <p:cNvSpPr/>
          <p:nvPr/>
        </p:nvSpPr>
        <p:spPr>
          <a:xfrm>
            <a:off x="7810499" y="2584450"/>
            <a:ext cx="3810000" cy="825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2711450"/>
            <a:ext cx="571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02</a:t>
            </a:r>
          </a:p>
        </p:txBody>
      </p:sp>
      <p:sp>
        <p:nvSpPr>
          <p:cNvPr id="13" name="TextBox 12"/>
          <p:cNvSpPr txBox="1"/>
          <p:nvPr/>
        </p:nvSpPr>
        <p:spPr>
          <a:xfrm>
            <a:off x="8001000" y="2997200"/>
            <a:ext cx="339725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3F7FF"/>
                </a:solidFill>
                <a:latin typeface="Arial"/>
              </a:rPr>
              <a:t>WALLET APPROVAL</a:t>
            </a:r>
          </a:p>
        </p:txBody>
      </p:sp>
      <p:sp>
        <p:nvSpPr>
          <p:cNvPr id="14" name="Rectangle 13"/>
          <p:cNvSpPr/>
          <p:nvPr/>
        </p:nvSpPr>
        <p:spPr>
          <a:xfrm>
            <a:off x="7810499" y="3676649"/>
            <a:ext cx="3810000" cy="825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3803650"/>
            <a:ext cx="571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03</a:t>
            </a:r>
          </a:p>
        </p:txBody>
      </p:sp>
      <p:sp>
        <p:nvSpPr>
          <p:cNvPr id="16" name="TextBox 15"/>
          <p:cNvSpPr txBox="1"/>
          <p:nvPr/>
        </p:nvSpPr>
        <p:spPr>
          <a:xfrm>
            <a:off x="8001000" y="4089400"/>
            <a:ext cx="339725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3F7FF"/>
                </a:solidFill>
                <a:latin typeface="Arial"/>
              </a:rPr>
              <a:t>DEVNET EXPLORER</a:t>
            </a:r>
          </a:p>
        </p:txBody>
      </p:sp>
      <p:sp>
        <p:nvSpPr>
          <p:cNvPr id="17" name="TextBox 16"/>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WORKFLOW OVERVIEW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C</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06 / 11</a:t>
            </a:r>
          </a:p>
        </p:txBody>
      </p:sp>
      <p:sp>
        <p:nvSpPr>
          <p:cNvPr id="5" name="TextBox 4"/>
          <p:cNvSpPr txBox="1"/>
          <p:nvPr/>
        </p:nvSpPr>
        <p:spPr>
          <a:xfrm>
            <a:off x="508000" y="1206500"/>
            <a:ext cx="7112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Collect milestones.</a:t>
            </a:r>
          </a:p>
          <a:p>
            <a:pPr>
              <a:lnSpc>
                <a:spcPts val="4300"/>
              </a:lnSpc>
              <a:spcBef>
                <a:spcPts val="0"/>
              </a:spcBef>
              <a:spcAft>
                <a:spcPts val="0"/>
              </a:spcAft>
            </a:pPr>
            <a:r>
              <a:rPr sz="3500" b="1">
                <a:solidFill>
                  <a:srgbClr val="F3F7FF"/>
                </a:solidFill>
                <a:latin typeface="Arial"/>
              </a:rPr>
              <a:t>Keep the meaning.</a:t>
            </a:r>
          </a:p>
        </p:txBody>
      </p:sp>
      <p:sp>
        <p:nvSpPr>
          <p:cNvPr id="6" name="TextBox 5"/>
          <p:cNvSpPr txBox="1"/>
          <p:nvPr/>
        </p:nvSpPr>
        <p:spPr>
          <a:xfrm>
            <a:off x="539750" y="2984500"/>
            <a:ext cx="7112000" cy="6096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Achievements have their own</a:t>
            </a:r>
          </a:p>
          <a:p>
            <a:pPr>
              <a:lnSpc>
                <a:spcPts val="2200"/>
              </a:lnSpc>
              <a:spcBef>
                <a:spcPts val="0"/>
              </a:spcBef>
              <a:spcAft>
                <a:spcPts val="0"/>
              </a:spcAft>
            </a:pPr>
            <a:r>
              <a:rPr sz="1800" b="0">
                <a:solidFill>
                  <a:srgbClr val="A8B6CF"/>
                </a:solidFill>
                <a:latin typeface="Arial"/>
              </a:rPr>
              <a:t>requirements and approval.</a:t>
            </a:r>
          </a:p>
        </p:txBody>
      </p:sp>
      <p:sp>
        <p:nvSpPr>
          <p:cNvPr id="7" name="TextBox 6"/>
          <p:cNvSpPr txBox="1"/>
          <p:nvPr/>
        </p:nvSpPr>
        <p:spPr>
          <a:xfrm>
            <a:off x="539750" y="4127500"/>
            <a:ext cx="7112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RAW HEALTH RECORDS: NOT ONCHAIN</a:t>
            </a:r>
          </a:p>
        </p:txBody>
      </p:sp>
      <p:sp>
        <p:nvSpPr>
          <p:cNvPr id="8" name="Rectangle 7"/>
          <p:cNvSpPr/>
          <p:nvPr/>
        </p:nvSpPr>
        <p:spPr>
          <a:xfrm>
            <a:off x="8128000" y="965200"/>
            <a:ext cx="3429000" cy="4127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26-10-02_c14_s06_nft-first5k-detail.png"/>
          <p:cNvPicPr>
            <a:picLocks noChangeAspect="1"/>
          </p:cNvPicPr>
          <p:nvPr/>
        </p:nvPicPr>
        <p:blipFill>
          <a:blip r:embed="rId2"/>
          <a:stretch>
            <a:fillRect/>
          </a:stretch>
        </p:blipFill>
        <p:spPr>
          <a:xfrm>
            <a:off x="8972550" y="1079500"/>
            <a:ext cx="1739900" cy="3873499"/>
          </a:xfrm>
          <a:prstGeom prst="rect">
            <a:avLst/>
          </a:prstGeom>
        </p:spPr>
      </p:pic>
      <p:sp>
        <p:nvSpPr>
          <p:cNvPr id="10" name="TextBox 9"/>
          <p:cNvSpPr txBox="1"/>
          <p:nvPr/>
        </p:nvSpPr>
        <p:spPr>
          <a:xfrm>
            <a:off x="539750" y="4737100"/>
            <a:ext cx="7112000" cy="247649"/>
          </a:xfrm>
          <a:prstGeom prst="rect">
            <a:avLst/>
          </a:prstGeom>
          <a:noFill/>
        </p:spPr>
        <p:txBody>
          <a:bodyPr wrap="none" lIns="0" rIns="0" tIns="0" bIns="0">
            <a:spAutoFit/>
          </a:bodyPr>
          <a:lstStyle/>
          <a:p>
            <a:pPr>
              <a:lnSpc>
                <a:spcPts val="1550"/>
              </a:lnSpc>
              <a:spcBef>
                <a:spcPts val="0"/>
              </a:spcBef>
              <a:spcAft>
                <a:spcPts val="0"/>
              </a:spcAft>
            </a:pPr>
            <a:r>
              <a:rPr sz="1250" b="0">
                <a:solidFill>
                  <a:srgbClr val="FFD080"/>
                </a:solidFill>
                <a:latin typeface="Arial"/>
              </a:rPr>
              <a:t>DEVICE CAPTURE · OCT 02 · APK CODE 14</a:t>
            </a:r>
          </a:p>
        </p:txBody>
      </p:sp>
      <p:sp>
        <p:nvSpPr>
          <p:cNvPr id="11" name="TextBox 10"/>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REAL DATA · NO DEMO OVERRIDE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D</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07 / 11</a:t>
            </a:r>
          </a:p>
        </p:txBody>
      </p:sp>
      <p:sp>
        <p:nvSpPr>
          <p:cNvPr id="5" name="TextBox 4"/>
          <p:cNvSpPr txBox="1"/>
          <p:nvPr/>
        </p:nvSpPr>
        <p:spPr>
          <a:xfrm>
            <a:off x="508000" y="1206500"/>
            <a:ext cx="7112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Earn eligibility.</a:t>
            </a:r>
          </a:p>
          <a:p>
            <a:pPr>
              <a:lnSpc>
                <a:spcPts val="4300"/>
              </a:lnSpc>
              <a:spcBef>
                <a:spcPts val="0"/>
              </a:spcBef>
              <a:spcAft>
                <a:spcPts val="0"/>
              </a:spcAft>
            </a:pPr>
            <a:r>
              <a:rPr sz="3500" b="1">
                <a:solidFill>
                  <a:srgbClr val="F3F7FF"/>
                </a:solidFill>
                <a:latin typeface="Arial"/>
              </a:rPr>
              <a:t>Unlock your frame.</a:t>
            </a:r>
          </a:p>
        </p:txBody>
      </p:sp>
      <p:sp>
        <p:nvSpPr>
          <p:cNvPr id="6" name="TextBox 5"/>
          <p:cNvSpPr txBox="1"/>
          <p:nvPr/>
        </p:nvSpPr>
        <p:spPr>
          <a:xfrm>
            <a:off x="539750" y="2984500"/>
            <a:ext cx="7112000" cy="6096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Verified first 5K eligibility.</a:t>
            </a:r>
          </a:p>
          <a:p>
            <a:pPr>
              <a:lnSpc>
                <a:spcPts val="2200"/>
              </a:lnSpc>
              <a:spcBef>
                <a:spcPts val="0"/>
              </a:spcBef>
              <a:spcAft>
                <a:spcPts val="0"/>
              </a:spcAft>
            </a:pPr>
            <a:r>
              <a:rPr sz="1800" b="0">
                <a:solidFill>
                  <a:srgbClr val="A8B6CF"/>
                </a:solidFill>
                <a:latin typeface="Arial"/>
              </a:rPr>
              <a:t>Server-set order, price, recipient.</a:t>
            </a:r>
          </a:p>
        </p:txBody>
      </p:sp>
      <p:sp>
        <p:nvSpPr>
          <p:cNvPr id="7" name="TextBox 6"/>
          <p:cNvSpPr txBox="1"/>
          <p:nvPr/>
        </p:nvSpPr>
        <p:spPr>
          <a:xfrm>
            <a:off x="539750" y="4127500"/>
            <a:ext cx="7112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COSMETIC PAYMENT</a:t>
            </a:r>
          </a:p>
        </p:txBody>
      </p:sp>
      <p:sp>
        <p:nvSpPr>
          <p:cNvPr id="8" name="Rectangle 7"/>
          <p:cNvSpPr/>
          <p:nvPr/>
        </p:nvSpPr>
        <p:spPr>
          <a:xfrm>
            <a:off x="8128000" y="965200"/>
            <a:ext cx="3429000" cy="4127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26-10-01-skr-devnet-eligible.png"/>
          <p:cNvPicPr>
            <a:picLocks noChangeAspect="1"/>
          </p:cNvPicPr>
          <p:nvPr/>
        </p:nvPicPr>
        <p:blipFill>
          <a:blip r:embed="rId2"/>
          <a:stretch>
            <a:fillRect/>
          </a:stretch>
        </p:blipFill>
        <p:spPr>
          <a:xfrm>
            <a:off x="8972550" y="1079500"/>
            <a:ext cx="1739900" cy="3873499"/>
          </a:xfrm>
          <a:prstGeom prst="rect">
            <a:avLst/>
          </a:prstGeom>
        </p:spPr>
      </p:pic>
      <p:sp>
        <p:nvSpPr>
          <p:cNvPr id="10" name="TextBox 9"/>
          <p:cNvSpPr txBox="1"/>
          <p:nvPr/>
        </p:nvSpPr>
        <p:spPr>
          <a:xfrm>
            <a:off x="539750" y="4737100"/>
            <a:ext cx="7112000" cy="247649"/>
          </a:xfrm>
          <a:prstGeom prst="rect">
            <a:avLst/>
          </a:prstGeom>
          <a:noFill/>
        </p:spPr>
        <p:txBody>
          <a:bodyPr wrap="none" lIns="0" rIns="0" tIns="0" bIns="0">
            <a:spAutoFit/>
          </a:bodyPr>
          <a:lstStyle/>
          <a:p>
            <a:pPr>
              <a:lnSpc>
                <a:spcPts val="1550"/>
              </a:lnSpc>
              <a:spcBef>
                <a:spcPts val="0"/>
              </a:spcBef>
              <a:spcAft>
                <a:spcPts val="0"/>
              </a:spcAft>
            </a:pPr>
            <a:r>
              <a:rPr sz="1250" b="0">
                <a:solidFill>
                  <a:srgbClr val="FFD080"/>
                </a:solidFill>
                <a:latin typeface="Arial"/>
              </a:rPr>
              <a:t>DEVICE CAPTURE · OCT 01 · APK CODE 11</a:t>
            </a:r>
          </a:p>
        </p:txBody>
      </p:sp>
      <p:sp>
        <p:nvSpPr>
          <p:cNvPr id="11" name="TextBox 10"/>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TEST SKR · DEVNET · NOT OFFICIAL SKR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D</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08 / 11</a:t>
            </a:r>
          </a:p>
        </p:txBody>
      </p:sp>
      <p:sp>
        <p:nvSpPr>
          <p:cNvPr id="5" name="TextBox 4"/>
          <p:cNvSpPr txBox="1"/>
          <p:nvPr/>
        </p:nvSpPr>
        <p:spPr>
          <a:xfrm>
            <a:off x="508000" y="1206500"/>
            <a:ext cx="7112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Confirmed payment.</a:t>
            </a:r>
          </a:p>
          <a:p>
            <a:pPr>
              <a:lnSpc>
                <a:spcPts val="4300"/>
              </a:lnSpc>
              <a:spcBef>
                <a:spcPts val="0"/>
              </a:spcBef>
              <a:spcAft>
                <a:spcPts val="0"/>
              </a:spcAft>
            </a:pPr>
            <a:r>
              <a:rPr sz="3500" b="1">
                <a:solidFill>
                  <a:srgbClr val="F3F7FF"/>
                </a:solidFill>
                <a:latin typeface="Arial"/>
              </a:rPr>
              <a:t>Unlocked frame.</a:t>
            </a:r>
          </a:p>
        </p:txBody>
      </p:sp>
      <p:sp>
        <p:nvSpPr>
          <p:cNvPr id="6" name="TextBox 5"/>
          <p:cNvSpPr txBox="1"/>
          <p:nvPr/>
        </p:nvSpPr>
        <p:spPr>
          <a:xfrm>
            <a:off x="539750" y="2984500"/>
            <a:ext cx="7112000" cy="6096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Wallet approval → Onchain check</a:t>
            </a:r>
          </a:p>
          <a:p>
            <a:pPr>
              <a:lnSpc>
                <a:spcPts val="2200"/>
              </a:lnSpc>
              <a:spcBef>
                <a:spcPts val="0"/>
              </a:spcBef>
              <a:spcAft>
                <a:spcPts val="0"/>
              </a:spcAft>
            </a:pPr>
            <a:r>
              <a:rPr sz="1800" b="0">
                <a:solidFill>
                  <a:srgbClr val="A8B6CF"/>
                </a:solidFill>
                <a:latin typeface="Arial"/>
              </a:rPr>
              <a:t>→ Cosmetic unlock</a:t>
            </a:r>
          </a:p>
        </p:txBody>
      </p:sp>
      <p:sp>
        <p:nvSpPr>
          <p:cNvPr id="7" name="TextBox 6"/>
          <p:cNvSpPr txBox="1"/>
          <p:nvPr/>
        </p:nvSpPr>
        <p:spPr>
          <a:xfrm>
            <a:off x="539750" y="4127500"/>
            <a:ext cx="7112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NO XP, RECORDS OR ACHIEVEMENTS BOUGHT</a:t>
            </a:r>
          </a:p>
        </p:txBody>
      </p:sp>
      <p:sp>
        <p:nvSpPr>
          <p:cNvPr id="8" name="Rectangle 7"/>
          <p:cNvSpPr/>
          <p:nvPr/>
        </p:nvSpPr>
        <p:spPr>
          <a:xfrm>
            <a:off x="8128000" y="965200"/>
            <a:ext cx="3429000" cy="4127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26-10-01-skr-devnet-paid.png"/>
          <p:cNvPicPr>
            <a:picLocks noChangeAspect="1"/>
          </p:cNvPicPr>
          <p:nvPr/>
        </p:nvPicPr>
        <p:blipFill>
          <a:blip r:embed="rId2"/>
          <a:stretch>
            <a:fillRect/>
          </a:stretch>
        </p:blipFill>
        <p:spPr>
          <a:xfrm>
            <a:off x="8972550" y="1079500"/>
            <a:ext cx="1739900" cy="3873499"/>
          </a:xfrm>
          <a:prstGeom prst="rect">
            <a:avLst/>
          </a:prstGeom>
        </p:spPr>
      </p:pic>
      <p:sp>
        <p:nvSpPr>
          <p:cNvPr id="10" name="TextBox 9"/>
          <p:cNvSpPr txBox="1"/>
          <p:nvPr/>
        </p:nvSpPr>
        <p:spPr>
          <a:xfrm>
            <a:off x="539750" y="4737100"/>
            <a:ext cx="7112000" cy="247649"/>
          </a:xfrm>
          <a:prstGeom prst="rect">
            <a:avLst/>
          </a:prstGeom>
          <a:noFill/>
        </p:spPr>
        <p:txBody>
          <a:bodyPr wrap="none" lIns="0" rIns="0" tIns="0" bIns="0">
            <a:spAutoFit/>
          </a:bodyPr>
          <a:lstStyle/>
          <a:p>
            <a:pPr>
              <a:lnSpc>
                <a:spcPts val="1550"/>
              </a:lnSpc>
              <a:spcBef>
                <a:spcPts val="0"/>
              </a:spcBef>
              <a:spcAft>
                <a:spcPts val="0"/>
              </a:spcAft>
            </a:pPr>
            <a:r>
              <a:rPr sz="1250" b="0">
                <a:solidFill>
                  <a:srgbClr val="FFD080"/>
                </a:solidFill>
                <a:latin typeface="Arial"/>
              </a:rPr>
              <a:t>DEVICE CAPTURE · OCT 01 · APK CODE 11</a:t>
            </a:r>
          </a:p>
        </p:txBody>
      </p:sp>
      <p:sp>
        <p:nvSpPr>
          <p:cNvPr id="11" name="TextBox 10"/>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TEST SKR · DEVNET · NOT OFFICIAL SKR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E</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09 / 11</a:t>
            </a:r>
          </a:p>
        </p:txBody>
      </p:sp>
      <p:sp>
        <p:nvSpPr>
          <p:cNvPr id="5" name="TextBox 4"/>
          <p:cNvSpPr txBox="1"/>
          <p:nvPr/>
        </p:nvSpPr>
        <p:spPr>
          <a:xfrm>
            <a:off x="508000" y="1206500"/>
            <a:ext cx="7112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Progress with</a:t>
            </a:r>
          </a:p>
          <a:p>
            <a:pPr>
              <a:lnSpc>
                <a:spcPts val="4300"/>
              </a:lnSpc>
              <a:spcBef>
                <a:spcPts val="0"/>
              </a:spcBef>
              <a:spcAft>
                <a:spcPts val="0"/>
              </a:spcAft>
            </a:pPr>
            <a:r>
              <a:rPr sz="3500" b="1">
                <a:solidFill>
                  <a:srgbClr val="F3F7FF"/>
                </a:solidFill>
                <a:latin typeface="Arial"/>
              </a:rPr>
              <a:t>a wildlife story.</a:t>
            </a:r>
          </a:p>
        </p:txBody>
      </p:sp>
      <p:sp>
        <p:nvSpPr>
          <p:cNvPr id="6" name="TextBox 5"/>
          <p:cNvSpPr txBox="1"/>
          <p:nvPr/>
        </p:nvSpPr>
        <p:spPr>
          <a:xfrm>
            <a:off x="539750" y="2984500"/>
            <a:ext cx="7112000" cy="6096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Conservation learning today.</a:t>
            </a:r>
          </a:p>
          <a:p>
            <a:pPr>
              <a:lnSpc>
                <a:spcPts val="2200"/>
              </a:lnSpc>
              <a:spcBef>
                <a:spcPts val="0"/>
              </a:spcBef>
              <a:spcAft>
                <a:spcPts val="0"/>
              </a:spcAft>
            </a:pPr>
            <a:r>
              <a:rPr sz="1800" b="0">
                <a:solidFill>
                  <a:srgbClr val="A8B6CF"/>
                </a:solidFill>
                <a:latin typeface="Arial"/>
              </a:rPr>
              <a:t>Community pilots are planned.</a:t>
            </a:r>
          </a:p>
        </p:txBody>
      </p:sp>
      <p:sp>
        <p:nvSpPr>
          <p:cNvPr id="7" name="TextBox 6"/>
          <p:cNvSpPr txBox="1"/>
          <p:nvPr/>
        </p:nvSpPr>
        <p:spPr>
          <a:xfrm>
            <a:off x="539750" y="4127500"/>
            <a:ext cx="7112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NEXT: LOCAL PILOTS</a:t>
            </a:r>
          </a:p>
        </p:txBody>
      </p:sp>
      <p:sp>
        <p:nvSpPr>
          <p:cNvPr id="8" name="Rectangle 7"/>
          <p:cNvSpPr/>
          <p:nvPr/>
        </p:nvSpPr>
        <p:spPr>
          <a:xfrm>
            <a:off x="8128000" y="965200"/>
            <a:ext cx="3429000" cy="4127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26-10-02_c14_s09_elephant-habitat.png"/>
          <p:cNvPicPr>
            <a:picLocks noChangeAspect="1"/>
          </p:cNvPicPr>
          <p:nvPr/>
        </p:nvPicPr>
        <p:blipFill>
          <a:blip r:embed="rId2"/>
          <a:stretch>
            <a:fillRect/>
          </a:stretch>
        </p:blipFill>
        <p:spPr>
          <a:xfrm>
            <a:off x="8972550" y="1079500"/>
            <a:ext cx="1739900" cy="3873499"/>
          </a:xfrm>
          <a:prstGeom prst="rect">
            <a:avLst/>
          </a:prstGeom>
        </p:spPr>
      </p:pic>
      <p:sp>
        <p:nvSpPr>
          <p:cNvPr id="10" name="TextBox 9"/>
          <p:cNvSpPr txBox="1"/>
          <p:nvPr/>
        </p:nvSpPr>
        <p:spPr>
          <a:xfrm>
            <a:off x="539750" y="4737100"/>
            <a:ext cx="7112000" cy="247649"/>
          </a:xfrm>
          <a:prstGeom prst="rect">
            <a:avLst/>
          </a:prstGeom>
          <a:noFill/>
        </p:spPr>
        <p:txBody>
          <a:bodyPr wrap="none" lIns="0" rIns="0" tIns="0" bIns="0">
            <a:spAutoFit/>
          </a:bodyPr>
          <a:lstStyle/>
          <a:p>
            <a:pPr>
              <a:lnSpc>
                <a:spcPts val="1550"/>
              </a:lnSpc>
              <a:spcBef>
                <a:spcPts val="0"/>
              </a:spcBef>
              <a:spcAft>
                <a:spcPts val="0"/>
              </a:spcAft>
            </a:pPr>
            <a:r>
              <a:rPr sz="1250" b="0">
                <a:solidFill>
                  <a:srgbClr val="FFD080"/>
                </a:solidFill>
                <a:latin typeface="Arial"/>
              </a:rPr>
              <a:t>DEVICE CAPTURE · OCT 02 · APK CODE 14</a:t>
            </a:r>
          </a:p>
        </p:txBody>
      </p:sp>
      <p:sp>
        <p:nvSpPr>
          <p:cNvPr id="11" name="TextBox 10"/>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IN-APP STORY CARD · PILOTS PLANNED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E</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10 / 11</a:t>
            </a:r>
          </a:p>
        </p:txBody>
      </p:sp>
      <p:sp>
        <p:nvSpPr>
          <p:cNvPr id="5" name="TextBox 4"/>
          <p:cNvSpPr txBox="1"/>
          <p:nvPr/>
        </p:nvSpPr>
        <p:spPr>
          <a:xfrm>
            <a:off x="508000" y="1206500"/>
            <a:ext cx="11176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Next: stake SKR.</a:t>
            </a:r>
          </a:p>
          <a:p>
            <a:pPr>
              <a:lnSpc>
                <a:spcPts val="4300"/>
              </a:lnSpc>
              <a:spcBef>
                <a:spcPts val="0"/>
              </a:spcBef>
              <a:spcAft>
                <a:spcPts val="0"/>
              </a:spcAft>
            </a:pPr>
            <a:r>
              <a:rPr sz="3500" b="1">
                <a:solidFill>
                  <a:srgbClr val="F3F7FF"/>
                </a:solidFill>
                <a:latin typeface="Arial"/>
              </a:rPr>
              <a:t>Boost by level.</a:t>
            </a:r>
          </a:p>
        </p:txBody>
      </p:sp>
      <p:sp>
        <p:nvSpPr>
          <p:cNvPr id="6" name="TextBox 5"/>
          <p:cNvSpPr txBox="1"/>
          <p:nvPr/>
        </p:nvSpPr>
        <p:spPr>
          <a:xfrm>
            <a:off x="539750" y="2984500"/>
            <a:ext cx="11176000" cy="8890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Higher shoe levels earn higher boosts.</a:t>
            </a:r>
          </a:p>
          <a:p>
            <a:pPr>
              <a:lnSpc>
                <a:spcPts val="2200"/>
              </a:lnSpc>
              <a:spcBef>
                <a:spcPts val="0"/>
              </a:spcBef>
              <a:spcAft>
                <a:spcPts val="0"/>
              </a:spcAft>
            </a:pPr>
            <a:r>
              <a:rPr sz="1800" b="0">
                <a:solidFill>
                  <a:srgbClr val="A8B6CF"/>
                </a:solidFill>
                <a:latin typeface="Arial"/>
              </a:rPr>
              <a:t>A fixed share of staking rewards</a:t>
            </a:r>
          </a:p>
          <a:p>
            <a:pPr>
              <a:lnSpc>
                <a:spcPts val="2200"/>
              </a:lnSpc>
              <a:spcBef>
                <a:spcPts val="0"/>
              </a:spcBef>
              <a:spcAft>
                <a:spcPts val="0"/>
              </a:spcAft>
            </a:pPr>
            <a:r>
              <a:rPr sz="1800" b="0">
                <a:solidFill>
                  <a:srgbClr val="A8B6CF"/>
                </a:solidFill>
                <a:latin typeface="Arial"/>
              </a:rPr>
              <a:t>funds wildlife conservation.</a:t>
            </a:r>
          </a:p>
        </p:txBody>
      </p:sp>
      <p:sp>
        <p:nvSpPr>
          <p:cNvPr id="7" name="TextBox 6"/>
          <p:cNvSpPr txBox="1"/>
          <p:nvPr/>
        </p:nvSpPr>
        <p:spPr>
          <a:xfrm>
            <a:off x="539750" y="4127500"/>
            <a:ext cx="11176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ROADMAP  ·  NOT LIVE  ·  RATES NOT FINAL</a:t>
            </a:r>
          </a:p>
        </p:txBody>
      </p:sp>
      <p:sp>
        <p:nvSpPr>
          <p:cNvPr id="8" name="TextBox 7"/>
          <p:cNvSpPr txBox="1"/>
          <p:nvPr/>
        </p:nvSpPr>
        <p:spPr>
          <a:xfrm>
            <a:off x="7810499" y="1016000"/>
            <a:ext cx="3810000" cy="241300"/>
          </a:xfrm>
          <a:prstGeom prst="rect">
            <a:avLst/>
          </a:prstGeom>
          <a:noFill/>
        </p:spPr>
        <p:txBody>
          <a:bodyPr wrap="none" lIns="0" rIns="0" tIns="0" bIns="0">
            <a:spAutoFit/>
          </a:bodyPr>
          <a:lstStyle/>
          <a:p>
            <a:pPr>
              <a:lnSpc>
                <a:spcPts val="1500"/>
              </a:lnSpc>
              <a:spcBef>
                <a:spcPts val="0"/>
              </a:spcBef>
              <a:spcAft>
                <a:spcPts val="0"/>
              </a:spcAft>
            </a:pPr>
            <a:r>
              <a:rPr sz="1200" b="1">
                <a:solidFill>
                  <a:srgbClr val="A8B6CF"/>
                </a:solidFill>
                <a:latin typeface="Arial"/>
              </a:rPr>
              <a:t>STAKING BOOST (ILLUSTRATIVE)</a:t>
            </a:r>
          </a:p>
        </p:txBody>
      </p:sp>
      <p:sp>
        <p:nvSpPr>
          <p:cNvPr id="9" name="Rectangle 8"/>
          <p:cNvSpPr/>
          <p:nvPr/>
        </p:nvSpPr>
        <p:spPr>
          <a:xfrm>
            <a:off x="7810499" y="1301750"/>
            <a:ext cx="3810000" cy="4826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1441450"/>
            <a:ext cx="2095499"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F3F7FF"/>
                </a:solidFill>
                <a:latin typeface="Arial"/>
              </a:rPr>
              <a:t>LV.1  ORIGIN</a:t>
            </a:r>
          </a:p>
        </p:txBody>
      </p:sp>
      <p:sp>
        <p:nvSpPr>
          <p:cNvPr id="11" name="TextBox 10"/>
          <p:cNvSpPr txBox="1"/>
          <p:nvPr/>
        </p:nvSpPr>
        <p:spPr>
          <a:xfrm>
            <a:off x="10795000" y="1441450"/>
            <a:ext cx="698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+5%</a:t>
            </a:r>
          </a:p>
        </p:txBody>
      </p:sp>
      <p:sp>
        <p:nvSpPr>
          <p:cNvPr id="12" name="Rectangle 11"/>
          <p:cNvSpPr/>
          <p:nvPr/>
        </p:nvSpPr>
        <p:spPr>
          <a:xfrm>
            <a:off x="7810499" y="1885950"/>
            <a:ext cx="3810000" cy="4826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2025650"/>
            <a:ext cx="2095499"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F3F7FF"/>
                </a:solidFill>
                <a:latin typeface="Arial"/>
              </a:rPr>
              <a:t>LV.2</a:t>
            </a:r>
          </a:p>
        </p:txBody>
      </p:sp>
      <p:sp>
        <p:nvSpPr>
          <p:cNvPr id="14" name="TextBox 13"/>
          <p:cNvSpPr txBox="1"/>
          <p:nvPr/>
        </p:nvSpPr>
        <p:spPr>
          <a:xfrm>
            <a:off x="10795000" y="2025650"/>
            <a:ext cx="698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+10%</a:t>
            </a:r>
          </a:p>
        </p:txBody>
      </p:sp>
      <p:sp>
        <p:nvSpPr>
          <p:cNvPr id="15" name="Rectangle 14"/>
          <p:cNvSpPr/>
          <p:nvPr/>
        </p:nvSpPr>
        <p:spPr>
          <a:xfrm>
            <a:off x="7810499" y="2470150"/>
            <a:ext cx="3810000" cy="4826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01000" y="2609850"/>
            <a:ext cx="2095499"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F3F7FF"/>
                </a:solidFill>
                <a:latin typeface="Arial"/>
              </a:rPr>
              <a:t>LV.3</a:t>
            </a:r>
          </a:p>
        </p:txBody>
      </p:sp>
      <p:sp>
        <p:nvSpPr>
          <p:cNvPr id="17" name="TextBox 16"/>
          <p:cNvSpPr txBox="1"/>
          <p:nvPr/>
        </p:nvSpPr>
        <p:spPr>
          <a:xfrm>
            <a:off x="10795000" y="2609850"/>
            <a:ext cx="698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+15%</a:t>
            </a:r>
          </a:p>
        </p:txBody>
      </p:sp>
      <p:sp>
        <p:nvSpPr>
          <p:cNvPr id="18" name="Rectangle 17"/>
          <p:cNvSpPr/>
          <p:nvPr/>
        </p:nvSpPr>
        <p:spPr>
          <a:xfrm>
            <a:off x="7810499" y="3054350"/>
            <a:ext cx="3810000" cy="4826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3194050"/>
            <a:ext cx="2095499"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F3F7FF"/>
                </a:solidFill>
                <a:latin typeface="Arial"/>
              </a:rPr>
              <a:t>LV.4</a:t>
            </a:r>
          </a:p>
        </p:txBody>
      </p:sp>
      <p:sp>
        <p:nvSpPr>
          <p:cNvPr id="20" name="TextBox 19"/>
          <p:cNvSpPr txBox="1"/>
          <p:nvPr/>
        </p:nvSpPr>
        <p:spPr>
          <a:xfrm>
            <a:off x="10795000" y="3194050"/>
            <a:ext cx="698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+20%</a:t>
            </a:r>
          </a:p>
        </p:txBody>
      </p:sp>
      <p:sp>
        <p:nvSpPr>
          <p:cNvPr id="21" name="Rectangle 20"/>
          <p:cNvSpPr/>
          <p:nvPr/>
        </p:nvSpPr>
        <p:spPr>
          <a:xfrm>
            <a:off x="7810499" y="3638550"/>
            <a:ext cx="3810000" cy="4826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01000" y="3778250"/>
            <a:ext cx="2095499"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F3F7FF"/>
                </a:solidFill>
                <a:latin typeface="Arial"/>
              </a:rPr>
              <a:t>LV.5</a:t>
            </a:r>
          </a:p>
        </p:txBody>
      </p:sp>
      <p:sp>
        <p:nvSpPr>
          <p:cNvPr id="23" name="TextBox 22"/>
          <p:cNvSpPr txBox="1"/>
          <p:nvPr/>
        </p:nvSpPr>
        <p:spPr>
          <a:xfrm>
            <a:off x="10795000" y="3778250"/>
            <a:ext cx="698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+25%</a:t>
            </a:r>
          </a:p>
        </p:txBody>
      </p:sp>
      <p:sp>
        <p:nvSpPr>
          <p:cNvPr id="24" name="Rectangle 23"/>
          <p:cNvSpPr/>
          <p:nvPr/>
        </p:nvSpPr>
        <p:spPr>
          <a:xfrm>
            <a:off x="7810499" y="4311650"/>
            <a:ext cx="3810000" cy="571500"/>
          </a:xfrm>
          <a:prstGeom prst="rect">
            <a:avLst/>
          </a:prstGeom>
          <a:solidFill>
            <a:srgbClr val="1B2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01000" y="4400550"/>
            <a:ext cx="2667000" cy="241300"/>
          </a:xfrm>
          <a:prstGeom prst="rect">
            <a:avLst/>
          </a:prstGeom>
          <a:noFill/>
        </p:spPr>
        <p:txBody>
          <a:bodyPr wrap="none" lIns="0" rIns="0" tIns="0" bIns="0">
            <a:spAutoFit/>
          </a:bodyPr>
          <a:lstStyle/>
          <a:p>
            <a:pPr>
              <a:lnSpc>
                <a:spcPts val="1500"/>
              </a:lnSpc>
              <a:spcBef>
                <a:spcPts val="0"/>
              </a:spcBef>
              <a:spcAft>
                <a:spcPts val="0"/>
              </a:spcAft>
            </a:pPr>
            <a:r>
              <a:rPr sz="1200" b="1">
                <a:solidFill>
                  <a:srgbClr val="FFD080"/>
                </a:solidFill>
                <a:latin typeface="Arial"/>
              </a:rPr>
              <a:t>CONSERVATION SHARE</a:t>
            </a:r>
          </a:p>
        </p:txBody>
      </p:sp>
      <p:sp>
        <p:nvSpPr>
          <p:cNvPr id="26" name="TextBox 25"/>
          <p:cNvSpPr txBox="1"/>
          <p:nvPr/>
        </p:nvSpPr>
        <p:spPr>
          <a:xfrm>
            <a:off x="8001000" y="4629150"/>
            <a:ext cx="3302000" cy="241300"/>
          </a:xfrm>
          <a:prstGeom prst="rect">
            <a:avLst/>
          </a:prstGeom>
          <a:noFill/>
        </p:spPr>
        <p:txBody>
          <a:bodyPr wrap="none" lIns="0" rIns="0" tIns="0" bIns="0">
            <a:spAutoFit/>
          </a:bodyPr>
          <a:lstStyle/>
          <a:p>
            <a:pPr>
              <a:lnSpc>
                <a:spcPts val="1500"/>
              </a:lnSpc>
              <a:spcBef>
                <a:spcPts val="0"/>
              </a:spcBef>
              <a:spcAft>
                <a:spcPts val="0"/>
              </a:spcAft>
            </a:pPr>
            <a:r>
              <a:rPr sz="1200" b="0">
                <a:solidFill>
                  <a:srgbClr val="F3F7FF"/>
                </a:solidFill>
                <a:latin typeface="Arial"/>
              </a:rPr>
              <a:t>10% of staking rewards</a:t>
            </a:r>
          </a:p>
        </p:txBody>
      </p:sp>
      <p:sp>
        <p:nvSpPr>
          <p:cNvPr id="27" name="TextBox 26"/>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PLANNED · NOT IMPLEMENTED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E</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11 / 11</a:t>
            </a:r>
          </a:p>
        </p:txBody>
      </p:sp>
      <p:sp>
        <p:nvSpPr>
          <p:cNvPr id="5" name="TextBox 4"/>
          <p:cNvSpPr txBox="1"/>
          <p:nvPr/>
        </p:nvSpPr>
        <p:spPr>
          <a:xfrm>
            <a:off x="508000" y="1206500"/>
            <a:ext cx="11176000" cy="16891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Move for yourself.</a:t>
            </a:r>
          </a:p>
          <a:p>
            <a:pPr>
              <a:lnSpc>
                <a:spcPts val="4300"/>
              </a:lnSpc>
              <a:spcBef>
                <a:spcPts val="0"/>
              </a:spcBef>
              <a:spcAft>
                <a:spcPts val="0"/>
              </a:spcAft>
            </a:pPr>
            <a:r>
              <a:rPr sz="3500" b="1">
                <a:solidFill>
                  <a:srgbClr val="F3F7FF"/>
                </a:solidFill>
                <a:latin typeface="Arial"/>
              </a:rPr>
              <a:t>Move together</a:t>
            </a:r>
          </a:p>
          <a:p>
            <a:pPr>
              <a:lnSpc>
                <a:spcPts val="4300"/>
              </a:lnSpc>
              <a:spcBef>
                <a:spcPts val="0"/>
              </a:spcBef>
              <a:spcAft>
                <a:spcPts val="0"/>
              </a:spcAft>
            </a:pPr>
            <a:r>
              <a:rPr sz="3500" b="1">
                <a:solidFill>
                  <a:srgbClr val="F3F7FF"/>
                </a:solidFill>
                <a:latin typeface="Arial"/>
              </a:rPr>
              <a:t>for nature.</a:t>
            </a:r>
          </a:p>
        </p:txBody>
      </p:sp>
      <p:sp>
        <p:nvSpPr>
          <p:cNvPr id="6" name="TextBox 5"/>
          <p:cNvSpPr txBox="1"/>
          <p:nvPr/>
        </p:nvSpPr>
        <p:spPr>
          <a:xfrm>
            <a:off x="539750" y="2984500"/>
            <a:ext cx="11176000" cy="3302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Explore NeonShift.</a:t>
            </a:r>
          </a:p>
        </p:txBody>
      </p:sp>
      <p:sp>
        <p:nvSpPr>
          <p:cNvPr id="7" name="TextBox 6"/>
          <p:cNvSpPr txBox="1"/>
          <p:nvPr/>
        </p:nvSpPr>
        <p:spPr>
          <a:xfrm>
            <a:off x="539750" y="4127500"/>
            <a:ext cx="11176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ANDROID APP  /  SOURCE  /  REVIEWER GUIDE</a:t>
            </a:r>
          </a:p>
        </p:txBody>
      </p:sp>
      <p:sp>
        <p:nvSpPr>
          <p:cNvPr id="8" name="TextBox 7"/>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NEONSHIFT · SOLANA MOBILE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