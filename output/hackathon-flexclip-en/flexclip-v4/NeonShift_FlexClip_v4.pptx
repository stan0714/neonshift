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keeps us moving after the first few days? NeonShift turns everyday movement into visible progress, wildlife-inspired shoes, and a reason to return.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Built for Solana Mobile, it connects daily activity with achievements you can collect and verify.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a walk or a run. Record your workout, save it on your phone, and review your progress in the Activity journal.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Choose automatic sync when online, with saved workouts processed oldest first. Starter shoes and level upgrades remain free. Recording a workout does not automatically qualify you for a reward.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Qualifying activity connects to a claim on Solana devnet. For daily steps, an Android Health Connect summary is checked before wallet approval. View the resulting transaction in the explorer.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Raw health records are not published onchain. Achievement collectibles have their own requirements and approval process. The blockchain records the claim, not every step.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NeonShift gives token payments a cosmetic purpose. Eligible first-five-kilometer runners can unlock a Genesis Mint frame, paid with a test token on devnet. The server sets the order, price, and recipient.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 the details, then approve in your wallet. After the server verifies the confirmed transfer onchain, the frame unlocks for that wallet. This payment uses test tokens, not official SKR. It buys no experience points, records, or achievements.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Wild Guardians connect your progress with conservation learning. Local community pilots, paid event services, and separately tracked conservation contributions are planned.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partnership or donation is claimed. Explore the Android app, source code, and reviewer guide through the submission links. Move for yourself. Move together for nature.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70B16"/>
        </a:solidFill>
        <a:effectLst/>
      </p:bgPr>
    </p:bg>
    <p:spTree>
      <p:nvGrpSpPr>
        <p:cNvPr id="1" name=""/>
        <p:cNvGrpSpPr/>
        <p:nvPr/>
      </p:nvGrpSpPr>
      <p:grpSpPr/>
      <p:sp>
        <p:nvSpPr>
          <p:cNvPr id="2" name="Rectangle 1"/>
          <p:cNvSpPr/>
          <p:nvPr/>
        </p:nvSpPr>
        <p:spPr>
          <a:xfrm>
            <a:off x="508000" y="412750"/>
            <a:ext cx="50800" cy="158750"/>
          </a:xfrm>
          <a:prstGeom prst="rect">
            <a:avLst/>
          </a:prstGeom>
          <a:solidFill>
            <a:srgbClr val="35E5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98500" y="412750"/>
            <a:ext cx="6985000" cy="254000"/>
          </a:xfrm>
          <a:prstGeom prst="rect">
            <a:avLst/>
          </a:prstGeom>
          <a:noFill/>
        </p:spPr>
        <p:txBody>
          <a:bodyPr wrap="none" lIns="0" rIns="0" tIns="0" bIns="0">
            <a:spAutoFit/>
          </a:bodyPr>
          <a:lstStyle/>
          <a:p>
            <a:pPr>
              <a:lnSpc>
                <a:spcPts val="1600"/>
              </a:lnSpc>
              <a:spcBef>
                <a:spcPts val="0"/>
              </a:spcBef>
              <a:spcAft>
                <a:spcPts val="0"/>
              </a:spcAft>
            </a:pPr>
            <a:r>
              <a:rPr sz="1300" b="1">
                <a:solidFill>
                  <a:srgbClr val="35E5C5"/>
                </a:solidFill>
                <a:latin typeface="Arial"/>
              </a:rPr>
              <a:t>NEONSHIFT  /  A</a:t>
            </a:r>
          </a:p>
        </p:txBody>
      </p:sp>
      <p:sp>
        <p:nvSpPr>
          <p:cNvPr id="4" name="TextBox 3"/>
          <p:cNvSpPr txBox="1"/>
          <p:nvPr/>
        </p:nvSpPr>
        <p:spPr>
          <a:xfrm>
            <a:off x="10795000" y="412750"/>
            <a:ext cx="952500" cy="254000"/>
          </a:xfrm>
          <a:prstGeom prst="rect">
            <a:avLst/>
          </a:prstGeom>
          <a:noFill/>
        </p:spPr>
        <p:txBody>
          <a:bodyPr wrap="none" lIns="0" rIns="0" tIns="0" bIns="0">
            <a:spAutoFit/>
          </a:bodyPr>
          <a:lstStyle/>
          <a:p>
            <a:pPr>
              <a:lnSpc>
                <a:spcPts val="1600"/>
              </a:lnSpc>
              <a:spcBef>
                <a:spcPts val="0"/>
              </a:spcBef>
              <a:spcAft>
                <a:spcPts val="0"/>
              </a:spcAft>
            </a:pPr>
            <a:r>
              <a:rPr sz="1300" b="0">
                <a:solidFill>
                  <a:srgbClr val="A8B6CF"/>
                </a:solidFill>
                <a:latin typeface="Arial"/>
              </a:rPr>
              <a:t>01 / 10</a:t>
            </a:r>
          </a:p>
        </p:txBody>
      </p:sp>
      <p:sp>
        <p:nvSpPr>
          <p:cNvPr id="5" name="TextBox 4"/>
          <p:cNvSpPr txBox="1"/>
          <p:nvPr/>
        </p:nvSpPr>
        <p:spPr>
          <a:xfrm>
            <a:off x="508000" y="1206500"/>
            <a:ext cx="7112000" cy="1143000"/>
          </a:xfrm>
          <a:prstGeom prst="rect">
            <a:avLst/>
          </a:prstGeom>
          <a:noFill/>
        </p:spPr>
        <p:txBody>
          <a:bodyPr wrap="none" lIns="0" rIns="0" tIns="0" bIns="0">
            <a:spAutoFit/>
          </a:bodyPr>
          <a:lstStyle/>
          <a:p>
            <a:pPr>
              <a:lnSpc>
                <a:spcPts val="4300"/>
              </a:lnSpc>
              <a:spcBef>
                <a:spcPts val="0"/>
              </a:spcBef>
              <a:spcAft>
                <a:spcPts val="0"/>
              </a:spcAft>
            </a:pPr>
            <a:r>
              <a:rPr sz="3500" b="1">
                <a:solidFill>
                  <a:srgbClr val="F3F7FF"/>
                </a:solidFill>
                <a:latin typeface="Arial"/>
              </a:rPr>
              <a:t>Daily movement.</a:t>
            </a:r>
          </a:p>
          <a:p>
            <a:pPr>
              <a:lnSpc>
                <a:spcPts val="4300"/>
              </a:lnSpc>
              <a:spcBef>
                <a:spcPts val="0"/>
              </a:spcBef>
              <a:spcAft>
                <a:spcPts val="0"/>
              </a:spcAft>
            </a:pPr>
            <a:r>
              <a:rPr sz="3500" b="1">
                <a:solidFill>
                  <a:srgbClr val="F3F7FF"/>
                </a:solidFill>
                <a:latin typeface="Arial"/>
              </a:rPr>
              <a:t>Visible progress.</a:t>
            </a:r>
          </a:p>
        </p:txBody>
      </p:sp>
      <p:sp>
        <p:nvSpPr>
          <p:cNvPr id="6" name="TextBox 5"/>
          <p:cNvSpPr txBox="1"/>
          <p:nvPr/>
        </p:nvSpPr>
        <p:spPr>
          <a:xfrm>
            <a:off x="539750" y="2984500"/>
            <a:ext cx="7112000" cy="330200"/>
          </a:xfrm>
          <a:prstGeom prst="rect">
            <a:avLst/>
          </a:prstGeom>
          <a:noFill/>
        </p:spPr>
        <p:txBody>
          <a:bodyPr wrap="none" lIns="0" rIns="0" tIns="0" bIns="0">
            <a:spAutoFit/>
          </a:bodyPr>
          <a:lstStyle/>
          <a:p>
            <a:pPr>
              <a:lnSpc>
                <a:spcPts val="2200"/>
              </a:lnSpc>
              <a:spcBef>
                <a:spcPts val="0"/>
              </a:spcBef>
              <a:spcAft>
                <a:spcPts val="0"/>
              </a:spcAft>
            </a:pPr>
            <a:r>
              <a:rPr sz="1800" b="0">
                <a:solidFill>
                  <a:srgbClr val="A8B6CF"/>
                </a:solidFill>
                <a:latin typeface="Arial"/>
              </a:rPr>
              <a:t>A reason to return, every day.</a:t>
            </a:r>
          </a:p>
        </p:txBody>
      </p:sp>
      <p:sp>
        <p:nvSpPr>
          <p:cNvPr id="7" name="TextBox 6"/>
          <p:cNvSpPr txBox="1"/>
          <p:nvPr/>
        </p:nvSpPr>
        <p:spPr>
          <a:xfrm>
            <a:off x="539750" y="4127500"/>
            <a:ext cx="711200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35E5C5"/>
                </a:solidFill>
                <a:latin typeface="Arial"/>
              </a:rPr>
              <a:t>MOVE  /  GROW  /  COLLECT</a:t>
            </a:r>
          </a:p>
        </p:txBody>
      </p:sp>
      <p:sp>
        <p:nvSpPr>
          <p:cNvPr id="8" name="Rectangle 7"/>
          <p:cNvSpPr/>
          <p:nvPr/>
        </p:nvSpPr>
        <p:spPr>
          <a:xfrm>
            <a:off x="8128000" y="965200"/>
            <a:ext cx="3429000" cy="4127500"/>
          </a:xfrm>
          <a:prstGeom prst="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2026-10-02_c14_s01_home-top.png"/>
          <p:cNvPicPr>
            <a:picLocks noChangeAspect="1"/>
          </p:cNvPicPr>
          <p:nvPr/>
        </p:nvPicPr>
        <p:blipFill>
          <a:blip r:embed="rId2"/>
          <a:stretch>
            <a:fillRect/>
          </a:stretch>
        </p:blipFill>
        <p:spPr>
          <a:xfrm>
            <a:off x="8972550" y="1079500"/>
            <a:ext cx="1739900" cy="3873499"/>
          </a:xfrm>
          <a:prstGeom prst="rect">
            <a:avLst/>
          </a:prstGeom>
        </p:spPr>
      </p:pic>
      <p:sp>
        <p:nvSpPr>
          <p:cNvPr id="10" name="TextBox 9"/>
          <p:cNvSpPr txBox="1"/>
          <p:nvPr/>
        </p:nvSpPr>
        <p:spPr>
          <a:xfrm>
            <a:off x="539750" y="4737100"/>
            <a:ext cx="7112000" cy="247649"/>
          </a:xfrm>
          <a:prstGeom prst="rect">
            <a:avLst/>
          </a:prstGeom>
          <a:noFill/>
        </p:spPr>
        <p:txBody>
          <a:bodyPr wrap="none" lIns="0" rIns="0" tIns="0" bIns="0">
            <a:spAutoFit/>
          </a:bodyPr>
          <a:lstStyle/>
          <a:p>
            <a:pPr>
              <a:lnSpc>
                <a:spcPts val="1550"/>
              </a:lnSpc>
              <a:spcBef>
                <a:spcPts val="0"/>
              </a:spcBef>
              <a:spcAft>
                <a:spcPts val="0"/>
              </a:spcAft>
            </a:pPr>
            <a:r>
              <a:rPr sz="1250" b="0">
                <a:solidFill>
                  <a:srgbClr val="FFD080"/>
                </a:solidFill>
                <a:latin typeface="Arial"/>
              </a:rPr>
              <a:t>DEVICE CAPTURE · OCT 02 · APK CODE 14</a:t>
            </a:r>
          </a:p>
        </p:txBody>
      </p:sp>
      <p:sp>
        <p:nvSpPr>
          <p:cNvPr id="11" name="TextBox 10"/>
          <p:cNvSpPr txBox="1"/>
          <p:nvPr/>
        </p:nvSpPr>
        <p:spPr>
          <a:xfrm>
            <a:off x="539750" y="5353050"/>
            <a:ext cx="1111250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FFD080"/>
                </a:solidFill>
                <a:latin typeface="Arial"/>
              </a:rPr>
              <a:t>REAL DATA · NO DEMO OVERRIDE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70B16"/>
        </a:solidFill>
        <a:effectLst/>
      </p:bgPr>
    </p:bg>
    <p:spTree>
      <p:nvGrpSpPr>
        <p:cNvPr id="1" name=""/>
        <p:cNvGrpSpPr/>
        <p:nvPr/>
      </p:nvGrpSpPr>
      <p:grpSpPr/>
      <p:sp>
        <p:nvSpPr>
          <p:cNvPr id="2" name="Rectangle 1"/>
          <p:cNvSpPr/>
          <p:nvPr/>
        </p:nvSpPr>
        <p:spPr>
          <a:xfrm>
            <a:off x="508000" y="412750"/>
            <a:ext cx="50800" cy="158750"/>
          </a:xfrm>
          <a:prstGeom prst="rect">
            <a:avLst/>
          </a:prstGeom>
          <a:solidFill>
            <a:srgbClr val="35E5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98500" y="412750"/>
            <a:ext cx="6985000" cy="254000"/>
          </a:xfrm>
          <a:prstGeom prst="rect">
            <a:avLst/>
          </a:prstGeom>
          <a:noFill/>
        </p:spPr>
        <p:txBody>
          <a:bodyPr wrap="none" lIns="0" rIns="0" tIns="0" bIns="0">
            <a:spAutoFit/>
          </a:bodyPr>
          <a:lstStyle/>
          <a:p>
            <a:pPr>
              <a:lnSpc>
                <a:spcPts val="1600"/>
              </a:lnSpc>
              <a:spcBef>
                <a:spcPts val="0"/>
              </a:spcBef>
              <a:spcAft>
                <a:spcPts val="0"/>
              </a:spcAft>
            </a:pPr>
            <a:r>
              <a:rPr sz="1300" b="1">
                <a:solidFill>
                  <a:srgbClr val="35E5C5"/>
                </a:solidFill>
                <a:latin typeface="Arial"/>
              </a:rPr>
              <a:t>NEONSHIFT  /  A</a:t>
            </a:r>
          </a:p>
        </p:txBody>
      </p:sp>
      <p:sp>
        <p:nvSpPr>
          <p:cNvPr id="4" name="TextBox 3"/>
          <p:cNvSpPr txBox="1"/>
          <p:nvPr/>
        </p:nvSpPr>
        <p:spPr>
          <a:xfrm>
            <a:off x="10795000" y="412750"/>
            <a:ext cx="952500" cy="254000"/>
          </a:xfrm>
          <a:prstGeom prst="rect">
            <a:avLst/>
          </a:prstGeom>
          <a:noFill/>
        </p:spPr>
        <p:txBody>
          <a:bodyPr wrap="none" lIns="0" rIns="0" tIns="0" bIns="0">
            <a:spAutoFit/>
          </a:bodyPr>
          <a:lstStyle/>
          <a:p>
            <a:pPr>
              <a:lnSpc>
                <a:spcPts val="1600"/>
              </a:lnSpc>
              <a:spcBef>
                <a:spcPts val="0"/>
              </a:spcBef>
              <a:spcAft>
                <a:spcPts val="0"/>
              </a:spcAft>
            </a:pPr>
            <a:r>
              <a:rPr sz="1300" b="0">
                <a:solidFill>
                  <a:srgbClr val="A8B6CF"/>
                </a:solidFill>
                <a:latin typeface="Arial"/>
              </a:rPr>
              <a:t>02 / 10</a:t>
            </a:r>
          </a:p>
        </p:txBody>
      </p:sp>
      <p:sp>
        <p:nvSpPr>
          <p:cNvPr id="5" name="TextBox 4"/>
          <p:cNvSpPr txBox="1"/>
          <p:nvPr/>
        </p:nvSpPr>
        <p:spPr>
          <a:xfrm>
            <a:off x="508000" y="1206500"/>
            <a:ext cx="11176000" cy="1143000"/>
          </a:xfrm>
          <a:prstGeom prst="rect">
            <a:avLst/>
          </a:prstGeom>
          <a:noFill/>
        </p:spPr>
        <p:txBody>
          <a:bodyPr wrap="none" lIns="0" rIns="0" tIns="0" bIns="0">
            <a:spAutoFit/>
          </a:bodyPr>
          <a:lstStyle/>
          <a:p>
            <a:pPr>
              <a:lnSpc>
                <a:spcPts val="4300"/>
              </a:lnSpc>
              <a:spcBef>
                <a:spcPts val="0"/>
              </a:spcBef>
              <a:spcAft>
                <a:spcPts val="0"/>
              </a:spcAft>
            </a:pPr>
            <a:r>
              <a:rPr sz="3500" b="1">
                <a:solidFill>
                  <a:srgbClr val="F3F7FF"/>
                </a:solidFill>
                <a:latin typeface="Arial"/>
              </a:rPr>
              <a:t>Built for</a:t>
            </a:r>
          </a:p>
          <a:p>
            <a:pPr>
              <a:lnSpc>
                <a:spcPts val="4300"/>
              </a:lnSpc>
              <a:spcBef>
                <a:spcPts val="0"/>
              </a:spcBef>
              <a:spcAft>
                <a:spcPts val="0"/>
              </a:spcAft>
            </a:pPr>
            <a:r>
              <a:rPr sz="3500" b="1">
                <a:solidFill>
                  <a:srgbClr val="F3F7FF"/>
                </a:solidFill>
                <a:latin typeface="Arial"/>
              </a:rPr>
              <a:t>Solana Mobile.</a:t>
            </a:r>
          </a:p>
        </p:txBody>
      </p:sp>
      <p:sp>
        <p:nvSpPr>
          <p:cNvPr id="6" name="TextBox 5"/>
          <p:cNvSpPr txBox="1"/>
          <p:nvPr/>
        </p:nvSpPr>
        <p:spPr>
          <a:xfrm>
            <a:off x="539750" y="2984500"/>
            <a:ext cx="11176000" cy="609600"/>
          </a:xfrm>
          <a:prstGeom prst="rect">
            <a:avLst/>
          </a:prstGeom>
          <a:noFill/>
        </p:spPr>
        <p:txBody>
          <a:bodyPr wrap="none" lIns="0" rIns="0" tIns="0" bIns="0">
            <a:spAutoFit/>
          </a:bodyPr>
          <a:lstStyle/>
          <a:p>
            <a:pPr>
              <a:lnSpc>
                <a:spcPts val="2200"/>
              </a:lnSpc>
              <a:spcBef>
                <a:spcPts val="0"/>
              </a:spcBef>
              <a:spcAft>
                <a:spcPts val="0"/>
              </a:spcAft>
            </a:pPr>
            <a:r>
              <a:rPr sz="1800" b="0">
                <a:solidFill>
                  <a:srgbClr val="A8B6CF"/>
                </a:solidFill>
                <a:latin typeface="Arial"/>
              </a:rPr>
              <a:t>Phone-based workouts.</a:t>
            </a:r>
          </a:p>
          <a:p>
            <a:pPr>
              <a:lnSpc>
                <a:spcPts val="2200"/>
              </a:lnSpc>
              <a:spcBef>
                <a:spcPts val="0"/>
              </a:spcBef>
              <a:spcAft>
                <a:spcPts val="0"/>
              </a:spcAft>
            </a:pPr>
            <a:r>
              <a:rPr sz="1800" b="0">
                <a:solidFill>
                  <a:srgbClr val="A8B6CF"/>
                </a:solidFill>
                <a:latin typeface="Arial"/>
              </a:rPr>
              <a:t>Health summaries. Wallet approval.</a:t>
            </a:r>
          </a:p>
        </p:txBody>
      </p:sp>
      <p:sp>
        <p:nvSpPr>
          <p:cNvPr id="7" name="TextBox 6"/>
          <p:cNvSpPr txBox="1"/>
          <p:nvPr/>
        </p:nvSpPr>
        <p:spPr>
          <a:xfrm>
            <a:off x="539750" y="4127500"/>
            <a:ext cx="1117600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35E5C5"/>
                </a:solidFill>
                <a:latin typeface="Arial"/>
              </a:rPr>
              <a:t>MOBILE-FIRST FITNESS</a:t>
            </a:r>
          </a:p>
        </p:txBody>
      </p:sp>
      <p:sp>
        <p:nvSpPr>
          <p:cNvPr id="8" name="Rectangle 7"/>
          <p:cNvSpPr/>
          <p:nvPr/>
        </p:nvSpPr>
        <p:spPr>
          <a:xfrm>
            <a:off x="7810499" y="1492250"/>
            <a:ext cx="3810000" cy="825500"/>
          </a:xfrm>
          <a:prstGeom prst="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01000" y="1619250"/>
            <a:ext cx="571500" cy="260350"/>
          </a:xfrm>
          <a:prstGeom prst="rect">
            <a:avLst/>
          </a:prstGeom>
          <a:noFill/>
        </p:spPr>
        <p:txBody>
          <a:bodyPr wrap="none" lIns="0" rIns="0" tIns="0" bIns="0">
            <a:spAutoFit/>
          </a:bodyPr>
          <a:lstStyle/>
          <a:p>
            <a:pPr>
              <a:lnSpc>
                <a:spcPts val="1650"/>
              </a:lnSpc>
              <a:spcBef>
                <a:spcPts val="0"/>
              </a:spcBef>
              <a:spcAft>
                <a:spcPts val="0"/>
              </a:spcAft>
            </a:pPr>
            <a:r>
              <a:rPr sz="1350" b="1">
                <a:solidFill>
                  <a:srgbClr val="35E5C5"/>
                </a:solidFill>
                <a:latin typeface="Arial"/>
              </a:rPr>
              <a:t>01</a:t>
            </a:r>
          </a:p>
        </p:txBody>
      </p:sp>
      <p:sp>
        <p:nvSpPr>
          <p:cNvPr id="10" name="TextBox 9"/>
          <p:cNvSpPr txBox="1"/>
          <p:nvPr/>
        </p:nvSpPr>
        <p:spPr>
          <a:xfrm>
            <a:off x="8001000" y="1905000"/>
            <a:ext cx="339725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F3F7FF"/>
                </a:solidFill>
                <a:latin typeface="Arial"/>
              </a:rPr>
              <a:t>PHONE WORKOUTS</a:t>
            </a:r>
          </a:p>
        </p:txBody>
      </p:sp>
      <p:sp>
        <p:nvSpPr>
          <p:cNvPr id="11" name="Rectangle 10"/>
          <p:cNvSpPr/>
          <p:nvPr/>
        </p:nvSpPr>
        <p:spPr>
          <a:xfrm>
            <a:off x="7810499" y="2584450"/>
            <a:ext cx="3810000" cy="825500"/>
          </a:xfrm>
          <a:prstGeom prst="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01000" y="2711450"/>
            <a:ext cx="571500" cy="260350"/>
          </a:xfrm>
          <a:prstGeom prst="rect">
            <a:avLst/>
          </a:prstGeom>
          <a:noFill/>
        </p:spPr>
        <p:txBody>
          <a:bodyPr wrap="none" lIns="0" rIns="0" tIns="0" bIns="0">
            <a:spAutoFit/>
          </a:bodyPr>
          <a:lstStyle/>
          <a:p>
            <a:pPr>
              <a:lnSpc>
                <a:spcPts val="1650"/>
              </a:lnSpc>
              <a:spcBef>
                <a:spcPts val="0"/>
              </a:spcBef>
              <a:spcAft>
                <a:spcPts val="0"/>
              </a:spcAft>
            </a:pPr>
            <a:r>
              <a:rPr sz="1350" b="1">
                <a:solidFill>
                  <a:srgbClr val="35E5C5"/>
                </a:solidFill>
                <a:latin typeface="Arial"/>
              </a:rPr>
              <a:t>02</a:t>
            </a:r>
          </a:p>
        </p:txBody>
      </p:sp>
      <p:sp>
        <p:nvSpPr>
          <p:cNvPr id="13" name="TextBox 12"/>
          <p:cNvSpPr txBox="1"/>
          <p:nvPr/>
        </p:nvSpPr>
        <p:spPr>
          <a:xfrm>
            <a:off x="8001000" y="2997200"/>
            <a:ext cx="339725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F3F7FF"/>
                </a:solidFill>
                <a:latin typeface="Arial"/>
              </a:rPr>
              <a:t>HEALTH SUMMARY</a:t>
            </a:r>
          </a:p>
        </p:txBody>
      </p:sp>
      <p:sp>
        <p:nvSpPr>
          <p:cNvPr id="14" name="Rectangle 13"/>
          <p:cNvSpPr/>
          <p:nvPr/>
        </p:nvSpPr>
        <p:spPr>
          <a:xfrm>
            <a:off x="7810499" y="3676649"/>
            <a:ext cx="3810000" cy="825500"/>
          </a:xfrm>
          <a:prstGeom prst="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01000" y="3803650"/>
            <a:ext cx="571500" cy="260350"/>
          </a:xfrm>
          <a:prstGeom prst="rect">
            <a:avLst/>
          </a:prstGeom>
          <a:noFill/>
        </p:spPr>
        <p:txBody>
          <a:bodyPr wrap="none" lIns="0" rIns="0" tIns="0" bIns="0">
            <a:spAutoFit/>
          </a:bodyPr>
          <a:lstStyle/>
          <a:p>
            <a:pPr>
              <a:lnSpc>
                <a:spcPts val="1650"/>
              </a:lnSpc>
              <a:spcBef>
                <a:spcPts val="0"/>
              </a:spcBef>
              <a:spcAft>
                <a:spcPts val="0"/>
              </a:spcAft>
            </a:pPr>
            <a:r>
              <a:rPr sz="1350" b="1">
                <a:solidFill>
                  <a:srgbClr val="35E5C5"/>
                </a:solidFill>
                <a:latin typeface="Arial"/>
              </a:rPr>
              <a:t>03</a:t>
            </a:r>
          </a:p>
        </p:txBody>
      </p:sp>
      <p:sp>
        <p:nvSpPr>
          <p:cNvPr id="16" name="TextBox 15"/>
          <p:cNvSpPr txBox="1"/>
          <p:nvPr/>
        </p:nvSpPr>
        <p:spPr>
          <a:xfrm>
            <a:off x="8001000" y="4089400"/>
            <a:ext cx="339725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F3F7FF"/>
                </a:solidFill>
                <a:latin typeface="Arial"/>
              </a:rPr>
              <a:t>WALLET APPROVAL</a:t>
            </a:r>
          </a:p>
        </p:txBody>
      </p:sp>
      <p:sp>
        <p:nvSpPr>
          <p:cNvPr id="17" name="TextBox 16"/>
          <p:cNvSpPr txBox="1"/>
          <p:nvPr/>
        </p:nvSpPr>
        <p:spPr>
          <a:xfrm>
            <a:off x="539750" y="5353050"/>
            <a:ext cx="1111250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FFD080"/>
                </a:solidFill>
                <a:latin typeface="Arial"/>
              </a:rPr>
              <a:t>PRODUCT OVERVIEW</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70B16"/>
        </a:solidFill>
        <a:effectLst/>
      </p:bgPr>
    </p:bg>
    <p:spTree>
      <p:nvGrpSpPr>
        <p:cNvPr id="1" name=""/>
        <p:cNvGrpSpPr/>
        <p:nvPr/>
      </p:nvGrpSpPr>
      <p:grpSpPr/>
      <p:sp>
        <p:nvSpPr>
          <p:cNvPr id="2" name="Rectangle 1"/>
          <p:cNvSpPr/>
          <p:nvPr/>
        </p:nvSpPr>
        <p:spPr>
          <a:xfrm>
            <a:off x="508000" y="412750"/>
            <a:ext cx="50800" cy="158750"/>
          </a:xfrm>
          <a:prstGeom prst="rect">
            <a:avLst/>
          </a:prstGeom>
          <a:solidFill>
            <a:srgbClr val="35E5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98500" y="412750"/>
            <a:ext cx="6985000" cy="254000"/>
          </a:xfrm>
          <a:prstGeom prst="rect">
            <a:avLst/>
          </a:prstGeom>
          <a:noFill/>
        </p:spPr>
        <p:txBody>
          <a:bodyPr wrap="none" lIns="0" rIns="0" tIns="0" bIns="0">
            <a:spAutoFit/>
          </a:bodyPr>
          <a:lstStyle/>
          <a:p>
            <a:pPr>
              <a:lnSpc>
                <a:spcPts val="1600"/>
              </a:lnSpc>
              <a:spcBef>
                <a:spcPts val="0"/>
              </a:spcBef>
              <a:spcAft>
                <a:spcPts val="0"/>
              </a:spcAft>
            </a:pPr>
            <a:r>
              <a:rPr sz="1300" b="1">
                <a:solidFill>
                  <a:srgbClr val="35E5C5"/>
                </a:solidFill>
                <a:latin typeface="Arial"/>
              </a:rPr>
              <a:t>NEONSHIFT  /  B</a:t>
            </a:r>
          </a:p>
        </p:txBody>
      </p:sp>
      <p:sp>
        <p:nvSpPr>
          <p:cNvPr id="4" name="TextBox 3"/>
          <p:cNvSpPr txBox="1"/>
          <p:nvPr/>
        </p:nvSpPr>
        <p:spPr>
          <a:xfrm>
            <a:off x="10795000" y="412750"/>
            <a:ext cx="952500" cy="254000"/>
          </a:xfrm>
          <a:prstGeom prst="rect">
            <a:avLst/>
          </a:prstGeom>
          <a:noFill/>
        </p:spPr>
        <p:txBody>
          <a:bodyPr wrap="none" lIns="0" rIns="0" tIns="0" bIns="0">
            <a:spAutoFit/>
          </a:bodyPr>
          <a:lstStyle/>
          <a:p>
            <a:pPr>
              <a:lnSpc>
                <a:spcPts val="1600"/>
              </a:lnSpc>
              <a:spcBef>
                <a:spcPts val="0"/>
              </a:spcBef>
              <a:spcAft>
                <a:spcPts val="0"/>
              </a:spcAft>
            </a:pPr>
            <a:r>
              <a:rPr sz="1300" b="0">
                <a:solidFill>
                  <a:srgbClr val="A8B6CF"/>
                </a:solidFill>
                <a:latin typeface="Arial"/>
              </a:rPr>
              <a:t>03 / 10</a:t>
            </a:r>
          </a:p>
        </p:txBody>
      </p:sp>
      <p:sp>
        <p:nvSpPr>
          <p:cNvPr id="5" name="TextBox 4"/>
          <p:cNvSpPr txBox="1"/>
          <p:nvPr/>
        </p:nvSpPr>
        <p:spPr>
          <a:xfrm>
            <a:off x="508000" y="1206500"/>
            <a:ext cx="7112000" cy="1143000"/>
          </a:xfrm>
          <a:prstGeom prst="rect">
            <a:avLst/>
          </a:prstGeom>
          <a:noFill/>
        </p:spPr>
        <p:txBody>
          <a:bodyPr wrap="none" lIns="0" rIns="0" tIns="0" bIns="0">
            <a:spAutoFit/>
          </a:bodyPr>
          <a:lstStyle/>
          <a:p>
            <a:pPr>
              <a:lnSpc>
                <a:spcPts val="4300"/>
              </a:lnSpc>
              <a:spcBef>
                <a:spcPts val="0"/>
              </a:spcBef>
              <a:spcAft>
                <a:spcPts val="0"/>
              </a:spcAft>
            </a:pPr>
            <a:r>
              <a:rPr sz="3500" b="1">
                <a:solidFill>
                  <a:srgbClr val="F3F7FF"/>
                </a:solidFill>
                <a:latin typeface="Arial"/>
              </a:rPr>
              <a:t>Walk. Run.</a:t>
            </a:r>
          </a:p>
          <a:p>
            <a:pPr>
              <a:lnSpc>
                <a:spcPts val="4300"/>
              </a:lnSpc>
              <a:spcBef>
                <a:spcPts val="0"/>
              </a:spcBef>
              <a:spcAft>
                <a:spcPts val="0"/>
              </a:spcAft>
            </a:pPr>
            <a:r>
              <a:rPr sz="3500" b="1">
                <a:solidFill>
                  <a:srgbClr val="F3F7FF"/>
                </a:solidFill>
                <a:latin typeface="Arial"/>
              </a:rPr>
              <a:t>See your progress.</a:t>
            </a:r>
          </a:p>
        </p:txBody>
      </p:sp>
      <p:sp>
        <p:nvSpPr>
          <p:cNvPr id="6" name="TextBox 5"/>
          <p:cNvSpPr txBox="1"/>
          <p:nvPr/>
        </p:nvSpPr>
        <p:spPr>
          <a:xfrm>
            <a:off x="539750" y="2984500"/>
            <a:ext cx="7112000" cy="330200"/>
          </a:xfrm>
          <a:prstGeom prst="rect">
            <a:avLst/>
          </a:prstGeom>
          <a:noFill/>
        </p:spPr>
        <p:txBody>
          <a:bodyPr wrap="none" lIns="0" rIns="0" tIns="0" bIns="0">
            <a:spAutoFit/>
          </a:bodyPr>
          <a:lstStyle/>
          <a:p>
            <a:pPr>
              <a:lnSpc>
                <a:spcPts val="2200"/>
              </a:lnSpc>
              <a:spcBef>
                <a:spcPts val="0"/>
              </a:spcBef>
              <a:spcAft>
                <a:spcPts val="0"/>
              </a:spcAft>
            </a:pPr>
            <a:r>
              <a:rPr sz="1800" b="0">
                <a:solidFill>
                  <a:srgbClr val="A8B6CF"/>
                </a:solidFill>
                <a:latin typeface="Arial"/>
              </a:rPr>
              <a:t>Record → Save → Review</a:t>
            </a:r>
          </a:p>
        </p:txBody>
      </p:sp>
      <p:sp>
        <p:nvSpPr>
          <p:cNvPr id="7" name="TextBox 6"/>
          <p:cNvSpPr txBox="1"/>
          <p:nvPr/>
        </p:nvSpPr>
        <p:spPr>
          <a:xfrm>
            <a:off x="539750" y="4127500"/>
            <a:ext cx="711200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35E5C5"/>
                </a:solidFill>
                <a:latin typeface="Arial"/>
              </a:rPr>
              <a:t>YOUR ACTIVITY JOURNAL</a:t>
            </a:r>
          </a:p>
        </p:txBody>
      </p:sp>
      <p:sp>
        <p:nvSpPr>
          <p:cNvPr id="8" name="Rectangle 7"/>
          <p:cNvSpPr/>
          <p:nvPr/>
        </p:nvSpPr>
        <p:spPr>
          <a:xfrm>
            <a:off x="8128000" y="965200"/>
            <a:ext cx="3429000" cy="4127500"/>
          </a:xfrm>
          <a:prstGeom prst="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2026-10-02_c14_s04_summary-finished.png"/>
          <p:cNvPicPr>
            <a:picLocks noChangeAspect="1"/>
          </p:cNvPicPr>
          <p:nvPr/>
        </p:nvPicPr>
        <p:blipFill>
          <a:blip r:embed="rId2"/>
          <a:stretch>
            <a:fillRect/>
          </a:stretch>
        </p:blipFill>
        <p:spPr>
          <a:xfrm>
            <a:off x="8972550" y="1079500"/>
            <a:ext cx="1739900" cy="3873499"/>
          </a:xfrm>
          <a:prstGeom prst="rect">
            <a:avLst/>
          </a:prstGeom>
        </p:spPr>
      </p:pic>
      <p:sp>
        <p:nvSpPr>
          <p:cNvPr id="10" name="TextBox 9"/>
          <p:cNvSpPr txBox="1"/>
          <p:nvPr/>
        </p:nvSpPr>
        <p:spPr>
          <a:xfrm>
            <a:off x="539750" y="4737100"/>
            <a:ext cx="7112000" cy="247649"/>
          </a:xfrm>
          <a:prstGeom prst="rect">
            <a:avLst/>
          </a:prstGeom>
          <a:noFill/>
        </p:spPr>
        <p:txBody>
          <a:bodyPr wrap="none" lIns="0" rIns="0" tIns="0" bIns="0">
            <a:spAutoFit/>
          </a:bodyPr>
          <a:lstStyle/>
          <a:p>
            <a:pPr>
              <a:lnSpc>
                <a:spcPts val="1550"/>
              </a:lnSpc>
              <a:spcBef>
                <a:spcPts val="0"/>
              </a:spcBef>
              <a:spcAft>
                <a:spcPts val="0"/>
              </a:spcAft>
            </a:pPr>
            <a:r>
              <a:rPr sz="1250" b="0">
                <a:solidFill>
                  <a:srgbClr val="FFD080"/>
                </a:solidFill>
                <a:latin typeface="Arial"/>
              </a:rPr>
              <a:t>DEVICE CAPTURE · OCT 02 · APK CODE 14</a:t>
            </a:r>
          </a:p>
        </p:txBody>
      </p:sp>
      <p:sp>
        <p:nvSpPr>
          <p:cNvPr id="11" name="TextBox 10"/>
          <p:cNvSpPr txBox="1"/>
          <p:nvPr/>
        </p:nvSpPr>
        <p:spPr>
          <a:xfrm>
            <a:off x="539750" y="5353050"/>
            <a:ext cx="1111250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FFD080"/>
                </a:solidFill>
                <a:latin typeface="Arial"/>
              </a:rPr>
              <a:t>REAL DATA · NO DEMO OVERRIDE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70B16"/>
        </a:solidFill>
        <a:effectLst/>
      </p:bgPr>
    </p:bg>
    <p:spTree>
      <p:nvGrpSpPr>
        <p:cNvPr id="1" name=""/>
        <p:cNvGrpSpPr/>
        <p:nvPr/>
      </p:nvGrpSpPr>
      <p:grpSpPr/>
      <p:sp>
        <p:nvSpPr>
          <p:cNvPr id="2" name="Rectangle 1"/>
          <p:cNvSpPr/>
          <p:nvPr/>
        </p:nvSpPr>
        <p:spPr>
          <a:xfrm>
            <a:off x="508000" y="412750"/>
            <a:ext cx="50800" cy="158750"/>
          </a:xfrm>
          <a:prstGeom prst="rect">
            <a:avLst/>
          </a:prstGeom>
          <a:solidFill>
            <a:srgbClr val="35E5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98500" y="412750"/>
            <a:ext cx="6985000" cy="254000"/>
          </a:xfrm>
          <a:prstGeom prst="rect">
            <a:avLst/>
          </a:prstGeom>
          <a:noFill/>
        </p:spPr>
        <p:txBody>
          <a:bodyPr wrap="none" lIns="0" rIns="0" tIns="0" bIns="0">
            <a:spAutoFit/>
          </a:bodyPr>
          <a:lstStyle/>
          <a:p>
            <a:pPr>
              <a:lnSpc>
                <a:spcPts val="1600"/>
              </a:lnSpc>
              <a:spcBef>
                <a:spcPts val="0"/>
              </a:spcBef>
              <a:spcAft>
                <a:spcPts val="0"/>
              </a:spcAft>
            </a:pPr>
            <a:r>
              <a:rPr sz="1300" b="1">
                <a:solidFill>
                  <a:srgbClr val="35E5C5"/>
                </a:solidFill>
                <a:latin typeface="Arial"/>
              </a:rPr>
              <a:t>NEONSHIFT  /  B</a:t>
            </a:r>
          </a:p>
        </p:txBody>
      </p:sp>
      <p:sp>
        <p:nvSpPr>
          <p:cNvPr id="4" name="TextBox 3"/>
          <p:cNvSpPr txBox="1"/>
          <p:nvPr/>
        </p:nvSpPr>
        <p:spPr>
          <a:xfrm>
            <a:off x="10795000" y="412750"/>
            <a:ext cx="952500" cy="254000"/>
          </a:xfrm>
          <a:prstGeom prst="rect">
            <a:avLst/>
          </a:prstGeom>
          <a:noFill/>
        </p:spPr>
        <p:txBody>
          <a:bodyPr wrap="none" lIns="0" rIns="0" tIns="0" bIns="0">
            <a:spAutoFit/>
          </a:bodyPr>
          <a:lstStyle/>
          <a:p>
            <a:pPr>
              <a:lnSpc>
                <a:spcPts val="1600"/>
              </a:lnSpc>
              <a:spcBef>
                <a:spcPts val="0"/>
              </a:spcBef>
              <a:spcAft>
                <a:spcPts val="0"/>
              </a:spcAft>
            </a:pPr>
            <a:r>
              <a:rPr sz="1300" b="0">
                <a:solidFill>
                  <a:srgbClr val="A8B6CF"/>
                </a:solidFill>
                <a:latin typeface="Arial"/>
              </a:rPr>
              <a:t>04 / 10</a:t>
            </a:r>
          </a:p>
        </p:txBody>
      </p:sp>
      <p:sp>
        <p:nvSpPr>
          <p:cNvPr id="5" name="TextBox 4"/>
          <p:cNvSpPr txBox="1"/>
          <p:nvPr/>
        </p:nvSpPr>
        <p:spPr>
          <a:xfrm>
            <a:off x="508000" y="1206500"/>
            <a:ext cx="7112000" cy="1143000"/>
          </a:xfrm>
          <a:prstGeom prst="rect">
            <a:avLst/>
          </a:prstGeom>
          <a:noFill/>
        </p:spPr>
        <p:txBody>
          <a:bodyPr wrap="none" lIns="0" rIns="0" tIns="0" bIns="0">
            <a:spAutoFit/>
          </a:bodyPr>
          <a:lstStyle/>
          <a:p>
            <a:pPr>
              <a:lnSpc>
                <a:spcPts val="4300"/>
              </a:lnSpc>
              <a:spcBef>
                <a:spcPts val="0"/>
              </a:spcBef>
              <a:spcAft>
                <a:spcPts val="0"/>
              </a:spcAft>
            </a:pPr>
            <a:r>
              <a:rPr sz="3500" b="1">
                <a:solidFill>
                  <a:srgbClr val="F3F7FF"/>
                </a:solidFill>
                <a:latin typeface="Arial"/>
              </a:rPr>
              <a:t>Sync when</a:t>
            </a:r>
          </a:p>
          <a:p>
            <a:pPr>
              <a:lnSpc>
                <a:spcPts val="4300"/>
              </a:lnSpc>
              <a:spcBef>
                <a:spcPts val="0"/>
              </a:spcBef>
              <a:spcAft>
                <a:spcPts val="0"/>
              </a:spcAft>
            </a:pPr>
            <a:r>
              <a:rPr sz="3500" b="1">
                <a:solidFill>
                  <a:srgbClr val="F3F7FF"/>
                </a:solidFill>
                <a:latin typeface="Arial"/>
              </a:rPr>
              <a:t>you are ready.</a:t>
            </a:r>
          </a:p>
        </p:txBody>
      </p:sp>
      <p:sp>
        <p:nvSpPr>
          <p:cNvPr id="6" name="TextBox 5"/>
          <p:cNvSpPr txBox="1"/>
          <p:nvPr/>
        </p:nvSpPr>
        <p:spPr>
          <a:xfrm>
            <a:off x="539750" y="2984500"/>
            <a:ext cx="7112000" cy="609600"/>
          </a:xfrm>
          <a:prstGeom prst="rect">
            <a:avLst/>
          </a:prstGeom>
          <a:noFill/>
        </p:spPr>
        <p:txBody>
          <a:bodyPr wrap="none" lIns="0" rIns="0" tIns="0" bIns="0">
            <a:spAutoFit/>
          </a:bodyPr>
          <a:lstStyle/>
          <a:p>
            <a:pPr>
              <a:lnSpc>
                <a:spcPts val="2200"/>
              </a:lnSpc>
              <a:spcBef>
                <a:spcPts val="0"/>
              </a:spcBef>
              <a:spcAft>
                <a:spcPts val="0"/>
              </a:spcAft>
            </a:pPr>
            <a:r>
              <a:rPr sz="1800" b="0">
                <a:solidFill>
                  <a:srgbClr val="A8B6CF"/>
                </a:solidFill>
                <a:latin typeface="Arial"/>
              </a:rPr>
              <a:t>Optional online sync.</a:t>
            </a:r>
          </a:p>
          <a:p>
            <a:pPr>
              <a:lnSpc>
                <a:spcPts val="2200"/>
              </a:lnSpc>
              <a:spcBef>
                <a:spcPts val="0"/>
              </a:spcBef>
              <a:spcAft>
                <a:spcPts val="0"/>
              </a:spcAft>
            </a:pPr>
            <a:r>
              <a:rPr sz="1800" b="0">
                <a:solidFill>
                  <a:srgbClr val="A8B6CF"/>
                </a:solidFill>
                <a:latin typeface="Arial"/>
              </a:rPr>
              <a:t>Oldest workout first.</a:t>
            </a:r>
          </a:p>
        </p:txBody>
      </p:sp>
      <p:sp>
        <p:nvSpPr>
          <p:cNvPr id="7" name="TextBox 6"/>
          <p:cNvSpPr txBox="1"/>
          <p:nvPr/>
        </p:nvSpPr>
        <p:spPr>
          <a:xfrm>
            <a:off x="539750" y="4127500"/>
            <a:ext cx="711200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35E5C5"/>
                </a:solidFill>
                <a:latin typeface="Arial"/>
              </a:rPr>
              <a:t>STARTER SHOES + UPGRADES: FREE</a:t>
            </a:r>
          </a:p>
        </p:txBody>
      </p:sp>
      <p:sp>
        <p:nvSpPr>
          <p:cNvPr id="8" name="Rectangle 7"/>
          <p:cNvSpPr/>
          <p:nvPr/>
        </p:nvSpPr>
        <p:spPr>
          <a:xfrm>
            <a:off x="8128000" y="965200"/>
            <a:ext cx="3429000" cy="4127500"/>
          </a:xfrm>
          <a:prstGeom prst="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2026-10-02_c14_s04_profile-sync.png"/>
          <p:cNvPicPr>
            <a:picLocks noChangeAspect="1"/>
          </p:cNvPicPr>
          <p:nvPr/>
        </p:nvPicPr>
        <p:blipFill>
          <a:blip r:embed="rId2"/>
          <a:stretch>
            <a:fillRect/>
          </a:stretch>
        </p:blipFill>
        <p:spPr>
          <a:xfrm>
            <a:off x="8972550" y="1079500"/>
            <a:ext cx="1739900" cy="3873499"/>
          </a:xfrm>
          <a:prstGeom prst="rect">
            <a:avLst/>
          </a:prstGeom>
        </p:spPr>
      </p:pic>
      <p:sp>
        <p:nvSpPr>
          <p:cNvPr id="10" name="TextBox 9"/>
          <p:cNvSpPr txBox="1"/>
          <p:nvPr/>
        </p:nvSpPr>
        <p:spPr>
          <a:xfrm>
            <a:off x="539750" y="4737100"/>
            <a:ext cx="7112000" cy="247649"/>
          </a:xfrm>
          <a:prstGeom prst="rect">
            <a:avLst/>
          </a:prstGeom>
          <a:noFill/>
        </p:spPr>
        <p:txBody>
          <a:bodyPr wrap="none" lIns="0" rIns="0" tIns="0" bIns="0">
            <a:spAutoFit/>
          </a:bodyPr>
          <a:lstStyle/>
          <a:p>
            <a:pPr>
              <a:lnSpc>
                <a:spcPts val="1550"/>
              </a:lnSpc>
              <a:spcBef>
                <a:spcPts val="0"/>
              </a:spcBef>
              <a:spcAft>
                <a:spcPts val="0"/>
              </a:spcAft>
            </a:pPr>
            <a:r>
              <a:rPr sz="1250" b="0">
                <a:solidFill>
                  <a:srgbClr val="FFD080"/>
                </a:solidFill>
                <a:latin typeface="Arial"/>
              </a:rPr>
              <a:t>DEVICE CAPTURE · OCT 02 · APK CODE 14</a:t>
            </a:r>
          </a:p>
        </p:txBody>
      </p:sp>
      <p:sp>
        <p:nvSpPr>
          <p:cNvPr id="11" name="TextBox 10"/>
          <p:cNvSpPr txBox="1"/>
          <p:nvPr/>
        </p:nvSpPr>
        <p:spPr>
          <a:xfrm>
            <a:off x="539750" y="5353050"/>
            <a:ext cx="1111250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FFD080"/>
                </a:solidFill>
                <a:latin typeface="Arial"/>
              </a:rPr>
              <a:t>REAL DATA · NO DEMO OVERRIDE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70B16"/>
        </a:solidFill>
        <a:effectLst/>
      </p:bgPr>
    </p:bg>
    <p:spTree>
      <p:nvGrpSpPr>
        <p:cNvPr id="1" name=""/>
        <p:cNvGrpSpPr/>
        <p:nvPr/>
      </p:nvGrpSpPr>
      <p:grpSpPr/>
      <p:sp>
        <p:nvSpPr>
          <p:cNvPr id="2" name="Rectangle 1"/>
          <p:cNvSpPr/>
          <p:nvPr/>
        </p:nvSpPr>
        <p:spPr>
          <a:xfrm>
            <a:off x="508000" y="412750"/>
            <a:ext cx="50800" cy="158750"/>
          </a:xfrm>
          <a:prstGeom prst="rect">
            <a:avLst/>
          </a:prstGeom>
          <a:solidFill>
            <a:srgbClr val="35E5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98500" y="412750"/>
            <a:ext cx="6985000" cy="254000"/>
          </a:xfrm>
          <a:prstGeom prst="rect">
            <a:avLst/>
          </a:prstGeom>
          <a:noFill/>
        </p:spPr>
        <p:txBody>
          <a:bodyPr wrap="none" lIns="0" rIns="0" tIns="0" bIns="0">
            <a:spAutoFit/>
          </a:bodyPr>
          <a:lstStyle/>
          <a:p>
            <a:pPr>
              <a:lnSpc>
                <a:spcPts val="1600"/>
              </a:lnSpc>
              <a:spcBef>
                <a:spcPts val="0"/>
              </a:spcBef>
              <a:spcAft>
                <a:spcPts val="0"/>
              </a:spcAft>
            </a:pPr>
            <a:r>
              <a:rPr sz="1300" b="1">
                <a:solidFill>
                  <a:srgbClr val="35E5C5"/>
                </a:solidFill>
                <a:latin typeface="Arial"/>
              </a:rPr>
              <a:t>NEONSHIFT  /  C</a:t>
            </a:r>
          </a:p>
        </p:txBody>
      </p:sp>
      <p:sp>
        <p:nvSpPr>
          <p:cNvPr id="4" name="TextBox 3"/>
          <p:cNvSpPr txBox="1"/>
          <p:nvPr/>
        </p:nvSpPr>
        <p:spPr>
          <a:xfrm>
            <a:off x="10795000" y="412750"/>
            <a:ext cx="952500" cy="254000"/>
          </a:xfrm>
          <a:prstGeom prst="rect">
            <a:avLst/>
          </a:prstGeom>
          <a:noFill/>
        </p:spPr>
        <p:txBody>
          <a:bodyPr wrap="none" lIns="0" rIns="0" tIns="0" bIns="0">
            <a:spAutoFit/>
          </a:bodyPr>
          <a:lstStyle/>
          <a:p>
            <a:pPr>
              <a:lnSpc>
                <a:spcPts val="1600"/>
              </a:lnSpc>
              <a:spcBef>
                <a:spcPts val="0"/>
              </a:spcBef>
              <a:spcAft>
                <a:spcPts val="0"/>
              </a:spcAft>
            </a:pPr>
            <a:r>
              <a:rPr sz="1300" b="0">
                <a:solidFill>
                  <a:srgbClr val="A8B6CF"/>
                </a:solidFill>
                <a:latin typeface="Arial"/>
              </a:rPr>
              <a:t>05 / 10</a:t>
            </a:r>
          </a:p>
        </p:txBody>
      </p:sp>
      <p:sp>
        <p:nvSpPr>
          <p:cNvPr id="5" name="TextBox 4"/>
          <p:cNvSpPr txBox="1"/>
          <p:nvPr/>
        </p:nvSpPr>
        <p:spPr>
          <a:xfrm>
            <a:off x="508000" y="1206500"/>
            <a:ext cx="11176000" cy="1143000"/>
          </a:xfrm>
          <a:prstGeom prst="rect">
            <a:avLst/>
          </a:prstGeom>
          <a:noFill/>
        </p:spPr>
        <p:txBody>
          <a:bodyPr wrap="none" lIns="0" rIns="0" tIns="0" bIns="0">
            <a:spAutoFit/>
          </a:bodyPr>
          <a:lstStyle/>
          <a:p>
            <a:pPr>
              <a:lnSpc>
                <a:spcPts val="4300"/>
              </a:lnSpc>
              <a:spcBef>
                <a:spcPts val="0"/>
              </a:spcBef>
              <a:spcAft>
                <a:spcPts val="0"/>
              </a:spcAft>
            </a:pPr>
            <a:r>
              <a:rPr sz="3500" b="1">
                <a:solidFill>
                  <a:srgbClr val="F3F7FF"/>
                </a:solidFill>
                <a:latin typeface="Arial"/>
              </a:rPr>
              <a:t>Your approval.</a:t>
            </a:r>
          </a:p>
          <a:p>
            <a:pPr>
              <a:lnSpc>
                <a:spcPts val="4300"/>
              </a:lnSpc>
              <a:spcBef>
                <a:spcPts val="0"/>
              </a:spcBef>
              <a:spcAft>
                <a:spcPts val="0"/>
              </a:spcAft>
            </a:pPr>
            <a:r>
              <a:rPr sz="3500" b="1">
                <a:solidFill>
                  <a:srgbClr val="F3F7FF"/>
                </a:solidFill>
                <a:latin typeface="Arial"/>
              </a:rPr>
              <a:t>An onchain claim.</a:t>
            </a:r>
          </a:p>
        </p:txBody>
      </p:sp>
      <p:sp>
        <p:nvSpPr>
          <p:cNvPr id="6" name="TextBox 5"/>
          <p:cNvSpPr txBox="1"/>
          <p:nvPr/>
        </p:nvSpPr>
        <p:spPr>
          <a:xfrm>
            <a:off x="539750" y="2984500"/>
            <a:ext cx="11176000" cy="609600"/>
          </a:xfrm>
          <a:prstGeom prst="rect">
            <a:avLst/>
          </a:prstGeom>
          <a:noFill/>
        </p:spPr>
        <p:txBody>
          <a:bodyPr wrap="none" lIns="0" rIns="0" tIns="0" bIns="0">
            <a:spAutoFit/>
          </a:bodyPr>
          <a:lstStyle/>
          <a:p>
            <a:pPr>
              <a:lnSpc>
                <a:spcPts val="2200"/>
              </a:lnSpc>
              <a:spcBef>
                <a:spcPts val="0"/>
              </a:spcBef>
              <a:spcAft>
                <a:spcPts val="0"/>
              </a:spcAft>
            </a:pPr>
            <a:r>
              <a:rPr sz="1800" b="0">
                <a:solidFill>
                  <a:srgbClr val="A8B6CF"/>
                </a:solidFill>
                <a:latin typeface="Arial"/>
              </a:rPr>
              <a:t>Qualifying summary</a:t>
            </a:r>
          </a:p>
          <a:p>
            <a:pPr>
              <a:lnSpc>
                <a:spcPts val="2200"/>
              </a:lnSpc>
              <a:spcBef>
                <a:spcPts val="0"/>
              </a:spcBef>
              <a:spcAft>
                <a:spcPts val="0"/>
              </a:spcAft>
            </a:pPr>
            <a:r>
              <a:rPr sz="1800" b="0">
                <a:solidFill>
                  <a:srgbClr val="A8B6CF"/>
                </a:solidFill>
                <a:latin typeface="Arial"/>
              </a:rPr>
              <a:t>→ Wallet approval → Explorer</a:t>
            </a:r>
          </a:p>
        </p:txBody>
      </p:sp>
      <p:sp>
        <p:nvSpPr>
          <p:cNvPr id="7" name="TextBox 6"/>
          <p:cNvSpPr txBox="1"/>
          <p:nvPr/>
        </p:nvSpPr>
        <p:spPr>
          <a:xfrm>
            <a:off x="539750" y="4127500"/>
            <a:ext cx="1117600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35E5C5"/>
                </a:solidFill>
                <a:latin typeface="Arial"/>
              </a:rPr>
              <a:t>SOLANA DEVNET</a:t>
            </a:r>
          </a:p>
        </p:txBody>
      </p:sp>
      <p:sp>
        <p:nvSpPr>
          <p:cNvPr id="8" name="Rectangle 7"/>
          <p:cNvSpPr/>
          <p:nvPr/>
        </p:nvSpPr>
        <p:spPr>
          <a:xfrm>
            <a:off x="7810499" y="1492250"/>
            <a:ext cx="3810000" cy="825500"/>
          </a:xfrm>
          <a:prstGeom prst="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01000" y="1619250"/>
            <a:ext cx="571500" cy="260350"/>
          </a:xfrm>
          <a:prstGeom prst="rect">
            <a:avLst/>
          </a:prstGeom>
          <a:noFill/>
        </p:spPr>
        <p:txBody>
          <a:bodyPr wrap="none" lIns="0" rIns="0" tIns="0" bIns="0">
            <a:spAutoFit/>
          </a:bodyPr>
          <a:lstStyle/>
          <a:p>
            <a:pPr>
              <a:lnSpc>
                <a:spcPts val="1650"/>
              </a:lnSpc>
              <a:spcBef>
                <a:spcPts val="0"/>
              </a:spcBef>
              <a:spcAft>
                <a:spcPts val="0"/>
              </a:spcAft>
            </a:pPr>
            <a:r>
              <a:rPr sz="1350" b="1">
                <a:solidFill>
                  <a:srgbClr val="35E5C5"/>
                </a:solidFill>
                <a:latin typeface="Arial"/>
              </a:rPr>
              <a:t>01</a:t>
            </a:r>
          </a:p>
        </p:txBody>
      </p:sp>
      <p:sp>
        <p:nvSpPr>
          <p:cNvPr id="10" name="TextBox 9"/>
          <p:cNvSpPr txBox="1"/>
          <p:nvPr/>
        </p:nvSpPr>
        <p:spPr>
          <a:xfrm>
            <a:off x="8001000" y="1905000"/>
            <a:ext cx="339725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F3F7FF"/>
                </a:solidFill>
                <a:latin typeface="Arial"/>
              </a:rPr>
              <a:t>QUALIFYING SUMMARY</a:t>
            </a:r>
          </a:p>
        </p:txBody>
      </p:sp>
      <p:sp>
        <p:nvSpPr>
          <p:cNvPr id="11" name="Rectangle 10"/>
          <p:cNvSpPr/>
          <p:nvPr/>
        </p:nvSpPr>
        <p:spPr>
          <a:xfrm>
            <a:off x="7810499" y="2584450"/>
            <a:ext cx="3810000" cy="825500"/>
          </a:xfrm>
          <a:prstGeom prst="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01000" y="2711450"/>
            <a:ext cx="571500" cy="260350"/>
          </a:xfrm>
          <a:prstGeom prst="rect">
            <a:avLst/>
          </a:prstGeom>
          <a:noFill/>
        </p:spPr>
        <p:txBody>
          <a:bodyPr wrap="none" lIns="0" rIns="0" tIns="0" bIns="0">
            <a:spAutoFit/>
          </a:bodyPr>
          <a:lstStyle/>
          <a:p>
            <a:pPr>
              <a:lnSpc>
                <a:spcPts val="1650"/>
              </a:lnSpc>
              <a:spcBef>
                <a:spcPts val="0"/>
              </a:spcBef>
              <a:spcAft>
                <a:spcPts val="0"/>
              </a:spcAft>
            </a:pPr>
            <a:r>
              <a:rPr sz="1350" b="1">
                <a:solidFill>
                  <a:srgbClr val="35E5C5"/>
                </a:solidFill>
                <a:latin typeface="Arial"/>
              </a:rPr>
              <a:t>02</a:t>
            </a:r>
          </a:p>
        </p:txBody>
      </p:sp>
      <p:sp>
        <p:nvSpPr>
          <p:cNvPr id="13" name="TextBox 12"/>
          <p:cNvSpPr txBox="1"/>
          <p:nvPr/>
        </p:nvSpPr>
        <p:spPr>
          <a:xfrm>
            <a:off x="8001000" y="2997200"/>
            <a:ext cx="339725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F3F7FF"/>
                </a:solidFill>
                <a:latin typeface="Arial"/>
              </a:rPr>
              <a:t>WALLET APPROVAL</a:t>
            </a:r>
          </a:p>
        </p:txBody>
      </p:sp>
      <p:sp>
        <p:nvSpPr>
          <p:cNvPr id="14" name="Rectangle 13"/>
          <p:cNvSpPr/>
          <p:nvPr/>
        </p:nvSpPr>
        <p:spPr>
          <a:xfrm>
            <a:off x="7810499" y="3676649"/>
            <a:ext cx="3810000" cy="825500"/>
          </a:xfrm>
          <a:prstGeom prst="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01000" y="3803650"/>
            <a:ext cx="571500" cy="260350"/>
          </a:xfrm>
          <a:prstGeom prst="rect">
            <a:avLst/>
          </a:prstGeom>
          <a:noFill/>
        </p:spPr>
        <p:txBody>
          <a:bodyPr wrap="none" lIns="0" rIns="0" tIns="0" bIns="0">
            <a:spAutoFit/>
          </a:bodyPr>
          <a:lstStyle/>
          <a:p>
            <a:pPr>
              <a:lnSpc>
                <a:spcPts val="1650"/>
              </a:lnSpc>
              <a:spcBef>
                <a:spcPts val="0"/>
              </a:spcBef>
              <a:spcAft>
                <a:spcPts val="0"/>
              </a:spcAft>
            </a:pPr>
            <a:r>
              <a:rPr sz="1350" b="1">
                <a:solidFill>
                  <a:srgbClr val="35E5C5"/>
                </a:solidFill>
                <a:latin typeface="Arial"/>
              </a:rPr>
              <a:t>03</a:t>
            </a:r>
          </a:p>
        </p:txBody>
      </p:sp>
      <p:sp>
        <p:nvSpPr>
          <p:cNvPr id="16" name="TextBox 15"/>
          <p:cNvSpPr txBox="1"/>
          <p:nvPr/>
        </p:nvSpPr>
        <p:spPr>
          <a:xfrm>
            <a:off x="8001000" y="4089400"/>
            <a:ext cx="339725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F3F7FF"/>
                </a:solidFill>
                <a:latin typeface="Arial"/>
              </a:rPr>
              <a:t>DEVNET EXPLORER</a:t>
            </a:r>
          </a:p>
        </p:txBody>
      </p:sp>
      <p:sp>
        <p:nvSpPr>
          <p:cNvPr id="17" name="TextBox 16"/>
          <p:cNvSpPr txBox="1"/>
          <p:nvPr/>
        </p:nvSpPr>
        <p:spPr>
          <a:xfrm>
            <a:off x="539750" y="5353050"/>
            <a:ext cx="1111250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FFD080"/>
                </a:solidFill>
                <a:latin typeface="Arial"/>
              </a:rPr>
              <a:t>WORKFLOW OVERVIEW</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70B16"/>
        </a:solidFill>
        <a:effectLst/>
      </p:bgPr>
    </p:bg>
    <p:spTree>
      <p:nvGrpSpPr>
        <p:cNvPr id="1" name=""/>
        <p:cNvGrpSpPr/>
        <p:nvPr/>
      </p:nvGrpSpPr>
      <p:grpSpPr/>
      <p:sp>
        <p:nvSpPr>
          <p:cNvPr id="2" name="Rectangle 1"/>
          <p:cNvSpPr/>
          <p:nvPr/>
        </p:nvSpPr>
        <p:spPr>
          <a:xfrm>
            <a:off x="508000" y="412750"/>
            <a:ext cx="50800" cy="158750"/>
          </a:xfrm>
          <a:prstGeom prst="rect">
            <a:avLst/>
          </a:prstGeom>
          <a:solidFill>
            <a:srgbClr val="35E5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98500" y="412750"/>
            <a:ext cx="6985000" cy="254000"/>
          </a:xfrm>
          <a:prstGeom prst="rect">
            <a:avLst/>
          </a:prstGeom>
          <a:noFill/>
        </p:spPr>
        <p:txBody>
          <a:bodyPr wrap="none" lIns="0" rIns="0" tIns="0" bIns="0">
            <a:spAutoFit/>
          </a:bodyPr>
          <a:lstStyle/>
          <a:p>
            <a:pPr>
              <a:lnSpc>
                <a:spcPts val="1600"/>
              </a:lnSpc>
              <a:spcBef>
                <a:spcPts val="0"/>
              </a:spcBef>
              <a:spcAft>
                <a:spcPts val="0"/>
              </a:spcAft>
            </a:pPr>
            <a:r>
              <a:rPr sz="1300" b="1">
                <a:solidFill>
                  <a:srgbClr val="35E5C5"/>
                </a:solidFill>
                <a:latin typeface="Arial"/>
              </a:rPr>
              <a:t>NEONSHIFT  /  C</a:t>
            </a:r>
          </a:p>
        </p:txBody>
      </p:sp>
      <p:sp>
        <p:nvSpPr>
          <p:cNvPr id="4" name="TextBox 3"/>
          <p:cNvSpPr txBox="1"/>
          <p:nvPr/>
        </p:nvSpPr>
        <p:spPr>
          <a:xfrm>
            <a:off x="10795000" y="412750"/>
            <a:ext cx="952500" cy="254000"/>
          </a:xfrm>
          <a:prstGeom prst="rect">
            <a:avLst/>
          </a:prstGeom>
          <a:noFill/>
        </p:spPr>
        <p:txBody>
          <a:bodyPr wrap="none" lIns="0" rIns="0" tIns="0" bIns="0">
            <a:spAutoFit/>
          </a:bodyPr>
          <a:lstStyle/>
          <a:p>
            <a:pPr>
              <a:lnSpc>
                <a:spcPts val="1600"/>
              </a:lnSpc>
              <a:spcBef>
                <a:spcPts val="0"/>
              </a:spcBef>
              <a:spcAft>
                <a:spcPts val="0"/>
              </a:spcAft>
            </a:pPr>
            <a:r>
              <a:rPr sz="1300" b="0">
                <a:solidFill>
                  <a:srgbClr val="A8B6CF"/>
                </a:solidFill>
                <a:latin typeface="Arial"/>
              </a:rPr>
              <a:t>06 / 10</a:t>
            </a:r>
          </a:p>
        </p:txBody>
      </p:sp>
      <p:sp>
        <p:nvSpPr>
          <p:cNvPr id="5" name="TextBox 4"/>
          <p:cNvSpPr txBox="1"/>
          <p:nvPr/>
        </p:nvSpPr>
        <p:spPr>
          <a:xfrm>
            <a:off x="508000" y="1206500"/>
            <a:ext cx="7112000" cy="1143000"/>
          </a:xfrm>
          <a:prstGeom prst="rect">
            <a:avLst/>
          </a:prstGeom>
          <a:noFill/>
        </p:spPr>
        <p:txBody>
          <a:bodyPr wrap="none" lIns="0" rIns="0" tIns="0" bIns="0">
            <a:spAutoFit/>
          </a:bodyPr>
          <a:lstStyle/>
          <a:p>
            <a:pPr>
              <a:lnSpc>
                <a:spcPts val="4300"/>
              </a:lnSpc>
              <a:spcBef>
                <a:spcPts val="0"/>
              </a:spcBef>
              <a:spcAft>
                <a:spcPts val="0"/>
              </a:spcAft>
            </a:pPr>
            <a:r>
              <a:rPr sz="3500" b="1">
                <a:solidFill>
                  <a:srgbClr val="F3F7FF"/>
                </a:solidFill>
                <a:latin typeface="Arial"/>
              </a:rPr>
              <a:t>Collect milestones.</a:t>
            </a:r>
          </a:p>
          <a:p>
            <a:pPr>
              <a:lnSpc>
                <a:spcPts val="4300"/>
              </a:lnSpc>
              <a:spcBef>
                <a:spcPts val="0"/>
              </a:spcBef>
              <a:spcAft>
                <a:spcPts val="0"/>
              </a:spcAft>
            </a:pPr>
            <a:r>
              <a:rPr sz="3500" b="1">
                <a:solidFill>
                  <a:srgbClr val="F3F7FF"/>
                </a:solidFill>
                <a:latin typeface="Arial"/>
              </a:rPr>
              <a:t>Keep the meaning.</a:t>
            </a:r>
          </a:p>
        </p:txBody>
      </p:sp>
      <p:sp>
        <p:nvSpPr>
          <p:cNvPr id="6" name="TextBox 5"/>
          <p:cNvSpPr txBox="1"/>
          <p:nvPr/>
        </p:nvSpPr>
        <p:spPr>
          <a:xfrm>
            <a:off x="539750" y="2984500"/>
            <a:ext cx="7112000" cy="609600"/>
          </a:xfrm>
          <a:prstGeom prst="rect">
            <a:avLst/>
          </a:prstGeom>
          <a:noFill/>
        </p:spPr>
        <p:txBody>
          <a:bodyPr wrap="none" lIns="0" rIns="0" tIns="0" bIns="0">
            <a:spAutoFit/>
          </a:bodyPr>
          <a:lstStyle/>
          <a:p>
            <a:pPr>
              <a:lnSpc>
                <a:spcPts val="2200"/>
              </a:lnSpc>
              <a:spcBef>
                <a:spcPts val="0"/>
              </a:spcBef>
              <a:spcAft>
                <a:spcPts val="0"/>
              </a:spcAft>
            </a:pPr>
            <a:r>
              <a:rPr sz="1800" b="0">
                <a:solidFill>
                  <a:srgbClr val="A8B6CF"/>
                </a:solidFill>
                <a:latin typeface="Arial"/>
              </a:rPr>
              <a:t>Achievements have their own</a:t>
            </a:r>
          </a:p>
          <a:p>
            <a:pPr>
              <a:lnSpc>
                <a:spcPts val="2200"/>
              </a:lnSpc>
              <a:spcBef>
                <a:spcPts val="0"/>
              </a:spcBef>
              <a:spcAft>
                <a:spcPts val="0"/>
              </a:spcAft>
            </a:pPr>
            <a:r>
              <a:rPr sz="1800" b="0">
                <a:solidFill>
                  <a:srgbClr val="A8B6CF"/>
                </a:solidFill>
                <a:latin typeface="Arial"/>
              </a:rPr>
              <a:t>requirements and approval.</a:t>
            </a:r>
          </a:p>
        </p:txBody>
      </p:sp>
      <p:sp>
        <p:nvSpPr>
          <p:cNvPr id="7" name="TextBox 6"/>
          <p:cNvSpPr txBox="1"/>
          <p:nvPr/>
        </p:nvSpPr>
        <p:spPr>
          <a:xfrm>
            <a:off x="539750" y="4127500"/>
            <a:ext cx="711200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35E5C5"/>
                </a:solidFill>
                <a:latin typeface="Arial"/>
              </a:rPr>
              <a:t>RAW HEALTH RECORDS: NOT ONCHAIN</a:t>
            </a:r>
          </a:p>
        </p:txBody>
      </p:sp>
      <p:sp>
        <p:nvSpPr>
          <p:cNvPr id="8" name="Rectangle 7"/>
          <p:cNvSpPr/>
          <p:nvPr/>
        </p:nvSpPr>
        <p:spPr>
          <a:xfrm>
            <a:off x="8128000" y="965200"/>
            <a:ext cx="3429000" cy="4127500"/>
          </a:xfrm>
          <a:prstGeom prst="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2026-10-02_c14_s06_nft-first5k-detail.png"/>
          <p:cNvPicPr>
            <a:picLocks noChangeAspect="1"/>
          </p:cNvPicPr>
          <p:nvPr/>
        </p:nvPicPr>
        <p:blipFill>
          <a:blip r:embed="rId2"/>
          <a:stretch>
            <a:fillRect/>
          </a:stretch>
        </p:blipFill>
        <p:spPr>
          <a:xfrm>
            <a:off x="8972550" y="1079500"/>
            <a:ext cx="1739900" cy="3873499"/>
          </a:xfrm>
          <a:prstGeom prst="rect">
            <a:avLst/>
          </a:prstGeom>
        </p:spPr>
      </p:pic>
      <p:sp>
        <p:nvSpPr>
          <p:cNvPr id="10" name="TextBox 9"/>
          <p:cNvSpPr txBox="1"/>
          <p:nvPr/>
        </p:nvSpPr>
        <p:spPr>
          <a:xfrm>
            <a:off x="539750" y="4737100"/>
            <a:ext cx="7112000" cy="247649"/>
          </a:xfrm>
          <a:prstGeom prst="rect">
            <a:avLst/>
          </a:prstGeom>
          <a:noFill/>
        </p:spPr>
        <p:txBody>
          <a:bodyPr wrap="none" lIns="0" rIns="0" tIns="0" bIns="0">
            <a:spAutoFit/>
          </a:bodyPr>
          <a:lstStyle/>
          <a:p>
            <a:pPr>
              <a:lnSpc>
                <a:spcPts val="1550"/>
              </a:lnSpc>
              <a:spcBef>
                <a:spcPts val="0"/>
              </a:spcBef>
              <a:spcAft>
                <a:spcPts val="0"/>
              </a:spcAft>
            </a:pPr>
            <a:r>
              <a:rPr sz="1250" b="0">
                <a:solidFill>
                  <a:srgbClr val="FFD080"/>
                </a:solidFill>
                <a:latin typeface="Arial"/>
              </a:rPr>
              <a:t>DEVICE CAPTURE · OCT 02 · APK CODE 14</a:t>
            </a:r>
          </a:p>
        </p:txBody>
      </p:sp>
      <p:sp>
        <p:nvSpPr>
          <p:cNvPr id="11" name="TextBox 10"/>
          <p:cNvSpPr txBox="1"/>
          <p:nvPr/>
        </p:nvSpPr>
        <p:spPr>
          <a:xfrm>
            <a:off x="539750" y="5353050"/>
            <a:ext cx="1111250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FFD080"/>
                </a:solidFill>
                <a:latin typeface="Arial"/>
              </a:rPr>
              <a:t>REAL DATA · NO DEMO OVERRIDE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70B16"/>
        </a:solidFill>
        <a:effectLst/>
      </p:bgPr>
    </p:bg>
    <p:spTree>
      <p:nvGrpSpPr>
        <p:cNvPr id="1" name=""/>
        <p:cNvGrpSpPr/>
        <p:nvPr/>
      </p:nvGrpSpPr>
      <p:grpSpPr/>
      <p:sp>
        <p:nvSpPr>
          <p:cNvPr id="2" name="Rectangle 1"/>
          <p:cNvSpPr/>
          <p:nvPr/>
        </p:nvSpPr>
        <p:spPr>
          <a:xfrm>
            <a:off x="508000" y="412750"/>
            <a:ext cx="50800" cy="158750"/>
          </a:xfrm>
          <a:prstGeom prst="rect">
            <a:avLst/>
          </a:prstGeom>
          <a:solidFill>
            <a:srgbClr val="35E5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98500" y="412750"/>
            <a:ext cx="6985000" cy="254000"/>
          </a:xfrm>
          <a:prstGeom prst="rect">
            <a:avLst/>
          </a:prstGeom>
          <a:noFill/>
        </p:spPr>
        <p:txBody>
          <a:bodyPr wrap="none" lIns="0" rIns="0" tIns="0" bIns="0">
            <a:spAutoFit/>
          </a:bodyPr>
          <a:lstStyle/>
          <a:p>
            <a:pPr>
              <a:lnSpc>
                <a:spcPts val="1600"/>
              </a:lnSpc>
              <a:spcBef>
                <a:spcPts val="0"/>
              </a:spcBef>
              <a:spcAft>
                <a:spcPts val="0"/>
              </a:spcAft>
            </a:pPr>
            <a:r>
              <a:rPr sz="1300" b="1">
                <a:solidFill>
                  <a:srgbClr val="35E5C5"/>
                </a:solidFill>
                <a:latin typeface="Arial"/>
              </a:rPr>
              <a:t>NEONSHIFT  /  D</a:t>
            </a:r>
          </a:p>
        </p:txBody>
      </p:sp>
      <p:sp>
        <p:nvSpPr>
          <p:cNvPr id="4" name="TextBox 3"/>
          <p:cNvSpPr txBox="1"/>
          <p:nvPr/>
        </p:nvSpPr>
        <p:spPr>
          <a:xfrm>
            <a:off x="10795000" y="412750"/>
            <a:ext cx="952500" cy="254000"/>
          </a:xfrm>
          <a:prstGeom prst="rect">
            <a:avLst/>
          </a:prstGeom>
          <a:noFill/>
        </p:spPr>
        <p:txBody>
          <a:bodyPr wrap="none" lIns="0" rIns="0" tIns="0" bIns="0">
            <a:spAutoFit/>
          </a:bodyPr>
          <a:lstStyle/>
          <a:p>
            <a:pPr>
              <a:lnSpc>
                <a:spcPts val="1600"/>
              </a:lnSpc>
              <a:spcBef>
                <a:spcPts val="0"/>
              </a:spcBef>
              <a:spcAft>
                <a:spcPts val="0"/>
              </a:spcAft>
            </a:pPr>
            <a:r>
              <a:rPr sz="1300" b="0">
                <a:solidFill>
                  <a:srgbClr val="A8B6CF"/>
                </a:solidFill>
                <a:latin typeface="Arial"/>
              </a:rPr>
              <a:t>07 / 10</a:t>
            </a:r>
          </a:p>
        </p:txBody>
      </p:sp>
      <p:sp>
        <p:nvSpPr>
          <p:cNvPr id="5" name="TextBox 4"/>
          <p:cNvSpPr txBox="1"/>
          <p:nvPr/>
        </p:nvSpPr>
        <p:spPr>
          <a:xfrm>
            <a:off x="508000" y="1206500"/>
            <a:ext cx="7112000" cy="1143000"/>
          </a:xfrm>
          <a:prstGeom prst="rect">
            <a:avLst/>
          </a:prstGeom>
          <a:noFill/>
        </p:spPr>
        <p:txBody>
          <a:bodyPr wrap="none" lIns="0" rIns="0" tIns="0" bIns="0">
            <a:spAutoFit/>
          </a:bodyPr>
          <a:lstStyle/>
          <a:p>
            <a:pPr>
              <a:lnSpc>
                <a:spcPts val="4300"/>
              </a:lnSpc>
              <a:spcBef>
                <a:spcPts val="0"/>
              </a:spcBef>
              <a:spcAft>
                <a:spcPts val="0"/>
              </a:spcAft>
            </a:pPr>
            <a:r>
              <a:rPr sz="3500" b="1">
                <a:solidFill>
                  <a:srgbClr val="F3F7FF"/>
                </a:solidFill>
                <a:latin typeface="Arial"/>
              </a:rPr>
              <a:t>Earn eligibility.</a:t>
            </a:r>
          </a:p>
          <a:p>
            <a:pPr>
              <a:lnSpc>
                <a:spcPts val="4300"/>
              </a:lnSpc>
              <a:spcBef>
                <a:spcPts val="0"/>
              </a:spcBef>
              <a:spcAft>
                <a:spcPts val="0"/>
              </a:spcAft>
            </a:pPr>
            <a:r>
              <a:rPr sz="3500" b="1">
                <a:solidFill>
                  <a:srgbClr val="F3F7FF"/>
                </a:solidFill>
                <a:latin typeface="Arial"/>
              </a:rPr>
              <a:t>Unlock your frame.</a:t>
            </a:r>
          </a:p>
        </p:txBody>
      </p:sp>
      <p:sp>
        <p:nvSpPr>
          <p:cNvPr id="6" name="TextBox 5"/>
          <p:cNvSpPr txBox="1"/>
          <p:nvPr/>
        </p:nvSpPr>
        <p:spPr>
          <a:xfrm>
            <a:off x="539750" y="2984500"/>
            <a:ext cx="7112000" cy="609600"/>
          </a:xfrm>
          <a:prstGeom prst="rect">
            <a:avLst/>
          </a:prstGeom>
          <a:noFill/>
        </p:spPr>
        <p:txBody>
          <a:bodyPr wrap="none" lIns="0" rIns="0" tIns="0" bIns="0">
            <a:spAutoFit/>
          </a:bodyPr>
          <a:lstStyle/>
          <a:p>
            <a:pPr>
              <a:lnSpc>
                <a:spcPts val="2200"/>
              </a:lnSpc>
              <a:spcBef>
                <a:spcPts val="0"/>
              </a:spcBef>
              <a:spcAft>
                <a:spcPts val="0"/>
              </a:spcAft>
            </a:pPr>
            <a:r>
              <a:rPr sz="1800" b="0">
                <a:solidFill>
                  <a:srgbClr val="A8B6CF"/>
                </a:solidFill>
                <a:latin typeface="Arial"/>
              </a:rPr>
              <a:t>Verified first 5K eligibility.</a:t>
            </a:r>
          </a:p>
          <a:p>
            <a:pPr>
              <a:lnSpc>
                <a:spcPts val="2200"/>
              </a:lnSpc>
              <a:spcBef>
                <a:spcPts val="0"/>
              </a:spcBef>
              <a:spcAft>
                <a:spcPts val="0"/>
              </a:spcAft>
            </a:pPr>
            <a:r>
              <a:rPr sz="1800" b="0">
                <a:solidFill>
                  <a:srgbClr val="A8B6CF"/>
                </a:solidFill>
                <a:latin typeface="Arial"/>
              </a:rPr>
              <a:t>Server-set order, price, recipient.</a:t>
            </a:r>
          </a:p>
        </p:txBody>
      </p:sp>
      <p:sp>
        <p:nvSpPr>
          <p:cNvPr id="7" name="TextBox 6"/>
          <p:cNvSpPr txBox="1"/>
          <p:nvPr/>
        </p:nvSpPr>
        <p:spPr>
          <a:xfrm>
            <a:off x="539750" y="4127500"/>
            <a:ext cx="711200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35E5C5"/>
                </a:solidFill>
                <a:latin typeface="Arial"/>
              </a:rPr>
              <a:t>COSMETIC PAYMENT</a:t>
            </a:r>
          </a:p>
        </p:txBody>
      </p:sp>
      <p:sp>
        <p:nvSpPr>
          <p:cNvPr id="8" name="Rectangle 7"/>
          <p:cNvSpPr/>
          <p:nvPr/>
        </p:nvSpPr>
        <p:spPr>
          <a:xfrm>
            <a:off x="8128000" y="965200"/>
            <a:ext cx="3429000" cy="4127500"/>
          </a:xfrm>
          <a:prstGeom prst="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2026-10-01-skr-devnet-eligible.png"/>
          <p:cNvPicPr>
            <a:picLocks noChangeAspect="1"/>
          </p:cNvPicPr>
          <p:nvPr/>
        </p:nvPicPr>
        <p:blipFill>
          <a:blip r:embed="rId2"/>
          <a:stretch>
            <a:fillRect/>
          </a:stretch>
        </p:blipFill>
        <p:spPr>
          <a:xfrm>
            <a:off x="8972550" y="1079500"/>
            <a:ext cx="1739900" cy="3873499"/>
          </a:xfrm>
          <a:prstGeom prst="rect">
            <a:avLst/>
          </a:prstGeom>
        </p:spPr>
      </p:pic>
      <p:sp>
        <p:nvSpPr>
          <p:cNvPr id="10" name="TextBox 9"/>
          <p:cNvSpPr txBox="1"/>
          <p:nvPr/>
        </p:nvSpPr>
        <p:spPr>
          <a:xfrm>
            <a:off x="539750" y="4737100"/>
            <a:ext cx="7112000" cy="247649"/>
          </a:xfrm>
          <a:prstGeom prst="rect">
            <a:avLst/>
          </a:prstGeom>
          <a:noFill/>
        </p:spPr>
        <p:txBody>
          <a:bodyPr wrap="none" lIns="0" rIns="0" tIns="0" bIns="0">
            <a:spAutoFit/>
          </a:bodyPr>
          <a:lstStyle/>
          <a:p>
            <a:pPr>
              <a:lnSpc>
                <a:spcPts val="1550"/>
              </a:lnSpc>
              <a:spcBef>
                <a:spcPts val="0"/>
              </a:spcBef>
              <a:spcAft>
                <a:spcPts val="0"/>
              </a:spcAft>
            </a:pPr>
            <a:r>
              <a:rPr sz="1250" b="0">
                <a:solidFill>
                  <a:srgbClr val="FFD080"/>
                </a:solidFill>
                <a:latin typeface="Arial"/>
              </a:rPr>
              <a:t>DEVICE CAPTURE · OCT 01 · APK CODE 11</a:t>
            </a:r>
          </a:p>
        </p:txBody>
      </p:sp>
      <p:sp>
        <p:nvSpPr>
          <p:cNvPr id="11" name="TextBox 10"/>
          <p:cNvSpPr txBox="1"/>
          <p:nvPr/>
        </p:nvSpPr>
        <p:spPr>
          <a:xfrm>
            <a:off x="539750" y="5353050"/>
            <a:ext cx="1111250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FFD080"/>
                </a:solidFill>
                <a:latin typeface="Arial"/>
              </a:rPr>
              <a:t>TEST SKR · DEVNET · NOT OFFICIAL SKR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70B16"/>
        </a:solidFill>
        <a:effectLst/>
      </p:bgPr>
    </p:bg>
    <p:spTree>
      <p:nvGrpSpPr>
        <p:cNvPr id="1" name=""/>
        <p:cNvGrpSpPr/>
        <p:nvPr/>
      </p:nvGrpSpPr>
      <p:grpSpPr/>
      <p:sp>
        <p:nvSpPr>
          <p:cNvPr id="2" name="Rectangle 1"/>
          <p:cNvSpPr/>
          <p:nvPr/>
        </p:nvSpPr>
        <p:spPr>
          <a:xfrm>
            <a:off x="508000" y="412750"/>
            <a:ext cx="50800" cy="158750"/>
          </a:xfrm>
          <a:prstGeom prst="rect">
            <a:avLst/>
          </a:prstGeom>
          <a:solidFill>
            <a:srgbClr val="35E5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98500" y="412750"/>
            <a:ext cx="6985000" cy="254000"/>
          </a:xfrm>
          <a:prstGeom prst="rect">
            <a:avLst/>
          </a:prstGeom>
          <a:noFill/>
        </p:spPr>
        <p:txBody>
          <a:bodyPr wrap="none" lIns="0" rIns="0" tIns="0" bIns="0">
            <a:spAutoFit/>
          </a:bodyPr>
          <a:lstStyle/>
          <a:p>
            <a:pPr>
              <a:lnSpc>
                <a:spcPts val="1600"/>
              </a:lnSpc>
              <a:spcBef>
                <a:spcPts val="0"/>
              </a:spcBef>
              <a:spcAft>
                <a:spcPts val="0"/>
              </a:spcAft>
            </a:pPr>
            <a:r>
              <a:rPr sz="1300" b="1">
                <a:solidFill>
                  <a:srgbClr val="35E5C5"/>
                </a:solidFill>
                <a:latin typeface="Arial"/>
              </a:rPr>
              <a:t>NEONSHIFT  /  D</a:t>
            </a:r>
          </a:p>
        </p:txBody>
      </p:sp>
      <p:sp>
        <p:nvSpPr>
          <p:cNvPr id="4" name="TextBox 3"/>
          <p:cNvSpPr txBox="1"/>
          <p:nvPr/>
        </p:nvSpPr>
        <p:spPr>
          <a:xfrm>
            <a:off x="10795000" y="412750"/>
            <a:ext cx="952500" cy="254000"/>
          </a:xfrm>
          <a:prstGeom prst="rect">
            <a:avLst/>
          </a:prstGeom>
          <a:noFill/>
        </p:spPr>
        <p:txBody>
          <a:bodyPr wrap="none" lIns="0" rIns="0" tIns="0" bIns="0">
            <a:spAutoFit/>
          </a:bodyPr>
          <a:lstStyle/>
          <a:p>
            <a:pPr>
              <a:lnSpc>
                <a:spcPts val="1600"/>
              </a:lnSpc>
              <a:spcBef>
                <a:spcPts val="0"/>
              </a:spcBef>
              <a:spcAft>
                <a:spcPts val="0"/>
              </a:spcAft>
            </a:pPr>
            <a:r>
              <a:rPr sz="1300" b="0">
                <a:solidFill>
                  <a:srgbClr val="A8B6CF"/>
                </a:solidFill>
                <a:latin typeface="Arial"/>
              </a:rPr>
              <a:t>08 / 10</a:t>
            </a:r>
          </a:p>
        </p:txBody>
      </p:sp>
      <p:sp>
        <p:nvSpPr>
          <p:cNvPr id="5" name="TextBox 4"/>
          <p:cNvSpPr txBox="1"/>
          <p:nvPr/>
        </p:nvSpPr>
        <p:spPr>
          <a:xfrm>
            <a:off x="508000" y="1206500"/>
            <a:ext cx="7112000" cy="1143000"/>
          </a:xfrm>
          <a:prstGeom prst="rect">
            <a:avLst/>
          </a:prstGeom>
          <a:noFill/>
        </p:spPr>
        <p:txBody>
          <a:bodyPr wrap="none" lIns="0" rIns="0" tIns="0" bIns="0">
            <a:spAutoFit/>
          </a:bodyPr>
          <a:lstStyle/>
          <a:p>
            <a:pPr>
              <a:lnSpc>
                <a:spcPts val="4300"/>
              </a:lnSpc>
              <a:spcBef>
                <a:spcPts val="0"/>
              </a:spcBef>
              <a:spcAft>
                <a:spcPts val="0"/>
              </a:spcAft>
            </a:pPr>
            <a:r>
              <a:rPr sz="3500" b="1">
                <a:solidFill>
                  <a:srgbClr val="F3F7FF"/>
                </a:solidFill>
                <a:latin typeface="Arial"/>
              </a:rPr>
              <a:t>Confirmed payment.</a:t>
            </a:r>
          </a:p>
          <a:p>
            <a:pPr>
              <a:lnSpc>
                <a:spcPts val="4300"/>
              </a:lnSpc>
              <a:spcBef>
                <a:spcPts val="0"/>
              </a:spcBef>
              <a:spcAft>
                <a:spcPts val="0"/>
              </a:spcAft>
            </a:pPr>
            <a:r>
              <a:rPr sz="3500" b="1">
                <a:solidFill>
                  <a:srgbClr val="F3F7FF"/>
                </a:solidFill>
                <a:latin typeface="Arial"/>
              </a:rPr>
              <a:t>Unlocked frame.</a:t>
            </a:r>
          </a:p>
        </p:txBody>
      </p:sp>
      <p:sp>
        <p:nvSpPr>
          <p:cNvPr id="6" name="TextBox 5"/>
          <p:cNvSpPr txBox="1"/>
          <p:nvPr/>
        </p:nvSpPr>
        <p:spPr>
          <a:xfrm>
            <a:off x="539750" y="2984500"/>
            <a:ext cx="7112000" cy="609600"/>
          </a:xfrm>
          <a:prstGeom prst="rect">
            <a:avLst/>
          </a:prstGeom>
          <a:noFill/>
        </p:spPr>
        <p:txBody>
          <a:bodyPr wrap="none" lIns="0" rIns="0" tIns="0" bIns="0">
            <a:spAutoFit/>
          </a:bodyPr>
          <a:lstStyle/>
          <a:p>
            <a:pPr>
              <a:lnSpc>
                <a:spcPts val="2200"/>
              </a:lnSpc>
              <a:spcBef>
                <a:spcPts val="0"/>
              </a:spcBef>
              <a:spcAft>
                <a:spcPts val="0"/>
              </a:spcAft>
            </a:pPr>
            <a:r>
              <a:rPr sz="1800" b="0">
                <a:solidFill>
                  <a:srgbClr val="A8B6CF"/>
                </a:solidFill>
                <a:latin typeface="Arial"/>
              </a:rPr>
              <a:t>Wallet approval → Onchain check</a:t>
            </a:r>
          </a:p>
          <a:p>
            <a:pPr>
              <a:lnSpc>
                <a:spcPts val="2200"/>
              </a:lnSpc>
              <a:spcBef>
                <a:spcPts val="0"/>
              </a:spcBef>
              <a:spcAft>
                <a:spcPts val="0"/>
              </a:spcAft>
            </a:pPr>
            <a:r>
              <a:rPr sz="1800" b="0">
                <a:solidFill>
                  <a:srgbClr val="A8B6CF"/>
                </a:solidFill>
                <a:latin typeface="Arial"/>
              </a:rPr>
              <a:t>→ Cosmetic unlock</a:t>
            </a:r>
          </a:p>
        </p:txBody>
      </p:sp>
      <p:sp>
        <p:nvSpPr>
          <p:cNvPr id="7" name="TextBox 6"/>
          <p:cNvSpPr txBox="1"/>
          <p:nvPr/>
        </p:nvSpPr>
        <p:spPr>
          <a:xfrm>
            <a:off x="539750" y="4127500"/>
            <a:ext cx="711200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35E5C5"/>
                </a:solidFill>
                <a:latin typeface="Arial"/>
              </a:rPr>
              <a:t>NO XP, RECORDS OR ACHIEVEMENTS BOUGHT</a:t>
            </a:r>
          </a:p>
        </p:txBody>
      </p:sp>
      <p:sp>
        <p:nvSpPr>
          <p:cNvPr id="8" name="Rectangle 7"/>
          <p:cNvSpPr/>
          <p:nvPr/>
        </p:nvSpPr>
        <p:spPr>
          <a:xfrm>
            <a:off x="8128000" y="965200"/>
            <a:ext cx="3429000" cy="4127500"/>
          </a:xfrm>
          <a:prstGeom prst="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2026-10-01-skr-devnet-paid.png"/>
          <p:cNvPicPr>
            <a:picLocks noChangeAspect="1"/>
          </p:cNvPicPr>
          <p:nvPr/>
        </p:nvPicPr>
        <p:blipFill>
          <a:blip r:embed="rId2"/>
          <a:stretch>
            <a:fillRect/>
          </a:stretch>
        </p:blipFill>
        <p:spPr>
          <a:xfrm>
            <a:off x="8972550" y="1079500"/>
            <a:ext cx="1739900" cy="3873499"/>
          </a:xfrm>
          <a:prstGeom prst="rect">
            <a:avLst/>
          </a:prstGeom>
        </p:spPr>
      </p:pic>
      <p:sp>
        <p:nvSpPr>
          <p:cNvPr id="10" name="TextBox 9"/>
          <p:cNvSpPr txBox="1"/>
          <p:nvPr/>
        </p:nvSpPr>
        <p:spPr>
          <a:xfrm>
            <a:off x="539750" y="4737100"/>
            <a:ext cx="7112000" cy="247649"/>
          </a:xfrm>
          <a:prstGeom prst="rect">
            <a:avLst/>
          </a:prstGeom>
          <a:noFill/>
        </p:spPr>
        <p:txBody>
          <a:bodyPr wrap="none" lIns="0" rIns="0" tIns="0" bIns="0">
            <a:spAutoFit/>
          </a:bodyPr>
          <a:lstStyle/>
          <a:p>
            <a:pPr>
              <a:lnSpc>
                <a:spcPts val="1550"/>
              </a:lnSpc>
              <a:spcBef>
                <a:spcPts val="0"/>
              </a:spcBef>
              <a:spcAft>
                <a:spcPts val="0"/>
              </a:spcAft>
            </a:pPr>
            <a:r>
              <a:rPr sz="1250" b="0">
                <a:solidFill>
                  <a:srgbClr val="FFD080"/>
                </a:solidFill>
                <a:latin typeface="Arial"/>
              </a:rPr>
              <a:t>DEVICE CAPTURE · OCT 01 · APK CODE 11</a:t>
            </a:r>
          </a:p>
        </p:txBody>
      </p:sp>
      <p:sp>
        <p:nvSpPr>
          <p:cNvPr id="11" name="TextBox 10"/>
          <p:cNvSpPr txBox="1"/>
          <p:nvPr/>
        </p:nvSpPr>
        <p:spPr>
          <a:xfrm>
            <a:off x="539750" y="5353050"/>
            <a:ext cx="1111250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FFD080"/>
                </a:solidFill>
                <a:latin typeface="Arial"/>
              </a:rPr>
              <a:t>TEST SKR · DEVNET · NOT OFFICIAL SKR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70B16"/>
        </a:solidFill>
        <a:effectLst/>
      </p:bgPr>
    </p:bg>
    <p:spTree>
      <p:nvGrpSpPr>
        <p:cNvPr id="1" name=""/>
        <p:cNvGrpSpPr/>
        <p:nvPr/>
      </p:nvGrpSpPr>
      <p:grpSpPr/>
      <p:sp>
        <p:nvSpPr>
          <p:cNvPr id="2" name="Rectangle 1"/>
          <p:cNvSpPr/>
          <p:nvPr/>
        </p:nvSpPr>
        <p:spPr>
          <a:xfrm>
            <a:off x="508000" y="412750"/>
            <a:ext cx="50800" cy="158750"/>
          </a:xfrm>
          <a:prstGeom prst="rect">
            <a:avLst/>
          </a:prstGeom>
          <a:solidFill>
            <a:srgbClr val="35E5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98500" y="412750"/>
            <a:ext cx="6985000" cy="254000"/>
          </a:xfrm>
          <a:prstGeom prst="rect">
            <a:avLst/>
          </a:prstGeom>
          <a:noFill/>
        </p:spPr>
        <p:txBody>
          <a:bodyPr wrap="none" lIns="0" rIns="0" tIns="0" bIns="0">
            <a:spAutoFit/>
          </a:bodyPr>
          <a:lstStyle/>
          <a:p>
            <a:pPr>
              <a:lnSpc>
                <a:spcPts val="1600"/>
              </a:lnSpc>
              <a:spcBef>
                <a:spcPts val="0"/>
              </a:spcBef>
              <a:spcAft>
                <a:spcPts val="0"/>
              </a:spcAft>
            </a:pPr>
            <a:r>
              <a:rPr sz="1300" b="1">
                <a:solidFill>
                  <a:srgbClr val="35E5C5"/>
                </a:solidFill>
                <a:latin typeface="Arial"/>
              </a:rPr>
              <a:t>NEONSHIFT  /  E</a:t>
            </a:r>
          </a:p>
        </p:txBody>
      </p:sp>
      <p:sp>
        <p:nvSpPr>
          <p:cNvPr id="4" name="TextBox 3"/>
          <p:cNvSpPr txBox="1"/>
          <p:nvPr/>
        </p:nvSpPr>
        <p:spPr>
          <a:xfrm>
            <a:off x="10795000" y="412750"/>
            <a:ext cx="952500" cy="254000"/>
          </a:xfrm>
          <a:prstGeom prst="rect">
            <a:avLst/>
          </a:prstGeom>
          <a:noFill/>
        </p:spPr>
        <p:txBody>
          <a:bodyPr wrap="none" lIns="0" rIns="0" tIns="0" bIns="0">
            <a:spAutoFit/>
          </a:bodyPr>
          <a:lstStyle/>
          <a:p>
            <a:pPr>
              <a:lnSpc>
                <a:spcPts val="1600"/>
              </a:lnSpc>
              <a:spcBef>
                <a:spcPts val="0"/>
              </a:spcBef>
              <a:spcAft>
                <a:spcPts val="0"/>
              </a:spcAft>
            </a:pPr>
            <a:r>
              <a:rPr sz="1300" b="0">
                <a:solidFill>
                  <a:srgbClr val="A8B6CF"/>
                </a:solidFill>
                <a:latin typeface="Arial"/>
              </a:rPr>
              <a:t>09 / 10</a:t>
            </a:r>
          </a:p>
        </p:txBody>
      </p:sp>
      <p:sp>
        <p:nvSpPr>
          <p:cNvPr id="5" name="TextBox 4"/>
          <p:cNvSpPr txBox="1"/>
          <p:nvPr/>
        </p:nvSpPr>
        <p:spPr>
          <a:xfrm>
            <a:off x="508000" y="1206500"/>
            <a:ext cx="7112000" cy="1143000"/>
          </a:xfrm>
          <a:prstGeom prst="rect">
            <a:avLst/>
          </a:prstGeom>
          <a:noFill/>
        </p:spPr>
        <p:txBody>
          <a:bodyPr wrap="none" lIns="0" rIns="0" tIns="0" bIns="0">
            <a:spAutoFit/>
          </a:bodyPr>
          <a:lstStyle/>
          <a:p>
            <a:pPr>
              <a:lnSpc>
                <a:spcPts val="4300"/>
              </a:lnSpc>
              <a:spcBef>
                <a:spcPts val="0"/>
              </a:spcBef>
              <a:spcAft>
                <a:spcPts val="0"/>
              </a:spcAft>
            </a:pPr>
            <a:r>
              <a:rPr sz="3500" b="1">
                <a:solidFill>
                  <a:srgbClr val="F3F7FF"/>
                </a:solidFill>
                <a:latin typeface="Arial"/>
              </a:rPr>
              <a:t>Progress with</a:t>
            </a:r>
          </a:p>
          <a:p>
            <a:pPr>
              <a:lnSpc>
                <a:spcPts val="4300"/>
              </a:lnSpc>
              <a:spcBef>
                <a:spcPts val="0"/>
              </a:spcBef>
              <a:spcAft>
                <a:spcPts val="0"/>
              </a:spcAft>
            </a:pPr>
            <a:r>
              <a:rPr sz="3500" b="1">
                <a:solidFill>
                  <a:srgbClr val="F3F7FF"/>
                </a:solidFill>
                <a:latin typeface="Arial"/>
              </a:rPr>
              <a:t>a wildlife story.</a:t>
            </a:r>
          </a:p>
        </p:txBody>
      </p:sp>
      <p:sp>
        <p:nvSpPr>
          <p:cNvPr id="6" name="TextBox 5"/>
          <p:cNvSpPr txBox="1"/>
          <p:nvPr/>
        </p:nvSpPr>
        <p:spPr>
          <a:xfrm>
            <a:off x="539750" y="2984500"/>
            <a:ext cx="7112000" cy="609600"/>
          </a:xfrm>
          <a:prstGeom prst="rect">
            <a:avLst/>
          </a:prstGeom>
          <a:noFill/>
        </p:spPr>
        <p:txBody>
          <a:bodyPr wrap="none" lIns="0" rIns="0" tIns="0" bIns="0">
            <a:spAutoFit/>
          </a:bodyPr>
          <a:lstStyle/>
          <a:p>
            <a:pPr>
              <a:lnSpc>
                <a:spcPts val="2200"/>
              </a:lnSpc>
              <a:spcBef>
                <a:spcPts val="0"/>
              </a:spcBef>
              <a:spcAft>
                <a:spcPts val="0"/>
              </a:spcAft>
            </a:pPr>
            <a:r>
              <a:rPr sz="1800" b="0">
                <a:solidFill>
                  <a:srgbClr val="A8B6CF"/>
                </a:solidFill>
                <a:latin typeface="Arial"/>
              </a:rPr>
              <a:t>Conservation learning today.</a:t>
            </a:r>
          </a:p>
          <a:p>
            <a:pPr>
              <a:lnSpc>
                <a:spcPts val="2200"/>
              </a:lnSpc>
              <a:spcBef>
                <a:spcPts val="0"/>
              </a:spcBef>
              <a:spcAft>
                <a:spcPts val="0"/>
              </a:spcAft>
            </a:pPr>
            <a:r>
              <a:rPr sz="1800" b="0">
                <a:solidFill>
                  <a:srgbClr val="A8B6CF"/>
                </a:solidFill>
                <a:latin typeface="Arial"/>
              </a:rPr>
              <a:t>Community pilots are planned.</a:t>
            </a:r>
          </a:p>
        </p:txBody>
      </p:sp>
      <p:sp>
        <p:nvSpPr>
          <p:cNvPr id="7" name="TextBox 6"/>
          <p:cNvSpPr txBox="1"/>
          <p:nvPr/>
        </p:nvSpPr>
        <p:spPr>
          <a:xfrm>
            <a:off x="539750" y="4127500"/>
            <a:ext cx="711200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35E5C5"/>
                </a:solidFill>
                <a:latin typeface="Arial"/>
              </a:rPr>
              <a:t>NEXT: LOCAL PILOTS</a:t>
            </a:r>
          </a:p>
        </p:txBody>
      </p:sp>
      <p:sp>
        <p:nvSpPr>
          <p:cNvPr id="8" name="Rectangle 7"/>
          <p:cNvSpPr/>
          <p:nvPr/>
        </p:nvSpPr>
        <p:spPr>
          <a:xfrm>
            <a:off x="8128000" y="965200"/>
            <a:ext cx="3429000" cy="4127500"/>
          </a:xfrm>
          <a:prstGeom prst="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2026-10-02_c14_s09_elephant-habitat.png"/>
          <p:cNvPicPr>
            <a:picLocks noChangeAspect="1"/>
          </p:cNvPicPr>
          <p:nvPr/>
        </p:nvPicPr>
        <p:blipFill>
          <a:blip r:embed="rId2"/>
          <a:stretch>
            <a:fillRect/>
          </a:stretch>
        </p:blipFill>
        <p:spPr>
          <a:xfrm>
            <a:off x="8972550" y="1079500"/>
            <a:ext cx="1739900" cy="3873499"/>
          </a:xfrm>
          <a:prstGeom prst="rect">
            <a:avLst/>
          </a:prstGeom>
        </p:spPr>
      </p:pic>
      <p:sp>
        <p:nvSpPr>
          <p:cNvPr id="10" name="TextBox 9"/>
          <p:cNvSpPr txBox="1"/>
          <p:nvPr/>
        </p:nvSpPr>
        <p:spPr>
          <a:xfrm>
            <a:off x="539750" y="4737100"/>
            <a:ext cx="7112000" cy="247649"/>
          </a:xfrm>
          <a:prstGeom prst="rect">
            <a:avLst/>
          </a:prstGeom>
          <a:noFill/>
        </p:spPr>
        <p:txBody>
          <a:bodyPr wrap="none" lIns="0" rIns="0" tIns="0" bIns="0">
            <a:spAutoFit/>
          </a:bodyPr>
          <a:lstStyle/>
          <a:p>
            <a:pPr>
              <a:lnSpc>
                <a:spcPts val="1550"/>
              </a:lnSpc>
              <a:spcBef>
                <a:spcPts val="0"/>
              </a:spcBef>
              <a:spcAft>
                <a:spcPts val="0"/>
              </a:spcAft>
            </a:pPr>
            <a:r>
              <a:rPr sz="1250" b="0">
                <a:solidFill>
                  <a:srgbClr val="FFD080"/>
                </a:solidFill>
                <a:latin typeface="Arial"/>
              </a:rPr>
              <a:t>DEVICE CAPTURE · OCT 02 · APK CODE 14</a:t>
            </a:r>
          </a:p>
        </p:txBody>
      </p:sp>
      <p:sp>
        <p:nvSpPr>
          <p:cNvPr id="11" name="TextBox 10"/>
          <p:cNvSpPr txBox="1"/>
          <p:nvPr/>
        </p:nvSpPr>
        <p:spPr>
          <a:xfrm>
            <a:off x="539750" y="5353050"/>
            <a:ext cx="1111250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FFD080"/>
                </a:solidFill>
                <a:latin typeface="Arial"/>
              </a:rPr>
              <a:t>IN-APP STORY CARD · PILOTS PLANNED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70B16"/>
        </a:solidFill>
        <a:effectLst/>
      </p:bgPr>
    </p:bg>
    <p:spTree>
      <p:nvGrpSpPr>
        <p:cNvPr id="1" name=""/>
        <p:cNvGrpSpPr/>
        <p:nvPr/>
      </p:nvGrpSpPr>
      <p:grpSpPr/>
      <p:sp>
        <p:nvSpPr>
          <p:cNvPr id="2" name="Rectangle 1"/>
          <p:cNvSpPr/>
          <p:nvPr/>
        </p:nvSpPr>
        <p:spPr>
          <a:xfrm>
            <a:off x="508000" y="412750"/>
            <a:ext cx="50800" cy="158750"/>
          </a:xfrm>
          <a:prstGeom prst="rect">
            <a:avLst/>
          </a:prstGeom>
          <a:solidFill>
            <a:srgbClr val="35E5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98500" y="412750"/>
            <a:ext cx="6985000" cy="254000"/>
          </a:xfrm>
          <a:prstGeom prst="rect">
            <a:avLst/>
          </a:prstGeom>
          <a:noFill/>
        </p:spPr>
        <p:txBody>
          <a:bodyPr wrap="none" lIns="0" rIns="0" tIns="0" bIns="0">
            <a:spAutoFit/>
          </a:bodyPr>
          <a:lstStyle/>
          <a:p>
            <a:pPr>
              <a:lnSpc>
                <a:spcPts val="1600"/>
              </a:lnSpc>
              <a:spcBef>
                <a:spcPts val="0"/>
              </a:spcBef>
              <a:spcAft>
                <a:spcPts val="0"/>
              </a:spcAft>
            </a:pPr>
            <a:r>
              <a:rPr sz="1300" b="1">
                <a:solidFill>
                  <a:srgbClr val="35E5C5"/>
                </a:solidFill>
                <a:latin typeface="Arial"/>
              </a:rPr>
              <a:t>NEONSHIFT  /  E</a:t>
            </a:r>
          </a:p>
        </p:txBody>
      </p:sp>
      <p:sp>
        <p:nvSpPr>
          <p:cNvPr id="4" name="TextBox 3"/>
          <p:cNvSpPr txBox="1"/>
          <p:nvPr/>
        </p:nvSpPr>
        <p:spPr>
          <a:xfrm>
            <a:off x="10795000" y="412750"/>
            <a:ext cx="952500" cy="254000"/>
          </a:xfrm>
          <a:prstGeom prst="rect">
            <a:avLst/>
          </a:prstGeom>
          <a:noFill/>
        </p:spPr>
        <p:txBody>
          <a:bodyPr wrap="none" lIns="0" rIns="0" tIns="0" bIns="0">
            <a:spAutoFit/>
          </a:bodyPr>
          <a:lstStyle/>
          <a:p>
            <a:pPr>
              <a:lnSpc>
                <a:spcPts val="1600"/>
              </a:lnSpc>
              <a:spcBef>
                <a:spcPts val="0"/>
              </a:spcBef>
              <a:spcAft>
                <a:spcPts val="0"/>
              </a:spcAft>
            </a:pPr>
            <a:r>
              <a:rPr sz="1300" b="0">
                <a:solidFill>
                  <a:srgbClr val="A8B6CF"/>
                </a:solidFill>
                <a:latin typeface="Arial"/>
              </a:rPr>
              <a:t>10 / 10</a:t>
            </a:r>
          </a:p>
        </p:txBody>
      </p:sp>
      <p:sp>
        <p:nvSpPr>
          <p:cNvPr id="5" name="TextBox 4"/>
          <p:cNvSpPr txBox="1"/>
          <p:nvPr/>
        </p:nvSpPr>
        <p:spPr>
          <a:xfrm>
            <a:off x="508000" y="1206500"/>
            <a:ext cx="11176000" cy="1689100"/>
          </a:xfrm>
          <a:prstGeom prst="rect">
            <a:avLst/>
          </a:prstGeom>
          <a:noFill/>
        </p:spPr>
        <p:txBody>
          <a:bodyPr wrap="none" lIns="0" rIns="0" tIns="0" bIns="0">
            <a:spAutoFit/>
          </a:bodyPr>
          <a:lstStyle/>
          <a:p>
            <a:pPr>
              <a:lnSpc>
                <a:spcPts val="4300"/>
              </a:lnSpc>
              <a:spcBef>
                <a:spcPts val="0"/>
              </a:spcBef>
              <a:spcAft>
                <a:spcPts val="0"/>
              </a:spcAft>
            </a:pPr>
            <a:r>
              <a:rPr sz="3500" b="1">
                <a:solidFill>
                  <a:srgbClr val="F3F7FF"/>
                </a:solidFill>
                <a:latin typeface="Arial"/>
              </a:rPr>
              <a:t>Move for yourself.</a:t>
            </a:r>
          </a:p>
          <a:p>
            <a:pPr>
              <a:lnSpc>
                <a:spcPts val="4300"/>
              </a:lnSpc>
              <a:spcBef>
                <a:spcPts val="0"/>
              </a:spcBef>
              <a:spcAft>
                <a:spcPts val="0"/>
              </a:spcAft>
            </a:pPr>
            <a:r>
              <a:rPr sz="3500" b="1">
                <a:solidFill>
                  <a:srgbClr val="F3F7FF"/>
                </a:solidFill>
                <a:latin typeface="Arial"/>
              </a:rPr>
              <a:t>Move together</a:t>
            </a:r>
          </a:p>
          <a:p>
            <a:pPr>
              <a:lnSpc>
                <a:spcPts val="4300"/>
              </a:lnSpc>
              <a:spcBef>
                <a:spcPts val="0"/>
              </a:spcBef>
              <a:spcAft>
                <a:spcPts val="0"/>
              </a:spcAft>
            </a:pPr>
            <a:r>
              <a:rPr sz="3500" b="1">
                <a:solidFill>
                  <a:srgbClr val="F3F7FF"/>
                </a:solidFill>
                <a:latin typeface="Arial"/>
              </a:rPr>
              <a:t>for nature.</a:t>
            </a:r>
          </a:p>
        </p:txBody>
      </p:sp>
      <p:sp>
        <p:nvSpPr>
          <p:cNvPr id="6" name="TextBox 5"/>
          <p:cNvSpPr txBox="1"/>
          <p:nvPr/>
        </p:nvSpPr>
        <p:spPr>
          <a:xfrm>
            <a:off x="539750" y="2984500"/>
            <a:ext cx="11176000" cy="330200"/>
          </a:xfrm>
          <a:prstGeom prst="rect">
            <a:avLst/>
          </a:prstGeom>
          <a:noFill/>
        </p:spPr>
        <p:txBody>
          <a:bodyPr wrap="none" lIns="0" rIns="0" tIns="0" bIns="0">
            <a:spAutoFit/>
          </a:bodyPr>
          <a:lstStyle/>
          <a:p>
            <a:pPr>
              <a:lnSpc>
                <a:spcPts val="2200"/>
              </a:lnSpc>
              <a:spcBef>
                <a:spcPts val="0"/>
              </a:spcBef>
              <a:spcAft>
                <a:spcPts val="0"/>
              </a:spcAft>
            </a:pPr>
            <a:r>
              <a:rPr sz="1800" b="0">
                <a:solidFill>
                  <a:srgbClr val="A8B6CF"/>
                </a:solidFill>
                <a:latin typeface="Arial"/>
              </a:rPr>
              <a:t>Explore NeonShift.</a:t>
            </a:r>
          </a:p>
        </p:txBody>
      </p:sp>
      <p:sp>
        <p:nvSpPr>
          <p:cNvPr id="7" name="TextBox 6"/>
          <p:cNvSpPr txBox="1"/>
          <p:nvPr/>
        </p:nvSpPr>
        <p:spPr>
          <a:xfrm>
            <a:off x="539750" y="4127500"/>
            <a:ext cx="1117600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35E5C5"/>
                </a:solidFill>
                <a:latin typeface="Arial"/>
              </a:rPr>
              <a:t>ANDROID APP  /  SOURCE  /  REVIEWER GUIDE</a:t>
            </a:r>
          </a:p>
        </p:txBody>
      </p:sp>
      <p:sp>
        <p:nvSpPr>
          <p:cNvPr id="8" name="TextBox 7"/>
          <p:cNvSpPr txBox="1"/>
          <p:nvPr/>
        </p:nvSpPr>
        <p:spPr>
          <a:xfrm>
            <a:off x="539750" y="5353050"/>
            <a:ext cx="1111250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FFD080"/>
                </a:solidFill>
                <a:latin typeface="Arial"/>
              </a:rPr>
              <a:t>NEONSHIFT · SOLANA MOBILE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