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0:00–0:18</a:t>
            </a:r>
          </a:p>
          <a:p/>
          <a:p>
            <a:r>
              <a:t>ENGLISH VOICEOVER</a:t>
            </a:r>
          </a:p>
          <a:p>
            <a:r>
              <a:t>What keeps us moving after the first few days? NeonShift turns everyday movement into visible progress, wildlife-inspired shoes, and a reason to return. Built for Solana Mobile, it connects personal achievement with a wider purpose.</a:t>
            </a:r>
          </a:p>
          <a:p/>
          <a:p>
            <a:r>
              <a:t>PRODUCTION NOTES</a:t>
            </a:r>
          </a:p>
          <a:p>
            <a:r>
              <a:t>目前為 2026-09-14 早期實機截圖，含尚未配置鏈上程式的狀態；不是交易證據。正式影片以提交 APK 首頁錄影替換。前 2 秒可加戶外起步，包含在 18 秒內。</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0:18–0:43</a:t>
            </a:r>
          </a:p>
          <a:p/>
          <a:p>
            <a:r>
              <a:t>ENGLISH VOICEOVER</a:t>
            </a:r>
          </a:p>
          <a:p>
            <a:r>
              <a:t>Start with a walk or a run. Follow your pace, complete daily goals, and build your progress over time. Your starter shoes and level upgrades are free. Each session adds to a journey you can see, rather than another number to forget.</a:t>
            </a:r>
          </a:p>
          <a:p/>
          <a:p>
            <a:r>
              <a:t>PRODUCTION NOTES</a:t>
            </a:r>
          </a:p>
          <a:p>
            <a:r>
              <a:t>右側為舊版 Gear UI，尚非 Wild Guardians 系列。正式影片替換為本次提交版本：運動頁 → 每日目標 → 等級進度。GPS 運動追蹤不等同 Health Connect 申領依據。</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0:43–1:29</a:t>
            </a:r>
          </a:p>
          <a:p/>
          <a:p>
            <a:r>
              <a:t>ENGLISH VOICEOVER</a:t>
            </a:r>
          </a:p>
          <a:p>
            <a:r>
              <a:t>NeonShift connects qualifying daily activity with a claim on Solana devnet. An activity summary from Android Health Connect is checked before you approve the claim in your wallet. The resulting transaction can be viewed in the explorer. Raw health records stay on your phone; they are not published onchain. The prototype uses test tokens with no monetary value. The blockchain records the claim, not every step of your run.</a:t>
            </a:r>
          </a:p>
          <a:p/>
          <a:p>
            <a:r>
              <a:t>PRODUCTION NOTES</a:t>
            </a:r>
          </a:p>
          <a:p>
            <a:r>
              <a:t>本頁為流程圖，非已成功交易。正式影片以合格摘要 → 打卡 → 錢包確認 → 成功 → 同筆 Explorer 實錄覆蓋中間流程區。僅證據完成後改為 REAL DEVICE · DEVNET；縮短等待需標 Wait time shortened。</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1:29–2:03</a:t>
            </a:r>
          </a:p>
          <a:p/>
          <a:p>
            <a:r>
              <a:t>ENGLISH VOICEOVER</a:t>
            </a:r>
          </a:p>
          <a:p>
            <a:r>
              <a:t>As you level up, discover Wild Guardians: shoes inspired by threatened wildlife, from the Asian elephant to the hawksbill turtle. Each design introduces an animal, the pressures on its habitat, and a small action you can take. These personal finishes are cosmetic. They connect your progress with a story worth remembering, and a world worth caring about.</a:t>
            </a:r>
          </a:p>
          <a:p/>
          <a:p>
            <a:r>
              <a:t>PRODUCTION NOTES</a:t>
            </a:r>
          </a:p>
          <a:p>
            <a:r>
              <a:t>本頁使用專案既有設計圖。正式影片補已解鎖鞋款、鞋面特寫與物種故事卡；圖不可冒充實機。使用試拆時標 DEMO PREVIEW，切帳號標 Prepared demo account。不稱隨機 NFT、付費抽獎或保育收益權。</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2:03–2:29</a:t>
            </a:r>
          </a:p>
          <a:p/>
          <a:p>
            <a:r>
              <a:t>ENGLISH VOICEOVER</a:t>
            </a:r>
          </a:p>
          <a:p>
            <a:r>
              <a:t>The journey also reaches beyond solo exercise. This event prototype previews registration and staff-confirmed check-in. Participants show a code; authorized staff confirm attendance. Event participation connects back to your personal journey. Our next step is to test this experience with local communities and conservation partners.</a:t>
            </a:r>
          </a:p>
          <a:p/>
          <a:p>
            <a:r>
              <a:t>PRODUCTION NOTES</a:t>
            </a:r>
          </a:p>
          <a:p>
            <a:r>
              <a:t>雙角色流程示意。完成提交 APK 端到端驗收後替換為報名 → 出示代碼 → 授權 staff 輸入 → 狀態確認，保留 TEST DATA 標示。不可改成 staff 相機掃碼或暗示 NFC 為出席證明；活動報到不等同每日鏈上打卡。</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2:29–2:50</a:t>
            </a:r>
          </a:p>
          <a:p/>
          <a:p>
            <a:r>
              <a:t>ENGLISH VOICEOVER</a:t>
            </a:r>
          </a:p>
          <a:p>
            <a:r>
              <a:t>Our direction is simple: move for yourself, move together for nature. We plan to fund useful event services through paying partners, with conservation contributions tracked separately. NeonShift brings movement, meaningful progress, and conservation learning into one mobile experience.</a:t>
            </a:r>
          </a:p>
          <a:p/>
          <a:p>
            <a:r>
              <a:t>PRODUCTION NOTES</a:t>
            </a:r>
          </a:p>
          <a:p>
            <a:r>
              <a:t>最後至少靜止 2 秒。正式發布 APK、原始碼與評審指南後，才在影片說明欄與片尾加可點連結／QR。現有投影片不放未發布連結或佔位網址；尚無已確認合作、捐款或減碳實績。</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70B16"/>
        </a:solidFill>
        <a:effectLst/>
      </p:bgPr>
    </p:bg>
    <p:spTree>
      <p:nvGrpSpPr>
        <p:cNvPr id="1" name=""/>
        <p:cNvGrpSpPr/>
        <p:nvPr/>
      </p:nvGrpSpPr>
      <p:grpSpPr/>
      <p:sp>
        <p:nvSpPr>
          <p:cNvPr id="2" name="Rectangle 1"/>
          <p:cNvSpPr/>
          <p:nvPr/>
        </p:nvSpPr>
        <p:spPr>
          <a:xfrm>
            <a:off x="508000" y="406400"/>
            <a:ext cx="63500" cy="152400"/>
          </a:xfrm>
          <a:prstGeom prst="rect">
            <a:avLst/>
          </a:prstGeom>
          <a:solidFill>
            <a:srgbClr val="35E5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98500" y="406400"/>
            <a:ext cx="10287000" cy="228600"/>
          </a:xfrm>
          <a:prstGeom prst="rect">
            <a:avLst/>
          </a:prstGeom>
          <a:noFill/>
        </p:spPr>
        <p:txBody>
          <a:bodyPr wrap="none" lIns="0" rIns="0" tIns="0" bIns="0">
            <a:spAutoFit/>
          </a:bodyPr>
          <a:lstStyle/>
          <a:p>
            <a:pPr>
              <a:lnSpc>
                <a:spcPts val="1400"/>
              </a:lnSpc>
              <a:spcBef>
                <a:spcPts val="0"/>
              </a:spcBef>
              <a:spcAft>
                <a:spcPts val="0"/>
              </a:spcAft>
            </a:pPr>
            <a:r>
              <a:rPr sz="1150" b="1">
                <a:solidFill>
                  <a:srgbClr val="35E5C5"/>
                </a:solidFill>
                <a:latin typeface="Arial"/>
              </a:rPr>
              <a:t>NEONSHIFT  /  MOVE WITH PURPOSE</a:t>
            </a:r>
          </a:p>
        </p:txBody>
      </p:sp>
      <p:sp>
        <p:nvSpPr>
          <p:cNvPr id="4" name="Rectangle 3"/>
          <p:cNvSpPr/>
          <p:nvPr/>
        </p:nvSpPr>
        <p:spPr>
          <a:xfrm>
            <a:off x="508000" y="6394450"/>
            <a:ext cx="11176000" cy="12700"/>
          </a:xfrm>
          <a:prstGeom prst="rect">
            <a:avLst/>
          </a:prstGeom>
          <a:solidFill>
            <a:srgbClr val="2531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8000" y="6540500"/>
            <a:ext cx="9842500" cy="196850"/>
          </a:xfrm>
          <a:prstGeom prst="rect">
            <a:avLst/>
          </a:prstGeom>
          <a:noFill/>
        </p:spPr>
        <p:txBody>
          <a:bodyPr wrap="none" lIns="0" rIns="0" tIns="0" bIns="0">
            <a:spAutoFit/>
          </a:bodyPr>
          <a:lstStyle/>
          <a:p>
            <a:pPr>
              <a:lnSpc>
                <a:spcPts val="1150"/>
              </a:lnSpc>
              <a:spcBef>
                <a:spcPts val="0"/>
              </a:spcBef>
              <a:spcAft>
                <a:spcPts val="0"/>
              </a:spcAft>
            </a:pPr>
            <a:r>
              <a:rPr sz="950" b="0">
                <a:solidFill>
                  <a:srgbClr val="A8B6CF"/>
                </a:solidFill>
                <a:latin typeface="Arial"/>
              </a:rPr>
              <a:t>SOLANA MOBILE  /  HACKATHON PRODUCT INTRO</a:t>
            </a:r>
          </a:p>
        </p:txBody>
      </p:sp>
      <p:sp>
        <p:nvSpPr>
          <p:cNvPr id="6" name="TextBox 5"/>
          <p:cNvSpPr txBox="1"/>
          <p:nvPr/>
        </p:nvSpPr>
        <p:spPr>
          <a:xfrm>
            <a:off x="10922000" y="6527800"/>
            <a:ext cx="1016000" cy="222250"/>
          </a:xfrm>
          <a:prstGeom prst="rect">
            <a:avLst/>
          </a:prstGeom>
          <a:noFill/>
        </p:spPr>
        <p:txBody>
          <a:bodyPr wrap="none" lIns="0" rIns="0" tIns="0" bIns="0">
            <a:spAutoFit/>
          </a:bodyPr>
          <a:lstStyle/>
          <a:p>
            <a:pPr>
              <a:lnSpc>
                <a:spcPts val="1350"/>
              </a:lnSpc>
              <a:spcBef>
                <a:spcPts val="0"/>
              </a:spcBef>
              <a:spcAft>
                <a:spcPts val="0"/>
              </a:spcAft>
            </a:pPr>
            <a:r>
              <a:rPr sz="1100" b="1">
                <a:solidFill>
                  <a:srgbClr val="35E5C5"/>
                </a:solidFill>
                <a:latin typeface="Arial"/>
              </a:rPr>
              <a:t>01 / 06</a:t>
            </a:r>
          </a:p>
        </p:txBody>
      </p:sp>
      <p:sp>
        <p:nvSpPr>
          <p:cNvPr id="7" name="TextBox 6"/>
          <p:cNvSpPr txBox="1"/>
          <p:nvPr/>
        </p:nvSpPr>
        <p:spPr>
          <a:xfrm>
            <a:off x="508000" y="1333500"/>
            <a:ext cx="7112000" cy="1397000"/>
          </a:xfrm>
          <a:prstGeom prst="rect">
            <a:avLst/>
          </a:prstGeom>
          <a:noFill/>
        </p:spPr>
        <p:txBody>
          <a:bodyPr wrap="none" lIns="0" rIns="0" tIns="0" bIns="0">
            <a:spAutoFit/>
          </a:bodyPr>
          <a:lstStyle/>
          <a:p>
            <a:pPr>
              <a:lnSpc>
                <a:spcPts val="5300"/>
              </a:lnSpc>
              <a:spcBef>
                <a:spcPts val="0"/>
              </a:spcBef>
              <a:spcAft>
                <a:spcPts val="0"/>
              </a:spcAft>
            </a:pPr>
            <a:r>
              <a:rPr sz="4300" b="1">
                <a:solidFill>
                  <a:srgbClr val="F3F7FF"/>
                </a:solidFill>
                <a:latin typeface="Arial"/>
              </a:rPr>
              <a:t>Daily movement.</a:t>
            </a:r>
          </a:p>
          <a:p>
            <a:pPr>
              <a:lnSpc>
                <a:spcPts val="5300"/>
              </a:lnSpc>
              <a:spcBef>
                <a:spcPts val="0"/>
              </a:spcBef>
              <a:spcAft>
                <a:spcPts val="0"/>
              </a:spcAft>
            </a:pPr>
            <a:r>
              <a:rPr sz="4300" b="1">
                <a:solidFill>
                  <a:srgbClr val="F3F7FF"/>
                </a:solidFill>
                <a:latin typeface="Arial"/>
              </a:rPr>
              <a:t>Visible progress.</a:t>
            </a:r>
          </a:p>
        </p:txBody>
      </p:sp>
      <p:sp>
        <p:nvSpPr>
          <p:cNvPr id="8" name="TextBox 7"/>
          <p:cNvSpPr txBox="1"/>
          <p:nvPr/>
        </p:nvSpPr>
        <p:spPr>
          <a:xfrm>
            <a:off x="539750" y="2844800"/>
            <a:ext cx="6540500" cy="749300"/>
          </a:xfrm>
          <a:prstGeom prst="rect">
            <a:avLst/>
          </a:prstGeom>
          <a:noFill/>
        </p:spPr>
        <p:txBody>
          <a:bodyPr wrap="none" lIns="0" rIns="0" tIns="0" bIns="0">
            <a:spAutoFit/>
          </a:bodyPr>
          <a:lstStyle/>
          <a:p>
            <a:pPr>
              <a:lnSpc>
                <a:spcPts val="2750"/>
              </a:lnSpc>
              <a:spcBef>
                <a:spcPts val="0"/>
              </a:spcBef>
              <a:spcAft>
                <a:spcPts val="0"/>
              </a:spcAft>
            </a:pPr>
            <a:r>
              <a:rPr sz="2250" b="0">
                <a:solidFill>
                  <a:srgbClr val="A8B6CF"/>
                </a:solidFill>
                <a:latin typeface="Arial"/>
              </a:rPr>
              <a:t>A fitness experience built</a:t>
            </a:r>
          </a:p>
          <a:p>
            <a:pPr>
              <a:lnSpc>
                <a:spcPts val="2750"/>
              </a:lnSpc>
              <a:spcBef>
                <a:spcPts val="0"/>
              </a:spcBef>
              <a:spcAft>
                <a:spcPts val="0"/>
              </a:spcAft>
            </a:pPr>
            <a:r>
              <a:rPr sz="2250" b="0">
                <a:solidFill>
                  <a:srgbClr val="A8B6CF"/>
                </a:solidFill>
                <a:latin typeface="Arial"/>
              </a:rPr>
              <a:t>for Solana Mobile.</a:t>
            </a:r>
          </a:p>
        </p:txBody>
      </p:sp>
      <p:sp>
        <p:nvSpPr>
          <p:cNvPr id="9" name="Rectangle 8"/>
          <p:cNvSpPr/>
          <p:nvPr/>
        </p:nvSpPr>
        <p:spPr>
          <a:xfrm>
            <a:off x="539750" y="3987799"/>
            <a:ext cx="6350000" cy="673100"/>
          </a:xfrm>
          <a:prstGeom prst="rect">
            <a:avLst/>
          </a:prstGeom>
          <a:solidFill>
            <a:srgbClr val="111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0250" y="4203700"/>
            <a:ext cx="5905500" cy="317500"/>
          </a:xfrm>
          <a:prstGeom prst="rect">
            <a:avLst/>
          </a:prstGeom>
          <a:noFill/>
        </p:spPr>
        <p:txBody>
          <a:bodyPr wrap="none" lIns="0" rIns="0" tIns="0" bIns="0">
            <a:spAutoFit/>
          </a:bodyPr>
          <a:lstStyle/>
          <a:p>
            <a:pPr>
              <a:lnSpc>
                <a:spcPts val="2100"/>
              </a:lnSpc>
              <a:spcBef>
                <a:spcPts val="0"/>
              </a:spcBef>
              <a:spcAft>
                <a:spcPts val="0"/>
              </a:spcAft>
            </a:pPr>
            <a:r>
              <a:rPr sz="1700" b="1">
                <a:solidFill>
                  <a:srgbClr val="35E5C5"/>
                </a:solidFill>
                <a:latin typeface="Arial"/>
              </a:rPr>
              <a:t>MOVE  /  LEVEL UP  /  DISCOVER</a:t>
            </a:r>
          </a:p>
        </p:txBody>
      </p:sp>
      <p:sp>
        <p:nvSpPr>
          <p:cNvPr id="11" name="TextBox 10"/>
          <p:cNvSpPr txBox="1"/>
          <p:nvPr/>
        </p:nvSpPr>
        <p:spPr>
          <a:xfrm>
            <a:off x="539750" y="5035550"/>
            <a:ext cx="6667500" cy="342900"/>
          </a:xfrm>
          <a:prstGeom prst="rect">
            <a:avLst/>
          </a:prstGeom>
          <a:noFill/>
        </p:spPr>
        <p:txBody>
          <a:bodyPr wrap="none" lIns="0" rIns="0" tIns="0" bIns="0">
            <a:spAutoFit/>
          </a:bodyPr>
          <a:lstStyle/>
          <a:p>
            <a:pPr>
              <a:lnSpc>
                <a:spcPts val="2300"/>
              </a:lnSpc>
              <a:spcBef>
                <a:spcPts val="0"/>
              </a:spcBef>
              <a:spcAft>
                <a:spcPts val="0"/>
              </a:spcAft>
            </a:pPr>
            <a:r>
              <a:rPr sz="1850" b="0">
                <a:solidFill>
                  <a:srgbClr val="F3F7FF"/>
                </a:solidFill>
                <a:latin typeface="Arial"/>
              </a:rPr>
              <a:t>A reason to return, every day.</a:t>
            </a:r>
          </a:p>
        </p:txBody>
      </p:sp>
      <p:sp>
        <p:nvSpPr>
          <p:cNvPr id="12" name="Rectangle 11"/>
          <p:cNvSpPr/>
          <p:nvPr/>
        </p:nvSpPr>
        <p:spPr>
          <a:xfrm>
            <a:off x="8369300" y="876300"/>
            <a:ext cx="2857500" cy="5080000"/>
          </a:xfrm>
          <a:prstGeom prst="rect">
            <a:avLst/>
          </a:prstGeom>
          <a:solidFill>
            <a:srgbClr val="111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dashboard.png"/>
          <p:cNvPicPr>
            <a:picLocks noChangeAspect="1"/>
          </p:cNvPicPr>
          <p:nvPr/>
        </p:nvPicPr>
        <p:blipFill>
          <a:blip r:embed="rId2"/>
          <a:stretch>
            <a:fillRect/>
          </a:stretch>
        </p:blipFill>
        <p:spPr>
          <a:xfrm>
            <a:off x="8737600" y="984250"/>
            <a:ext cx="2114550" cy="4711700"/>
          </a:xfrm>
          <a:prstGeom prst="rect">
            <a:avLst/>
          </a:prstGeom>
        </p:spPr>
      </p:pic>
      <p:sp>
        <p:nvSpPr>
          <p:cNvPr id="14" name="TextBox 13"/>
          <p:cNvSpPr txBox="1"/>
          <p:nvPr/>
        </p:nvSpPr>
        <p:spPr>
          <a:xfrm>
            <a:off x="8509000" y="5803900"/>
            <a:ext cx="2889250" cy="215900"/>
          </a:xfrm>
          <a:prstGeom prst="rect">
            <a:avLst/>
          </a:prstGeom>
          <a:noFill/>
        </p:spPr>
        <p:txBody>
          <a:bodyPr wrap="none" lIns="0" rIns="0" tIns="0" bIns="0">
            <a:spAutoFit/>
          </a:bodyPr>
          <a:lstStyle/>
          <a:p>
            <a:pPr>
              <a:lnSpc>
                <a:spcPts val="1300"/>
              </a:lnSpc>
              <a:spcBef>
                <a:spcPts val="0"/>
              </a:spcBef>
              <a:spcAft>
                <a:spcPts val="0"/>
              </a:spcAft>
            </a:pPr>
            <a:r>
              <a:rPr sz="1050" b="1">
                <a:solidFill>
                  <a:srgbClr val="FFD080"/>
                </a:solidFill>
                <a:latin typeface="Arial"/>
              </a:rPr>
              <a:t>EARLY BUILD · SEP 14,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70B16"/>
        </a:solidFill>
        <a:effectLst/>
      </p:bgPr>
    </p:bg>
    <p:spTree>
      <p:nvGrpSpPr>
        <p:cNvPr id="1" name=""/>
        <p:cNvGrpSpPr/>
        <p:nvPr/>
      </p:nvGrpSpPr>
      <p:grpSpPr/>
      <p:sp>
        <p:nvSpPr>
          <p:cNvPr id="2" name="Rectangle 1"/>
          <p:cNvSpPr/>
          <p:nvPr/>
        </p:nvSpPr>
        <p:spPr>
          <a:xfrm>
            <a:off x="508000" y="406400"/>
            <a:ext cx="63500" cy="152400"/>
          </a:xfrm>
          <a:prstGeom prst="rect">
            <a:avLst/>
          </a:prstGeom>
          <a:solidFill>
            <a:srgbClr val="35E5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98500" y="406400"/>
            <a:ext cx="10287000" cy="228600"/>
          </a:xfrm>
          <a:prstGeom prst="rect">
            <a:avLst/>
          </a:prstGeom>
          <a:noFill/>
        </p:spPr>
        <p:txBody>
          <a:bodyPr wrap="none" lIns="0" rIns="0" tIns="0" bIns="0">
            <a:spAutoFit/>
          </a:bodyPr>
          <a:lstStyle/>
          <a:p>
            <a:pPr>
              <a:lnSpc>
                <a:spcPts val="1400"/>
              </a:lnSpc>
              <a:spcBef>
                <a:spcPts val="0"/>
              </a:spcBef>
              <a:spcAft>
                <a:spcPts val="0"/>
              </a:spcAft>
            </a:pPr>
            <a:r>
              <a:rPr sz="1150" b="1">
                <a:solidFill>
                  <a:srgbClr val="35E5C5"/>
                </a:solidFill>
                <a:latin typeface="Arial"/>
              </a:rPr>
              <a:t>NEONSHIFT  /  SEE YOUR PROGRESS</a:t>
            </a:r>
          </a:p>
        </p:txBody>
      </p:sp>
      <p:sp>
        <p:nvSpPr>
          <p:cNvPr id="4" name="Rectangle 3"/>
          <p:cNvSpPr/>
          <p:nvPr/>
        </p:nvSpPr>
        <p:spPr>
          <a:xfrm>
            <a:off x="508000" y="6394450"/>
            <a:ext cx="11176000" cy="12700"/>
          </a:xfrm>
          <a:prstGeom prst="rect">
            <a:avLst/>
          </a:prstGeom>
          <a:solidFill>
            <a:srgbClr val="2531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8000" y="6540500"/>
            <a:ext cx="9842500" cy="196850"/>
          </a:xfrm>
          <a:prstGeom prst="rect">
            <a:avLst/>
          </a:prstGeom>
          <a:noFill/>
        </p:spPr>
        <p:txBody>
          <a:bodyPr wrap="none" lIns="0" rIns="0" tIns="0" bIns="0">
            <a:spAutoFit/>
          </a:bodyPr>
          <a:lstStyle/>
          <a:p>
            <a:pPr>
              <a:lnSpc>
                <a:spcPts val="1150"/>
              </a:lnSpc>
              <a:spcBef>
                <a:spcPts val="0"/>
              </a:spcBef>
              <a:spcAft>
                <a:spcPts val="0"/>
              </a:spcAft>
            </a:pPr>
            <a:r>
              <a:rPr sz="950" b="0">
                <a:solidFill>
                  <a:srgbClr val="A8B6CF"/>
                </a:solidFill>
                <a:latin typeface="Arial"/>
              </a:rPr>
              <a:t>SOLANA MOBILE  /  HACKATHON PRODUCT INTRO</a:t>
            </a:r>
          </a:p>
        </p:txBody>
      </p:sp>
      <p:sp>
        <p:nvSpPr>
          <p:cNvPr id="6" name="TextBox 5"/>
          <p:cNvSpPr txBox="1"/>
          <p:nvPr/>
        </p:nvSpPr>
        <p:spPr>
          <a:xfrm>
            <a:off x="10922000" y="6527800"/>
            <a:ext cx="1016000" cy="222250"/>
          </a:xfrm>
          <a:prstGeom prst="rect">
            <a:avLst/>
          </a:prstGeom>
          <a:noFill/>
        </p:spPr>
        <p:txBody>
          <a:bodyPr wrap="none" lIns="0" rIns="0" tIns="0" bIns="0">
            <a:spAutoFit/>
          </a:bodyPr>
          <a:lstStyle/>
          <a:p>
            <a:pPr>
              <a:lnSpc>
                <a:spcPts val="1350"/>
              </a:lnSpc>
              <a:spcBef>
                <a:spcPts val="0"/>
              </a:spcBef>
              <a:spcAft>
                <a:spcPts val="0"/>
              </a:spcAft>
            </a:pPr>
            <a:r>
              <a:rPr sz="1100" b="1">
                <a:solidFill>
                  <a:srgbClr val="35E5C5"/>
                </a:solidFill>
                <a:latin typeface="Arial"/>
              </a:rPr>
              <a:t>02 / 06</a:t>
            </a:r>
          </a:p>
        </p:txBody>
      </p:sp>
      <p:sp>
        <p:nvSpPr>
          <p:cNvPr id="7" name="TextBox 6"/>
          <p:cNvSpPr txBox="1"/>
          <p:nvPr/>
        </p:nvSpPr>
        <p:spPr>
          <a:xfrm>
            <a:off x="508000" y="1111250"/>
            <a:ext cx="7048500" cy="1206500"/>
          </a:xfrm>
          <a:prstGeom prst="rect">
            <a:avLst/>
          </a:prstGeom>
          <a:noFill/>
        </p:spPr>
        <p:txBody>
          <a:bodyPr wrap="none" lIns="0" rIns="0" tIns="0" bIns="0">
            <a:spAutoFit/>
          </a:bodyPr>
          <a:lstStyle/>
          <a:p>
            <a:pPr>
              <a:lnSpc>
                <a:spcPts val="4550"/>
              </a:lnSpc>
              <a:spcBef>
                <a:spcPts val="0"/>
              </a:spcBef>
              <a:spcAft>
                <a:spcPts val="0"/>
              </a:spcAft>
            </a:pPr>
            <a:r>
              <a:rPr sz="3700" b="1">
                <a:solidFill>
                  <a:srgbClr val="F3F7FF"/>
                </a:solidFill>
                <a:latin typeface="Arial"/>
              </a:rPr>
              <a:t>Every session</a:t>
            </a:r>
          </a:p>
          <a:p>
            <a:pPr>
              <a:lnSpc>
                <a:spcPts val="4550"/>
              </a:lnSpc>
              <a:spcBef>
                <a:spcPts val="0"/>
              </a:spcBef>
              <a:spcAft>
                <a:spcPts val="0"/>
              </a:spcAft>
            </a:pPr>
            <a:r>
              <a:rPr sz="3700" b="1">
                <a:solidFill>
                  <a:srgbClr val="F3F7FF"/>
                </a:solidFill>
                <a:latin typeface="Arial"/>
              </a:rPr>
              <a:t>moves you forward.</a:t>
            </a:r>
          </a:p>
        </p:txBody>
      </p:sp>
      <p:sp>
        <p:nvSpPr>
          <p:cNvPr id="8" name="Rectangle 7"/>
          <p:cNvSpPr/>
          <p:nvPr/>
        </p:nvSpPr>
        <p:spPr>
          <a:xfrm>
            <a:off x="508000" y="2635250"/>
            <a:ext cx="7112000" cy="876300"/>
          </a:xfrm>
          <a:prstGeom prst="rect">
            <a:avLst/>
          </a:prstGeom>
          <a:solidFill>
            <a:srgbClr val="111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11200" y="2774950"/>
            <a:ext cx="6667500" cy="279400"/>
          </a:xfrm>
          <a:prstGeom prst="rect">
            <a:avLst/>
          </a:prstGeom>
          <a:noFill/>
        </p:spPr>
        <p:txBody>
          <a:bodyPr wrap="none" lIns="0" rIns="0" tIns="0" bIns="0">
            <a:spAutoFit/>
          </a:bodyPr>
          <a:lstStyle/>
          <a:p>
            <a:pPr>
              <a:lnSpc>
                <a:spcPts val="1800"/>
              </a:lnSpc>
              <a:spcBef>
                <a:spcPts val="0"/>
              </a:spcBef>
              <a:spcAft>
                <a:spcPts val="0"/>
              </a:spcAft>
            </a:pPr>
            <a:r>
              <a:rPr sz="1450" b="1">
                <a:solidFill>
                  <a:srgbClr val="35E5C5"/>
                </a:solidFill>
                <a:latin typeface="Arial"/>
              </a:rPr>
              <a:t>01  WALK OR RUN</a:t>
            </a:r>
          </a:p>
        </p:txBody>
      </p:sp>
      <p:sp>
        <p:nvSpPr>
          <p:cNvPr id="10" name="TextBox 9"/>
          <p:cNvSpPr txBox="1"/>
          <p:nvPr/>
        </p:nvSpPr>
        <p:spPr>
          <a:xfrm>
            <a:off x="711200" y="3111500"/>
            <a:ext cx="6667500" cy="298450"/>
          </a:xfrm>
          <a:prstGeom prst="rect">
            <a:avLst/>
          </a:prstGeom>
          <a:noFill/>
        </p:spPr>
        <p:txBody>
          <a:bodyPr wrap="none" lIns="0" rIns="0" tIns="0" bIns="0">
            <a:spAutoFit/>
          </a:bodyPr>
          <a:lstStyle/>
          <a:p>
            <a:pPr>
              <a:lnSpc>
                <a:spcPts val="1950"/>
              </a:lnSpc>
              <a:spcBef>
                <a:spcPts val="0"/>
              </a:spcBef>
              <a:spcAft>
                <a:spcPts val="0"/>
              </a:spcAft>
            </a:pPr>
            <a:r>
              <a:rPr sz="1600" b="0">
                <a:solidFill>
                  <a:srgbClr val="F3F7FF"/>
                </a:solidFill>
                <a:latin typeface="Arial"/>
              </a:rPr>
              <a:t>Start with everyday movement.</a:t>
            </a:r>
          </a:p>
        </p:txBody>
      </p:sp>
      <p:sp>
        <p:nvSpPr>
          <p:cNvPr id="11" name="Rectangle 10"/>
          <p:cNvSpPr/>
          <p:nvPr/>
        </p:nvSpPr>
        <p:spPr>
          <a:xfrm>
            <a:off x="508000" y="3651250"/>
            <a:ext cx="7112000" cy="876300"/>
          </a:xfrm>
          <a:prstGeom prst="rect">
            <a:avLst/>
          </a:prstGeom>
          <a:solidFill>
            <a:srgbClr val="111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11200" y="3790949"/>
            <a:ext cx="6667500" cy="279400"/>
          </a:xfrm>
          <a:prstGeom prst="rect">
            <a:avLst/>
          </a:prstGeom>
          <a:noFill/>
        </p:spPr>
        <p:txBody>
          <a:bodyPr wrap="none" lIns="0" rIns="0" tIns="0" bIns="0">
            <a:spAutoFit/>
          </a:bodyPr>
          <a:lstStyle/>
          <a:p>
            <a:pPr>
              <a:lnSpc>
                <a:spcPts val="1800"/>
              </a:lnSpc>
              <a:spcBef>
                <a:spcPts val="0"/>
              </a:spcBef>
              <a:spcAft>
                <a:spcPts val="0"/>
              </a:spcAft>
            </a:pPr>
            <a:r>
              <a:rPr sz="1450" b="1">
                <a:solidFill>
                  <a:srgbClr val="35E5C5"/>
                </a:solidFill>
                <a:latin typeface="Arial"/>
              </a:rPr>
              <a:t>02  COMPLETE DAILY GOALS</a:t>
            </a:r>
          </a:p>
        </p:txBody>
      </p:sp>
      <p:sp>
        <p:nvSpPr>
          <p:cNvPr id="13" name="TextBox 12"/>
          <p:cNvSpPr txBox="1"/>
          <p:nvPr/>
        </p:nvSpPr>
        <p:spPr>
          <a:xfrm>
            <a:off x="711200" y="4127500"/>
            <a:ext cx="6667500" cy="298450"/>
          </a:xfrm>
          <a:prstGeom prst="rect">
            <a:avLst/>
          </a:prstGeom>
          <a:noFill/>
        </p:spPr>
        <p:txBody>
          <a:bodyPr wrap="none" lIns="0" rIns="0" tIns="0" bIns="0">
            <a:spAutoFit/>
          </a:bodyPr>
          <a:lstStyle/>
          <a:p>
            <a:pPr>
              <a:lnSpc>
                <a:spcPts val="1950"/>
              </a:lnSpc>
              <a:spcBef>
                <a:spcPts val="0"/>
              </a:spcBef>
              <a:spcAft>
                <a:spcPts val="0"/>
              </a:spcAft>
            </a:pPr>
            <a:r>
              <a:rPr sz="1600" b="0">
                <a:solidFill>
                  <a:srgbClr val="F3F7FF"/>
                </a:solidFill>
                <a:latin typeface="Arial"/>
              </a:rPr>
              <a:t>Build a habit you can see.</a:t>
            </a:r>
          </a:p>
        </p:txBody>
      </p:sp>
      <p:sp>
        <p:nvSpPr>
          <p:cNvPr id="14" name="Rectangle 13"/>
          <p:cNvSpPr/>
          <p:nvPr/>
        </p:nvSpPr>
        <p:spPr>
          <a:xfrm>
            <a:off x="508000" y="4667250"/>
            <a:ext cx="7112000" cy="876300"/>
          </a:xfrm>
          <a:prstGeom prst="rect">
            <a:avLst/>
          </a:prstGeom>
          <a:solidFill>
            <a:srgbClr val="111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11200" y="4806950"/>
            <a:ext cx="6667500" cy="279400"/>
          </a:xfrm>
          <a:prstGeom prst="rect">
            <a:avLst/>
          </a:prstGeom>
          <a:noFill/>
        </p:spPr>
        <p:txBody>
          <a:bodyPr wrap="none" lIns="0" rIns="0" tIns="0" bIns="0">
            <a:spAutoFit/>
          </a:bodyPr>
          <a:lstStyle/>
          <a:p>
            <a:pPr>
              <a:lnSpc>
                <a:spcPts val="1800"/>
              </a:lnSpc>
              <a:spcBef>
                <a:spcPts val="0"/>
              </a:spcBef>
              <a:spcAft>
                <a:spcPts val="0"/>
              </a:spcAft>
            </a:pPr>
            <a:r>
              <a:rPr sz="1450" b="1">
                <a:solidFill>
                  <a:srgbClr val="35E5C5"/>
                </a:solidFill>
                <a:latin typeface="Arial"/>
              </a:rPr>
              <a:t>03  LEVEL UP YOUR SHOES</a:t>
            </a:r>
          </a:p>
        </p:txBody>
      </p:sp>
      <p:sp>
        <p:nvSpPr>
          <p:cNvPr id="16" name="TextBox 15"/>
          <p:cNvSpPr txBox="1"/>
          <p:nvPr/>
        </p:nvSpPr>
        <p:spPr>
          <a:xfrm>
            <a:off x="711200" y="5143500"/>
            <a:ext cx="6667500" cy="298450"/>
          </a:xfrm>
          <a:prstGeom prst="rect">
            <a:avLst/>
          </a:prstGeom>
          <a:noFill/>
        </p:spPr>
        <p:txBody>
          <a:bodyPr wrap="none" lIns="0" rIns="0" tIns="0" bIns="0">
            <a:spAutoFit/>
          </a:bodyPr>
          <a:lstStyle/>
          <a:p>
            <a:pPr>
              <a:lnSpc>
                <a:spcPts val="1950"/>
              </a:lnSpc>
              <a:spcBef>
                <a:spcPts val="0"/>
              </a:spcBef>
              <a:spcAft>
                <a:spcPts val="0"/>
              </a:spcAft>
            </a:pPr>
            <a:r>
              <a:rPr sz="1600" b="0">
                <a:solidFill>
                  <a:srgbClr val="F3F7FF"/>
                </a:solidFill>
                <a:latin typeface="Arial"/>
              </a:rPr>
              <a:t>Free starter shoes. Free level upgrades.</a:t>
            </a:r>
          </a:p>
        </p:txBody>
      </p:sp>
      <p:sp>
        <p:nvSpPr>
          <p:cNvPr id="17" name="Rectangle 16"/>
          <p:cNvSpPr/>
          <p:nvPr/>
        </p:nvSpPr>
        <p:spPr>
          <a:xfrm>
            <a:off x="8445500" y="920750"/>
            <a:ext cx="2698750" cy="5111750"/>
          </a:xfrm>
          <a:prstGeom prst="rect">
            <a:avLst/>
          </a:prstGeom>
          <a:solidFill>
            <a:srgbClr val="111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gear.png"/>
          <p:cNvPicPr>
            <a:picLocks noChangeAspect="1"/>
          </p:cNvPicPr>
          <p:nvPr/>
        </p:nvPicPr>
        <p:blipFill>
          <a:blip r:embed="rId2"/>
          <a:stretch>
            <a:fillRect/>
          </a:stretch>
        </p:blipFill>
        <p:spPr>
          <a:xfrm>
            <a:off x="8743950" y="1016000"/>
            <a:ext cx="2095499" cy="4667250"/>
          </a:xfrm>
          <a:prstGeom prst="rect">
            <a:avLst/>
          </a:prstGeom>
        </p:spPr>
      </p:pic>
      <p:sp>
        <p:nvSpPr>
          <p:cNvPr id="19" name="TextBox 18"/>
          <p:cNvSpPr txBox="1"/>
          <p:nvPr/>
        </p:nvSpPr>
        <p:spPr>
          <a:xfrm>
            <a:off x="8318499" y="5842000"/>
            <a:ext cx="3492500" cy="215900"/>
          </a:xfrm>
          <a:prstGeom prst="rect">
            <a:avLst/>
          </a:prstGeom>
          <a:noFill/>
        </p:spPr>
        <p:txBody>
          <a:bodyPr wrap="none" lIns="0" rIns="0" tIns="0" bIns="0">
            <a:spAutoFit/>
          </a:bodyPr>
          <a:lstStyle/>
          <a:p>
            <a:pPr>
              <a:lnSpc>
                <a:spcPts val="1300"/>
              </a:lnSpc>
              <a:spcBef>
                <a:spcPts val="0"/>
              </a:spcBef>
              <a:spcAft>
                <a:spcPts val="0"/>
              </a:spcAft>
            </a:pPr>
            <a:r>
              <a:rPr sz="1050" b="1">
                <a:solidFill>
                  <a:srgbClr val="FFD080"/>
                </a:solidFill>
                <a:latin typeface="Arial"/>
              </a:rPr>
              <a:t>EARLY GEAR UI · SEP 14, 2026</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70B16"/>
        </a:solidFill>
        <a:effectLst/>
      </p:bgPr>
    </p:bg>
    <p:spTree>
      <p:nvGrpSpPr>
        <p:cNvPr id="1" name=""/>
        <p:cNvGrpSpPr/>
        <p:nvPr/>
      </p:nvGrpSpPr>
      <p:grpSpPr/>
      <p:sp>
        <p:nvSpPr>
          <p:cNvPr id="2" name="Rectangle 1"/>
          <p:cNvSpPr/>
          <p:nvPr/>
        </p:nvSpPr>
        <p:spPr>
          <a:xfrm>
            <a:off x="508000" y="406400"/>
            <a:ext cx="63500" cy="152400"/>
          </a:xfrm>
          <a:prstGeom prst="rect">
            <a:avLst/>
          </a:prstGeom>
          <a:solidFill>
            <a:srgbClr val="35E5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98500" y="406400"/>
            <a:ext cx="10287000" cy="228600"/>
          </a:xfrm>
          <a:prstGeom prst="rect">
            <a:avLst/>
          </a:prstGeom>
          <a:noFill/>
        </p:spPr>
        <p:txBody>
          <a:bodyPr wrap="none" lIns="0" rIns="0" tIns="0" bIns="0">
            <a:spAutoFit/>
          </a:bodyPr>
          <a:lstStyle/>
          <a:p>
            <a:pPr>
              <a:lnSpc>
                <a:spcPts val="1400"/>
              </a:lnSpc>
              <a:spcBef>
                <a:spcPts val="0"/>
              </a:spcBef>
              <a:spcAft>
                <a:spcPts val="0"/>
              </a:spcAft>
            </a:pPr>
            <a:r>
              <a:rPr sz="1150" b="1">
                <a:solidFill>
                  <a:srgbClr val="35E5C5"/>
                </a:solidFill>
                <a:latin typeface="Arial"/>
              </a:rPr>
              <a:t>NEONSHIFT  /  VERIFY A MILESTONE</a:t>
            </a:r>
          </a:p>
        </p:txBody>
      </p:sp>
      <p:sp>
        <p:nvSpPr>
          <p:cNvPr id="4" name="Rectangle 3"/>
          <p:cNvSpPr/>
          <p:nvPr/>
        </p:nvSpPr>
        <p:spPr>
          <a:xfrm>
            <a:off x="508000" y="6394450"/>
            <a:ext cx="11176000" cy="12700"/>
          </a:xfrm>
          <a:prstGeom prst="rect">
            <a:avLst/>
          </a:prstGeom>
          <a:solidFill>
            <a:srgbClr val="2531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8000" y="6540500"/>
            <a:ext cx="9842500" cy="196850"/>
          </a:xfrm>
          <a:prstGeom prst="rect">
            <a:avLst/>
          </a:prstGeom>
          <a:noFill/>
        </p:spPr>
        <p:txBody>
          <a:bodyPr wrap="none" lIns="0" rIns="0" tIns="0" bIns="0">
            <a:spAutoFit/>
          </a:bodyPr>
          <a:lstStyle/>
          <a:p>
            <a:pPr>
              <a:lnSpc>
                <a:spcPts val="1150"/>
              </a:lnSpc>
              <a:spcBef>
                <a:spcPts val="0"/>
              </a:spcBef>
              <a:spcAft>
                <a:spcPts val="0"/>
              </a:spcAft>
            </a:pPr>
            <a:r>
              <a:rPr sz="950" b="0">
                <a:solidFill>
                  <a:srgbClr val="A8B6CF"/>
                </a:solidFill>
                <a:latin typeface="Arial"/>
              </a:rPr>
              <a:t>SOLANA MOBILE  /  HACKATHON PRODUCT INTRO</a:t>
            </a:r>
          </a:p>
        </p:txBody>
      </p:sp>
      <p:sp>
        <p:nvSpPr>
          <p:cNvPr id="6" name="TextBox 5"/>
          <p:cNvSpPr txBox="1"/>
          <p:nvPr/>
        </p:nvSpPr>
        <p:spPr>
          <a:xfrm>
            <a:off x="10922000" y="6527800"/>
            <a:ext cx="1016000" cy="222250"/>
          </a:xfrm>
          <a:prstGeom prst="rect">
            <a:avLst/>
          </a:prstGeom>
          <a:noFill/>
        </p:spPr>
        <p:txBody>
          <a:bodyPr wrap="none" lIns="0" rIns="0" tIns="0" bIns="0">
            <a:spAutoFit/>
          </a:bodyPr>
          <a:lstStyle/>
          <a:p>
            <a:pPr>
              <a:lnSpc>
                <a:spcPts val="1350"/>
              </a:lnSpc>
              <a:spcBef>
                <a:spcPts val="0"/>
              </a:spcBef>
              <a:spcAft>
                <a:spcPts val="0"/>
              </a:spcAft>
            </a:pPr>
            <a:r>
              <a:rPr sz="1100" b="1">
                <a:solidFill>
                  <a:srgbClr val="35E5C5"/>
                </a:solidFill>
                <a:latin typeface="Arial"/>
              </a:rPr>
              <a:t>03 / 06</a:t>
            </a:r>
          </a:p>
        </p:txBody>
      </p:sp>
      <p:sp>
        <p:nvSpPr>
          <p:cNvPr id="7" name="TextBox 6"/>
          <p:cNvSpPr txBox="1"/>
          <p:nvPr/>
        </p:nvSpPr>
        <p:spPr>
          <a:xfrm>
            <a:off x="508000" y="1047749"/>
            <a:ext cx="10858500" cy="1231900"/>
          </a:xfrm>
          <a:prstGeom prst="rect">
            <a:avLst/>
          </a:prstGeom>
          <a:noFill/>
        </p:spPr>
        <p:txBody>
          <a:bodyPr wrap="none" lIns="0" rIns="0" tIns="0" bIns="0">
            <a:spAutoFit/>
          </a:bodyPr>
          <a:lstStyle/>
          <a:p>
            <a:pPr>
              <a:lnSpc>
                <a:spcPts val="4650"/>
              </a:lnSpc>
              <a:spcBef>
                <a:spcPts val="0"/>
              </a:spcBef>
              <a:spcAft>
                <a:spcPts val="0"/>
              </a:spcAft>
            </a:pPr>
            <a:r>
              <a:rPr sz="3800" b="1">
                <a:solidFill>
                  <a:srgbClr val="F3F7FF"/>
                </a:solidFill>
                <a:latin typeface="Arial"/>
              </a:rPr>
              <a:t>Your milestone.</a:t>
            </a:r>
          </a:p>
          <a:p>
            <a:pPr>
              <a:lnSpc>
                <a:spcPts val="4650"/>
              </a:lnSpc>
              <a:spcBef>
                <a:spcPts val="0"/>
              </a:spcBef>
              <a:spcAft>
                <a:spcPts val="0"/>
              </a:spcAft>
            </a:pPr>
            <a:r>
              <a:rPr sz="3800" b="1">
                <a:solidFill>
                  <a:srgbClr val="F3F7FF"/>
                </a:solidFill>
                <a:latin typeface="Arial"/>
              </a:rPr>
              <a:t>An onchain record.</a:t>
            </a:r>
          </a:p>
        </p:txBody>
      </p:sp>
      <p:sp>
        <p:nvSpPr>
          <p:cNvPr id="8" name="TextBox 7"/>
          <p:cNvSpPr txBox="1"/>
          <p:nvPr/>
        </p:nvSpPr>
        <p:spPr>
          <a:xfrm>
            <a:off x="539750" y="2425700"/>
            <a:ext cx="10985500" cy="355600"/>
          </a:xfrm>
          <a:prstGeom prst="rect">
            <a:avLst/>
          </a:prstGeom>
          <a:noFill/>
        </p:spPr>
        <p:txBody>
          <a:bodyPr wrap="none" lIns="0" rIns="0" tIns="0" bIns="0">
            <a:spAutoFit/>
          </a:bodyPr>
          <a:lstStyle/>
          <a:p>
            <a:pPr>
              <a:lnSpc>
                <a:spcPts val="2400"/>
              </a:lnSpc>
              <a:spcBef>
                <a:spcPts val="0"/>
              </a:spcBef>
              <a:spcAft>
                <a:spcPts val="0"/>
              </a:spcAft>
            </a:pPr>
            <a:r>
              <a:rPr sz="1950" b="0">
                <a:solidFill>
                  <a:srgbClr val="35E5C5"/>
                </a:solidFill>
                <a:latin typeface="Arial"/>
              </a:rPr>
              <a:t>Raw health records stay on your phone.</a:t>
            </a:r>
          </a:p>
        </p:txBody>
      </p:sp>
      <p:sp>
        <p:nvSpPr>
          <p:cNvPr id="9" name="Rectangle 8"/>
          <p:cNvSpPr/>
          <p:nvPr/>
        </p:nvSpPr>
        <p:spPr>
          <a:xfrm>
            <a:off x="508000" y="3206750"/>
            <a:ext cx="2603500" cy="1651000"/>
          </a:xfrm>
          <a:prstGeom prst="rect">
            <a:avLst/>
          </a:prstGeom>
          <a:solidFill>
            <a:srgbClr val="111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73100" y="3352800"/>
            <a:ext cx="2286000" cy="298450"/>
          </a:xfrm>
          <a:prstGeom prst="rect">
            <a:avLst/>
          </a:prstGeom>
          <a:noFill/>
        </p:spPr>
        <p:txBody>
          <a:bodyPr wrap="none" lIns="0" rIns="0" tIns="0" bIns="0">
            <a:spAutoFit/>
          </a:bodyPr>
          <a:lstStyle/>
          <a:p>
            <a:pPr>
              <a:lnSpc>
                <a:spcPts val="1950"/>
              </a:lnSpc>
              <a:spcBef>
                <a:spcPts val="0"/>
              </a:spcBef>
              <a:spcAft>
                <a:spcPts val="0"/>
              </a:spcAft>
            </a:pPr>
            <a:r>
              <a:rPr sz="1600" b="1">
                <a:solidFill>
                  <a:srgbClr val="35E5C5"/>
                </a:solidFill>
                <a:latin typeface="Arial"/>
              </a:rPr>
              <a:t>01</a:t>
            </a:r>
          </a:p>
        </p:txBody>
      </p:sp>
      <p:sp>
        <p:nvSpPr>
          <p:cNvPr id="11" name="TextBox 10"/>
          <p:cNvSpPr txBox="1"/>
          <p:nvPr/>
        </p:nvSpPr>
        <p:spPr>
          <a:xfrm>
            <a:off x="673100" y="3771900"/>
            <a:ext cx="2317750" cy="254000"/>
          </a:xfrm>
          <a:prstGeom prst="rect">
            <a:avLst/>
          </a:prstGeom>
          <a:noFill/>
        </p:spPr>
        <p:txBody>
          <a:bodyPr wrap="none" lIns="0" rIns="0" tIns="0" bIns="0">
            <a:spAutoFit/>
          </a:bodyPr>
          <a:lstStyle/>
          <a:p>
            <a:pPr>
              <a:lnSpc>
                <a:spcPts val="1600"/>
              </a:lnSpc>
              <a:spcBef>
                <a:spcPts val="0"/>
              </a:spcBef>
              <a:spcAft>
                <a:spcPts val="0"/>
              </a:spcAft>
            </a:pPr>
            <a:r>
              <a:rPr sz="1300" b="1">
                <a:solidFill>
                  <a:srgbClr val="F3F7FF"/>
                </a:solidFill>
                <a:latin typeface="Arial"/>
              </a:rPr>
              <a:t>HEALTH SUMMARY</a:t>
            </a:r>
          </a:p>
        </p:txBody>
      </p:sp>
      <p:sp>
        <p:nvSpPr>
          <p:cNvPr id="12" name="TextBox 11"/>
          <p:cNvSpPr txBox="1"/>
          <p:nvPr/>
        </p:nvSpPr>
        <p:spPr>
          <a:xfrm>
            <a:off x="673100" y="4171950"/>
            <a:ext cx="2317750" cy="469899"/>
          </a:xfrm>
          <a:prstGeom prst="rect">
            <a:avLst/>
          </a:prstGeom>
          <a:noFill/>
        </p:spPr>
        <p:txBody>
          <a:bodyPr wrap="none" lIns="0" rIns="0" tIns="0" bIns="0">
            <a:spAutoFit/>
          </a:bodyPr>
          <a:lstStyle/>
          <a:p>
            <a:pPr>
              <a:lnSpc>
                <a:spcPts val="1650"/>
              </a:lnSpc>
              <a:spcBef>
                <a:spcPts val="0"/>
              </a:spcBef>
              <a:spcAft>
                <a:spcPts val="0"/>
              </a:spcAft>
            </a:pPr>
            <a:r>
              <a:rPr sz="1350" b="0">
                <a:solidFill>
                  <a:srgbClr val="A8B6CF"/>
                </a:solidFill>
                <a:latin typeface="Arial"/>
              </a:rPr>
              <a:t>Android Health</a:t>
            </a:r>
          </a:p>
          <a:p>
            <a:pPr>
              <a:lnSpc>
                <a:spcPts val="1650"/>
              </a:lnSpc>
              <a:spcBef>
                <a:spcPts val="0"/>
              </a:spcBef>
              <a:spcAft>
                <a:spcPts val="0"/>
              </a:spcAft>
            </a:pPr>
            <a:r>
              <a:rPr sz="1350" b="0">
                <a:solidFill>
                  <a:srgbClr val="A8B6CF"/>
                </a:solidFill>
                <a:latin typeface="Arial"/>
              </a:rPr>
              <a:t>Connect</a:t>
            </a:r>
          </a:p>
        </p:txBody>
      </p:sp>
      <p:sp>
        <p:nvSpPr>
          <p:cNvPr id="13" name="TextBox 12"/>
          <p:cNvSpPr txBox="1"/>
          <p:nvPr/>
        </p:nvSpPr>
        <p:spPr>
          <a:xfrm>
            <a:off x="3168650" y="3892550"/>
            <a:ext cx="190500" cy="285750"/>
          </a:xfrm>
          <a:prstGeom prst="rect">
            <a:avLst/>
          </a:prstGeom>
          <a:noFill/>
        </p:spPr>
        <p:txBody>
          <a:bodyPr wrap="none" lIns="0" rIns="0" tIns="0" bIns="0">
            <a:spAutoFit/>
          </a:bodyPr>
          <a:lstStyle/>
          <a:p>
            <a:pPr>
              <a:lnSpc>
                <a:spcPts val="1850"/>
              </a:lnSpc>
              <a:spcBef>
                <a:spcPts val="0"/>
              </a:spcBef>
              <a:spcAft>
                <a:spcPts val="0"/>
              </a:spcAft>
            </a:pPr>
            <a:r>
              <a:rPr sz="1500" b="1">
                <a:solidFill>
                  <a:srgbClr val="35E5C5"/>
                </a:solidFill>
                <a:latin typeface="Arial"/>
              </a:rPr>
              <a:t>&gt;</a:t>
            </a:r>
          </a:p>
        </p:txBody>
      </p:sp>
      <p:sp>
        <p:nvSpPr>
          <p:cNvPr id="14" name="Rectangle 13"/>
          <p:cNvSpPr/>
          <p:nvPr/>
        </p:nvSpPr>
        <p:spPr>
          <a:xfrm>
            <a:off x="3365500" y="3206750"/>
            <a:ext cx="2603500" cy="1651000"/>
          </a:xfrm>
          <a:prstGeom prst="rect">
            <a:avLst/>
          </a:prstGeom>
          <a:solidFill>
            <a:srgbClr val="111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530600" y="3352800"/>
            <a:ext cx="2286000" cy="298450"/>
          </a:xfrm>
          <a:prstGeom prst="rect">
            <a:avLst/>
          </a:prstGeom>
          <a:noFill/>
        </p:spPr>
        <p:txBody>
          <a:bodyPr wrap="none" lIns="0" rIns="0" tIns="0" bIns="0">
            <a:spAutoFit/>
          </a:bodyPr>
          <a:lstStyle/>
          <a:p>
            <a:pPr>
              <a:lnSpc>
                <a:spcPts val="1950"/>
              </a:lnSpc>
              <a:spcBef>
                <a:spcPts val="0"/>
              </a:spcBef>
              <a:spcAft>
                <a:spcPts val="0"/>
              </a:spcAft>
            </a:pPr>
            <a:r>
              <a:rPr sz="1600" b="1">
                <a:solidFill>
                  <a:srgbClr val="35E5C5"/>
                </a:solidFill>
                <a:latin typeface="Arial"/>
              </a:rPr>
              <a:t>02</a:t>
            </a:r>
          </a:p>
        </p:txBody>
      </p:sp>
      <p:sp>
        <p:nvSpPr>
          <p:cNvPr id="16" name="TextBox 15"/>
          <p:cNvSpPr txBox="1"/>
          <p:nvPr/>
        </p:nvSpPr>
        <p:spPr>
          <a:xfrm>
            <a:off x="3530600" y="3771900"/>
            <a:ext cx="2317750" cy="254000"/>
          </a:xfrm>
          <a:prstGeom prst="rect">
            <a:avLst/>
          </a:prstGeom>
          <a:noFill/>
        </p:spPr>
        <p:txBody>
          <a:bodyPr wrap="none" lIns="0" rIns="0" tIns="0" bIns="0">
            <a:spAutoFit/>
          </a:bodyPr>
          <a:lstStyle/>
          <a:p>
            <a:pPr>
              <a:lnSpc>
                <a:spcPts val="1600"/>
              </a:lnSpc>
              <a:spcBef>
                <a:spcPts val="0"/>
              </a:spcBef>
              <a:spcAft>
                <a:spcPts val="0"/>
              </a:spcAft>
            </a:pPr>
            <a:r>
              <a:rPr sz="1300" b="1">
                <a:solidFill>
                  <a:srgbClr val="F3F7FF"/>
                </a:solidFill>
                <a:latin typeface="Arial"/>
              </a:rPr>
              <a:t>VALIDATION</a:t>
            </a:r>
          </a:p>
        </p:txBody>
      </p:sp>
      <p:sp>
        <p:nvSpPr>
          <p:cNvPr id="17" name="TextBox 16"/>
          <p:cNvSpPr txBox="1"/>
          <p:nvPr/>
        </p:nvSpPr>
        <p:spPr>
          <a:xfrm>
            <a:off x="3530600" y="4171950"/>
            <a:ext cx="2317750" cy="469899"/>
          </a:xfrm>
          <a:prstGeom prst="rect">
            <a:avLst/>
          </a:prstGeom>
          <a:noFill/>
        </p:spPr>
        <p:txBody>
          <a:bodyPr wrap="none" lIns="0" rIns="0" tIns="0" bIns="0">
            <a:spAutoFit/>
          </a:bodyPr>
          <a:lstStyle/>
          <a:p>
            <a:pPr>
              <a:lnSpc>
                <a:spcPts val="1650"/>
              </a:lnSpc>
              <a:spcBef>
                <a:spcPts val="0"/>
              </a:spcBef>
              <a:spcAft>
                <a:spcPts val="0"/>
              </a:spcAft>
            </a:pPr>
            <a:r>
              <a:rPr sz="1350" b="0">
                <a:solidFill>
                  <a:srgbClr val="A8B6CF"/>
                </a:solidFill>
                <a:latin typeface="Arial"/>
              </a:rPr>
              <a:t>Qualifying activity</a:t>
            </a:r>
          </a:p>
          <a:p>
            <a:pPr>
              <a:lnSpc>
                <a:spcPts val="1650"/>
              </a:lnSpc>
              <a:spcBef>
                <a:spcPts val="0"/>
              </a:spcBef>
              <a:spcAft>
                <a:spcPts val="0"/>
              </a:spcAft>
            </a:pPr>
            <a:r>
              <a:rPr sz="1350" b="0">
                <a:solidFill>
                  <a:srgbClr val="A8B6CF"/>
                </a:solidFill>
                <a:latin typeface="Arial"/>
              </a:rPr>
              <a:t>is checked</a:t>
            </a:r>
          </a:p>
        </p:txBody>
      </p:sp>
      <p:sp>
        <p:nvSpPr>
          <p:cNvPr id="18" name="TextBox 17"/>
          <p:cNvSpPr txBox="1"/>
          <p:nvPr/>
        </p:nvSpPr>
        <p:spPr>
          <a:xfrm>
            <a:off x="6026150" y="3892550"/>
            <a:ext cx="190500" cy="285750"/>
          </a:xfrm>
          <a:prstGeom prst="rect">
            <a:avLst/>
          </a:prstGeom>
          <a:noFill/>
        </p:spPr>
        <p:txBody>
          <a:bodyPr wrap="none" lIns="0" rIns="0" tIns="0" bIns="0">
            <a:spAutoFit/>
          </a:bodyPr>
          <a:lstStyle/>
          <a:p>
            <a:pPr>
              <a:lnSpc>
                <a:spcPts val="1850"/>
              </a:lnSpc>
              <a:spcBef>
                <a:spcPts val="0"/>
              </a:spcBef>
              <a:spcAft>
                <a:spcPts val="0"/>
              </a:spcAft>
            </a:pPr>
            <a:r>
              <a:rPr sz="1500" b="1">
                <a:solidFill>
                  <a:srgbClr val="35E5C5"/>
                </a:solidFill>
                <a:latin typeface="Arial"/>
              </a:rPr>
              <a:t>&gt;</a:t>
            </a:r>
          </a:p>
        </p:txBody>
      </p:sp>
      <p:sp>
        <p:nvSpPr>
          <p:cNvPr id="19" name="Rectangle 18"/>
          <p:cNvSpPr/>
          <p:nvPr/>
        </p:nvSpPr>
        <p:spPr>
          <a:xfrm>
            <a:off x="6223000" y="3206750"/>
            <a:ext cx="2603500" cy="1651000"/>
          </a:xfrm>
          <a:prstGeom prst="rect">
            <a:avLst/>
          </a:prstGeom>
          <a:solidFill>
            <a:srgbClr val="111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88100" y="3352800"/>
            <a:ext cx="2286000" cy="298450"/>
          </a:xfrm>
          <a:prstGeom prst="rect">
            <a:avLst/>
          </a:prstGeom>
          <a:noFill/>
        </p:spPr>
        <p:txBody>
          <a:bodyPr wrap="none" lIns="0" rIns="0" tIns="0" bIns="0">
            <a:spAutoFit/>
          </a:bodyPr>
          <a:lstStyle/>
          <a:p>
            <a:pPr>
              <a:lnSpc>
                <a:spcPts val="1950"/>
              </a:lnSpc>
              <a:spcBef>
                <a:spcPts val="0"/>
              </a:spcBef>
              <a:spcAft>
                <a:spcPts val="0"/>
              </a:spcAft>
            </a:pPr>
            <a:r>
              <a:rPr sz="1600" b="1">
                <a:solidFill>
                  <a:srgbClr val="35E5C5"/>
                </a:solidFill>
                <a:latin typeface="Arial"/>
              </a:rPr>
              <a:t>03</a:t>
            </a:r>
          </a:p>
        </p:txBody>
      </p:sp>
      <p:sp>
        <p:nvSpPr>
          <p:cNvPr id="21" name="TextBox 20"/>
          <p:cNvSpPr txBox="1"/>
          <p:nvPr/>
        </p:nvSpPr>
        <p:spPr>
          <a:xfrm>
            <a:off x="6388100" y="3771900"/>
            <a:ext cx="2317750" cy="254000"/>
          </a:xfrm>
          <a:prstGeom prst="rect">
            <a:avLst/>
          </a:prstGeom>
          <a:noFill/>
        </p:spPr>
        <p:txBody>
          <a:bodyPr wrap="none" lIns="0" rIns="0" tIns="0" bIns="0">
            <a:spAutoFit/>
          </a:bodyPr>
          <a:lstStyle/>
          <a:p>
            <a:pPr>
              <a:lnSpc>
                <a:spcPts val="1600"/>
              </a:lnSpc>
              <a:spcBef>
                <a:spcPts val="0"/>
              </a:spcBef>
              <a:spcAft>
                <a:spcPts val="0"/>
              </a:spcAft>
            </a:pPr>
            <a:r>
              <a:rPr sz="1300" b="1">
                <a:solidFill>
                  <a:srgbClr val="F3F7FF"/>
                </a:solidFill>
                <a:latin typeface="Arial"/>
              </a:rPr>
              <a:t>WALLET APPROVAL</a:t>
            </a:r>
          </a:p>
        </p:txBody>
      </p:sp>
      <p:sp>
        <p:nvSpPr>
          <p:cNvPr id="22" name="TextBox 21"/>
          <p:cNvSpPr txBox="1"/>
          <p:nvPr/>
        </p:nvSpPr>
        <p:spPr>
          <a:xfrm>
            <a:off x="6388100" y="4171950"/>
            <a:ext cx="2317750" cy="469899"/>
          </a:xfrm>
          <a:prstGeom prst="rect">
            <a:avLst/>
          </a:prstGeom>
          <a:noFill/>
        </p:spPr>
        <p:txBody>
          <a:bodyPr wrap="none" lIns="0" rIns="0" tIns="0" bIns="0">
            <a:spAutoFit/>
          </a:bodyPr>
          <a:lstStyle/>
          <a:p>
            <a:pPr>
              <a:lnSpc>
                <a:spcPts val="1650"/>
              </a:lnSpc>
              <a:spcBef>
                <a:spcPts val="0"/>
              </a:spcBef>
              <a:spcAft>
                <a:spcPts val="0"/>
              </a:spcAft>
            </a:pPr>
            <a:r>
              <a:rPr sz="1350" b="0">
                <a:solidFill>
                  <a:srgbClr val="A8B6CF"/>
                </a:solidFill>
                <a:latin typeface="Arial"/>
              </a:rPr>
              <a:t>You approve</a:t>
            </a:r>
          </a:p>
          <a:p>
            <a:pPr>
              <a:lnSpc>
                <a:spcPts val="1650"/>
              </a:lnSpc>
              <a:spcBef>
                <a:spcPts val="0"/>
              </a:spcBef>
              <a:spcAft>
                <a:spcPts val="0"/>
              </a:spcAft>
            </a:pPr>
            <a:r>
              <a:rPr sz="1350" b="0">
                <a:solidFill>
                  <a:srgbClr val="A8B6CF"/>
                </a:solidFill>
                <a:latin typeface="Arial"/>
              </a:rPr>
              <a:t>the claim</a:t>
            </a:r>
          </a:p>
        </p:txBody>
      </p:sp>
      <p:sp>
        <p:nvSpPr>
          <p:cNvPr id="23" name="TextBox 22"/>
          <p:cNvSpPr txBox="1"/>
          <p:nvPr/>
        </p:nvSpPr>
        <p:spPr>
          <a:xfrm>
            <a:off x="8883650" y="3892550"/>
            <a:ext cx="190500" cy="285750"/>
          </a:xfrm>
          <a:prstGeom prst="rect">
            <a:avLst/>
          </a:prstGeom>
          <a:noFill/>
        </p:spPr>
        <p:txBody>
          <a:bodyPr wrap="none" lIns="0" rIns="0" tIns="0" bIns="0">
            <a:spAutoFit/>
          </a:bodyPr>
          <a:lstStyle/>
          <a:p>
            <a:pPr>
              <a:lnSpc>
                <a:spcPts val="1850"/>
              </a:lnSpc>
              <a:spcBef>
                <a:spcPts val="0"/>
              </a:spcBef>
              <a:spcAft>
                <a:spcPts val="0"/>
              </a:spcAft>
            </a:pPr>
            <a:r>
              <a:rPr sz="1500" b="1">
                <a:solidFill>
                  <a:srgbClr val="35E5C5"/>
                </a:solidFill>
                <a:latin typeface="Arial"/>
              </a:rPr>
              <a:t>&gt;</a:t>
            </a:r>
          </a:p>
        </p:txBody>
      </p:sp>
      <p:sp>
        <p:nvSpPr>
          <p:cNvPr id="24" name="Rectangle 23"/>
          <p:cNvSpPr/>
          <p:nvPr/>
        </p:nvSpPr>
        <p:spPr>
          <a:xfrm>
            <a:off x="9080500" y="3206750"/>
            <a:ext cx="2603500" cy="1651000"/>
          </a:xfrm>
          <a:prstGeom prst="rect">
            <a:avLst/>
          </a:prstGeom>
          <a:solidFill>
            <a:srgbClr val="111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245600" y="3352800"/>
            <a:ext cx="2286000" cy="298450"/>
          </a:xfrm>
          <a:prstGeom prst="rect">
            <a:avLst/>
          </a:prstGeom>
          <a:noFill/>
        </p:spPr>
        <p:txBody>
          <a:bodyPr wrap="none" lIns="0" rIns="0" tIns="0" bIns="0">
            <a:spAutoFit/>
          </a:bodyPr>
          <a:lstStyle/>
          <a:p>
            <a:pPr>
              <a:lnSpc>
                <a:spcPts val="1950"/>
              </a:lnSpc>
              <a:spcBef>
                <a:spcPts val="0"/>
              </a:spcBef>
              <a:spcAft>
                <a:spcPts val="0"/>
              </a:spcAft>
            </a:pPr>
            <a:r>
              <a:rPr sz="1600" b="1">
                <a:solidFill>
                  <a:srgbClr val="35E5C5"/>
                </a:solidFill>
                <a:latin typeface="Arial"/>
              </a:rPr>
              <a:t>04</a:t>
            </a:r>
          </a:p>
        </p:txBody>
      </p:sp>
      <p:sp>
        <p:nvSpPr>
          <p:cNvPr id="26" name="TextBox 25"/>
          <p:cNvSpPr txBox="1"/>
          <p:nvPr/>
        </p:nvSpPr>
        <p:spPr>
          <a:xfrm>
            <a:off x="9245600" y="3771900"/>
            <a:ext cx="2317750" cy="254000"/>
          </a:xfrm>
          <a:prstGeom prst="rect">
            <a:avLst/>
          </a:prstGeom>
          <a:noFill/>
        </p:spPr>
        <p:txBody>
          <a:bodyPr wrap="none" lIns="0" rIns="0" tIns="0" bIns="0">
            <a:spAutoFit/>
          </a:bodyPr>
          <a:lstStyle/>
          <a:p>
            <a:pPr>
              <a:lnSpc>
                <a:spcPts val="1600"/>
              </a:lnSpc>
              <a:spcBef>
                <a:spcPts val="0"/>
              </a:spcBef>
              <a:spcAft>
                <a:spcPts val="0"/>
              </a:spcAft>
            </a:pPr>
            <a:r>
              <a:rPr sz="1300" b="1">
                <a:solidFill>
                  <a:srgbClr val="F3F7FF"/>
                </a:solidFill>
                <a:latin typeface="Arial"/>
              </a:rPr>
              <a:t>ONCHAIN CLAIM</a:t>
            </a:r>
          </a:p>
        </p:txBody>
      </p:sp>
      <p:sp>
        <p:nvSpPr>
          <p:cNvPr id="27" name="TextBox 26"/>
          <p:cNvSpPr txBox="1"/>
          <p:nvPr/>
        </p:nvSpPr>
        <p:spPr>
          <a:xfrm>
            <a:off x="9245600" y="4171950"/>
            <a:ext cx="2317750" cy="469899"/>
          </a:xfrm>
          <a:prstGeom prst="rect">
            <a:avLst/>
          </a:prstGeom>
          <a:noFill/>
        </p:spPr>
        <p:txBody>
          <a:bodyPr wrap="none" lIns="0" rIns="0" tIns="0" bIns="0">
            <a:spAutoFit/>
          </a:bodyPr>
          <a:lstStyle/>
          <a:p>
            <a:pPr>
              <a:lnSpc>
                <a:spcPts val="1650"/>
              </a:lnSpc>
              <a:spcBef>
                <a:spcPts val="0"/>
              </a:spcBef>
              <a:spcAft>
                <a:spcPts val="0"/>
              </a:spcAft>
            </a:pPr>
            <a:r>
              <a:rPr sz="1350" b="0">
                <a:solidFill>
                  <a:srgbClr val="A8B6CF"/>
                </a:solidFill>
                <a:latin typeface="Arial"/>
              </a:rPr>
              <a:t>View the transaction</a:t>
            </a:r>
          </a:p>
          <a:p>
            <a:pPr>
              <a:lnSpc>
                <a:spcPts val="1650"/>
              </a:lnSpc>
              <a:spcBef>
                <a:spcPts val="0"/>
              </a:spcBef>
              <a:spcAft>
                <a:spcPts val="0"/>
              </a:spcAft>
            </a:pPr>
            <a:r>
              <a:rPr sz="1350" b="0">
                <a:solidFill>
                  <a:srgbClr val="A8B6CF"/>
                </a:solidFill>
                <a:latin typeface="Arial"/>
              </a:rPr>
              <a:t>on Solana devnet</a:t>
            </a:r>
          </a:p>
        </p:txBody>
      </p:sp>
      <p:sp>
        <p:nvSpPr>
          <p:cNvPr id="28" name="TextBox 27"/>
          <p:cNvSpPr txBox="1"/>
          <p:nvPr/>
        </p:nvSpPr>
        <p:spPr>
          <a:xfrm>
            <a:off x="539750" y="5245100"/>
            <a:ext cx="11112500" cy="254000"/>
          </a:xfrm>
          <a:prstGeom prst="rect">
            <a:avLst/>
          </a:prstGeom>
          <a:noFill/>
        </p:spPr>
        <p:txBody>
          <a:bodyPr wrap="none" lIns="0" rIns="0" tIns="0" bIns="0">
            <a:spAutoFit/>
          </a:bodyPr>
          <a:lstStyle/>
          <a:p>
            <a:pPr>
              <a:lnSpc>
                <a:spcPts val="1600"/>
              </a:lnSpc>
              <a:spcBef>
                <a:spcPts val="0"/>
              </a:spcBef>
              <a:spcAft>
                <a:spcPts val="0"/>
              </a:spcAft>
            </a:pPr>
            <a:r>
              <a:rPr sz="1300" b="1">
                <a:solidFill>
                  <a:srgbClr val="FFD080"/>
                </a:solidFill>
                <a:latin typeface="Arial"/>
              </a:rPr>
              <a:t>WORKFLOW PREVIEW · DEVICE VALIDATION PENDING</a:t>
            </a:r>
          </a:p>
        </p:txBody>
      </p:sp>
      <p:sp>
        <p:nvSpPr>
          <p:cNvPr id="29" name="TextBox 28"/>
          <p:cNvSpPr txBox="1"/>
          <p:nvPr/>
        </p:nvSpPr>
        <p:spPr>
          <a:xfrm>
            <a:off x="539750" y="5689600"/>
            <a:ext cx="11112500" cy="279400"/>
          </a:xfrm>
          <a:prstGeom prst="rect">
            <a:avLst/>
          </a:prstGeom>
          <a:noFill/>
        </p:spPr>
        <p:txBody>
          <a:bodyPr wrap="none" lIns="0" rIns="0" tIns="0" bIns="0">
            <a:spAutoFit/>
          </a:bodyPr>
          <a:lstStyle/>
          <a:p>
            <a:pPr>
              <a:lnSpc>
                <a:spcPts val="1800"/>
              </a:lnSpc>
              <a:spcBef>
                <a:spcPts val="0"/>
              </a:spcBef>
              <a:spcAft>
                <a:spcPts val="0"/>
              </a:spcAft>
            </a:pPr>
            <a:r>
              <a:rPr sz="1450" b="0">
                <a:solidFill>
                  <a:srgbClr val="A8B6CF"/>
                </a:solidFill>
                <a:latin typeface="Arial"/>
              </a:rPr>
              <a:t>tSKR: devnet test token · No monetary value · Not official SKR</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70B16"/>
        </a:solidFill>
        <a:effectLst/>
      </p:bgPr>
    </p:bg>
    <p:spTree>
      <p:nvGrpSpPr>
        <p:cNvPr id="1" name=""/>
        <p:cNvGrpSpPr/>
        <p:nvPr/>
      </p:nvGrpSpPr>
      <p:grpSpPr/>
      <p:sp>
        <p:nvSpPr>
          <p:cNvPr id="2" name="Rectangle 1"/>
          <p:cNvSpPr/>
          <p:nvPr/>
        </p:nvSpPr>
        <p:spPr>
          <a:xfrm>
            <a:off x="508000" y="406400"/>
            <a:ext cx="63500" cy="152400"/>
          </a:xfrm>
          <a:prstGeom prst="rect">
            <a:avLst/>
          </a:prstGeom>
          <a:solidFill>
            <a:srgbClr val="35E5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98500" y="406400"/>
            <a:ext cx="10287000" cy="228600"/>
          </a:xfrm>
          <a:prstGeom prst="rect">
            <a:avLst/>
          </a:prstGeom>
          <a:noFill/>
        </p:spPr>
        <p:txBody>
          <a:bodyPr wrap="none" lIns="0" rIns="0" tIns="0" bIns="0">
            <a:spAutoFit/>
          </a:bodyPr>
          <a:lstStyle/>
          <a:p>
            <a:pPr>
              <a:lnSpc>
                <a:spcPts val="1400"/>
              </a:lnSpc>
              <a:spcBef>
                <a:spcPts val="0"/>
              </a:spcBef>
              <a:spcAft>
                <a:spcPts val="0"/>
              </a:spcAft>
            </a:pPr>
            <a:r>
              <a:rPr sz="1150" b="1">
                <a:solidFill>
                  <a:srgbClr val="35E5C5"/>
                </a:solidFill>
                <a:latin typeface="Arial"/>
              </a:rPr>
              <a:t>NEONSHIFT  /  DISCOVER WILD GUARDIANS</a:t>
            </a:r>
          </a:p>
        </p:txBody>
      </p:sp>
      <p:sp>
        <p:nvSpPr>
          <p:cNvPr id="4" name="Rectangle 3"/>
          <p:cNvSpPr/>
          <p:nvPr/>
        </p:nvSpPr>
        <p:spPr>
          <a:xfrm>
            <a:off x="508000" y="6394450"/>
            <a:ext cx="11176000" cy="12700"/>
          </a:xfrm>
          <a:prstGeom prst="rect">
            <a:avLst/>
          </a:prstGeom>
          <a:solidFill>
            <a:srgbClr val="2531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8000" y="6540500"/>
            <a:ext cx="9842500" cy="196850"/>
          </a:xfrm>
          <a:prstGeom prst="rect">
            <a:avLst/>
          </a:prstGeom>
          <a:noFill/>
        </p:spPr>
        <p:txBody>
          <a:bodyPr wrap="none" lIns="0" rIns="0" tIns="0" bIns="0">
            <a:spAutoFit/>
          </a:bodyPr>
          <a:lstStyle/>
          <a:p>
            <a:pPr>
              <a:lnSpc>
                <a:spcPts val="1150"/>
              </a:lnSpc>
              <a:spcBef>
                <a:spcPts val="0"/>
              </a:spcBef>
              <a:spcAft>
                <a:spcPts val="0"/>
              </a:spcAft>
            </a:pPr>
            <a:r>
              <a:rPr sz="950" b="0">
                <a:solidFill>
                  <a:srgbClr val="A8B6CF"/>
                </a:solidFill>
                <a:latin typeface="Arial"/>
              </a:rPr>
              <a:t>SOLANA MOBILE  /  HACKATHON PRODUCT INTRO</a:t>
            </a:r>
          </a:p>
        </p:txBody>
      </p:sp>
      <p:sp>
        <p:nvSpPr>
          <p:cNvPr id="6" name="TextBox 5"/>
          <p:cNvSpPr txBox="1"/>
          <p:nvPr/>
        </p:nvSpPr>
        <p:spPr>
          <a:xfrm>
            <a:off x="10922000" y="6527800"/>
            <a:ext cx="1016000" cy="222250"/>
          </a:xfrm>
          <a:prstGeom prst="rect">
            <a:avLst/>
          </a:prstGeom>
          <a:noFill/>
        </p:spPr>
        <p:txBody>
          <a:bodyPr wrap="none" lIns="0" rIns="0" tIns="0" bIns="0">
            <a:spAutoFit/>
          </a:bodyPr>
          <a:lstStyle/>
          <a:p>
            <a:pPr>
              <a:lnSpc>
                <a:spcPts val="1350"/>
              </a:lnSpc>
              <a:spcBef>
                <a:spcPts val="0"/>
              </a:spcBef>
              <a:spcAft>
                <a:spcPts val="0"/>
              </a:spcAft>
            </a:pPr>
            <a:r>
              <a:rPr sz="1100" b="1">
                <a:solidFill>
                  <a:srgbClr val="35E5C5"/>
                </a:solidFill>
                <a:latin typeface="Arial"/>
              </a:rPr>
              <a:t>04 / 06</a:t>
            </a:r>
          </a:p>
        </p:txBody>
      </p:sp>
      <p:sp>
        <p:nvSpPr>
          <p:cNvPr id="7" name="TextBox 6"/>
          <p:cNvSpPr txBox="1"/>
          <p:nvPr/>
        </p:nvSpPr>
        <p:spPr>
          <a:xfrm>
            <a:off x="508000" y="1035050"/>
            <a:ext cx="11176000" cy="654050"/>
          </a:xfrm>
          <a:prstGeom prst="rect">
            <a:avLst/>
          </a:prstGeom>
          <a:noFill/>
        </p:spPr>
        <p:txBody>
          <a:bodyPr wrap="none" lIns="0" rIns="0" tIns="0" bIns="0">
            <a:spAutoFit/>
          </a:bodyPr>
          <a:lstStyle/>
          <a:p>
            <a:pPr>
              <a:lnSpc>
                <a:spcPts val="4750"/>
              </a:lnSpc>
              <a:spcBef>
                <a:spcPts val="0"/>
              </a:spcBef>
              <a:spcAft>
                <a:spcPts val="0"/>
              </a:spcAft>
            </a:pPr>
            <a:r>
              <a:rPr sz="3850" b="1">
                <a:solidFill>
                  <a:srgbClr val="F3F7FF"/>
                </a:solidFill>
                <a:latin typeface="Arial"/>
              </a:rPr>
              <a:t>Progress with a story.</a:t>
            </a:r>
          </a:p>
        </p:txBody>
      </p:sp>
      <p:sp>
        <p:nvSpPr>
          <p:cNvPr id="8" name="TextBox 7"/>
          <p:cNvSpPr txBox="1"/>
          <p:nvPr/>
        </p:nvSpPr>
        <p:spPr>
          <a:xfrm>
            <a:off x="539750" y="1765300"/>
            <a:ext cx="10985500" cy="355600"/>
          </a:xfrm>
          <a:prstGeom prst="rect">
            <a:avLst/>
          </a:prstGeom>
          <a:noFill/>
        </p:spPr>
        <p:txBody>
          <a:bodyPr wrap="none" lIns="0" rIns="0" tIns="0" bIns="0">
            <a:spAutoFit/>
          </a:bodyPr>
          <a:lstStyle/>
          <a:p>
            <a:pPr>
              <a:lnSpc>
                <a:spcPts val="2400"/>
              </a:lnSpc>
              <a:spcBef>
                <a:spcPts val="0"/>
              </a:spcBef>
              <a:spcAft>
                <a:spcPts val="0"/>
              </a:spcAft>
            </a:pPr>
            <a:r>
              <a:rPr sz="1950" b="0">
                <a:solidFill>
                  <a:srgbClr val="A8B6CF"/>
                </a:solidFill>
                <a:latin typeface="Arial"/>
              </a:rPr>
              <a:t>Wildlife-inspired shoes. Conservation learning.</a:t>
            </a:r>
          </a:p>
        </p:txBody>
      </p:sp>
      <p:sp>
        <p:nvSpPr>
          <p:cNvPr id="9" name="Rectangle 8"/>
          <p:cNvSpPr/>
          <p:nvPr/>
        </p:nvSpPr>
        <p:spPr>
          <a:xfrm>
            <a:off x="508000" y="2387600"/>
            <a:ext cx="5429250" cy="3073400"/>
          </a:xfrm>
          <a:prstGeom prst="rect">
            <a:avLst/>
          </a:prstGeom>
          <a:solidFill>
            <a:srgbClr val="111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asian-elephant.png"/>
          <p:cNvPicPr>
            <a:picLocks noChangeAspect="1"/>
          </p:cNvPicPr>
          <p:nvPr/>
        </p:nvPicPr>
        <p:blipFill>
          <a:blip r:embed="rId2"/>
          <a:stretch>
            <a:fillRect/>
          </a:stretch>
        </p:blipFill>
        <p:spPr>
          <a:xfrm>
            <a:off x="1492250" y="2457450"/>
            <a:ext cx="3454400" cy="2127250"/>
          </a:xfrm>
          <a:prstGeom prst="rect">
            <a:avLst/>
          </a:prstGeom>
        </p:spPr>
      </p:pic>
      <p:sp>
        <p:nvSpPr>
          <p:cNvPr id="11" name="TextBox 10"/>
          <p:cNvSpPr txBox="1"/>
          <p:nvPr/>
        </p:nvSpPr>
        <p:spPr>
          <a:xfrm>
            <a:off x="711200" y="4724400"/>
            <a:ext cx="5016500" cy="317500"/>
          </a:xfrm>
          <a:prstGeom prst="rect">
            <a:avLst/>
          </a:prstGeom>
          <a:noFill/>
        </p:spPr>
        <p:txBody>
          <a:bodyPr wrap="none" lIns="0" rIns="0" tIns="0" bIns="0">
            <a:spAutoFit/>
          </a:bodyPr>
          <a:lstStyle/>
          <a:p>
            <a:pPr>
              <a:lnSpc>
                <a:spcPts val="2100"/>
              </a:lnSpc>
              <a:spcBef>
                <a:spcPts val="0"/>
              </a:spcBef>
              <a:spcAft>
                <a:spcPts val="0"/>
              </a:spcAft>
            </a:pPr>
            <a:r>
              <a:rPr sz="1700" b="1">
                <a:solidFill>
                  <a:srgbClr val="35E5C5"/>
                </a:solidFill>
                <a:latin typeface="Arial"/>
              </a:rPr>
              <a:t>ASIAN ELEPHANT</a:t>
            </a:r>
          </a:p>
        </p:txBody>
      </p:sp>
      <p:sp>
        <p:nvSpPr>
          <p:cNvPr id="12" name="TextBox 11"/>
          <p:cNvSpPr txBox="1"/>
          <p:nvPr/>
        </p:nvSpPr>
        <p:spPr>
          <a:xfrm>
            <a:off x="711200" y="5086350"/>
            <a:ext cx="5080000" cy="266700"/>
          </a:xfrm>
          <a:prstGeom prst="rect">
            <a:avLst/>
          </a:prstGeom>
          <a:noFill/>
        </p:spPr>
        <p:txBody>
          <a:bodyPr wrap="none" lIns="0" rIns="0" tIns="0" bIns="0">
            <a:spAutoFit/>
          </a:bodyPr>
          <a:lstStyle/>
          <a:p>
            <a:pPr>
              <a:lnSpc>
                <a:spcPts val="1700"/>
              </a:lnSpc>
              <a:spcBef>
                <a:spcPts val="0"/>
              </a:spcBef>
              <a:spcAft>
                <a:spcPts val="0"/>
              </a:spcAft>
            </a:pPr>
            <a:r>
              <a:rPr sz="1400" b="0">
                <a:solidFill>
                  <a:srgbClr val="F3F7FF"/>
                </a:solidFill>
                <a:latin typeface="Arial"/>
              </a:rPr>
              <a:t>Learn about habitat fragmentation.</a:t>
            </a:r>
          </a:p>
        </p:txBody>
      </p:sp>
      <p:sp>
        <p:nvSpPr>
          <p:cNvPr id="13" name="Rectangle 12"/>
          <p:cNvSpPr/>
          <p:nvPr/>
        </p:nvSpPr>
        <p:spPr>
          <a:xfrm>
            <a:off x="6254750" y="2387600"/>
            <a:ext cx="5429250" cy="3073400"/>
          </a:xfrm>
          <a:prstGeom prst="rect">
            <a:avLst/>
          </a:prstGeom>
          <a:solidFill>
            <a:srgbClr val="111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hawksbill-turtle.png"/>
          <p:cNvPicPr>
            <a:picLocks noChangeAspect="1"/>
          </p:cNvPicPr>
          <p:nvPr/>
        </p:nvPicPr>
        <p:blipFill>
          <a:blip r:embed="rId3"/>
          <a:stretch>
            <a:fillRect/>
          </a:stretch>
        </p:blipFill>
        <p:spPr>
          <a:xfrm>
            <a:off x="7239000" y="2457450"/>
            <a:ext cx="3454400" cy="2127250"/>
          </a:xfrm>
          <a:prstGeom prst="rect">
            <a:avLst/>
          </a:prstGeom>
        </p:spPr>
      </p:pic>
      <p:sp>
        <p:nvSpPr>
          <p:cNvPr id="15" name="TextBox 14"/>
          <p:cNvSpPr txBox="1"/>
          <p:nvPr/>
        </p:nvSpPr>
        <p:spPr>
          <a:xfrm>
            <a:off x="6457950" y="4724400"/>
            <a:ext cx="5016500" cy="317500"/>
          </a:xfrm>
          <a:prstGeom prst="rect">
            <a:avLst/>
          </a:prstGeom>
          <a:noFill/>
        </p:spPr>
        <p:txBody>
          <a:bodyPr wrap="none" lIns="0" rIns="0" tIns="0" bIns="0">
            <a:spAutoFit/>
          </a:bodyPr>
          <a:lstStyle/>
          <a:p>
            <a:pPr>
              <a:lnSpc>
                <a:spcPts val="2100"/>
              </a:lnSpc>
              <a:spcBef>
                <a:spcPts val="0"/>
              </a:spcBef>
              <a:spcAft>
                <a:spcPts val="0"/>
              </a:spcAft>
            </a:pPr>
            <a:r>
              <a:rPr sz="1700" b="1">
                <a:solidFill>
                  <a:srgbClr val="35E5C5"/>
                </a:solidFill>
                <a:latin typeface="Arial"/>
              </a:rPr>
              <a:t>HAWKSBILL TURTLE</a:t>
            </a:r>
          </a:p>
        </p:txBody>
      </p:sp>
      <p:sp>
        <p:nvSpPr>
          <p:cNvPr id="16" name="TextBox 15"/>
          <p:cNvSpPr txBox="1"/>
          <p:nvPr/>
        </p:nvSpPr>
        <p:spPr>
          <a:xfrm>
            <a:off x="6457950" y="5086350"/>
            <a:ext cx="5080000" cy="266700"/>
          </a:xfrm>
          <a:prstGeom prst="rect">
            <a:avLst/>
          </a:prstGeom>
          <a:noFill/>
        </p:spPr>
        <p:txBody>
          <a:bodyPr wrap="none" lIns="0" rIns="0" tIns="0" bIns="0">
            <a:spAutoFit/>
          </a:bodyPr>
          <a:lstStyle/>
          <a:p>
            <a:pPr>
              <a:lnSpc>
                <a:spcPts val="1700"/>
              </a:lnSpc>
              <a:spcBef>
                <a:spcPts val="0"/>
              </a:spcBef>
              <a:spcAft>
                <a:spcPts val="0"/>
              </a:spcAft>
            </a:pPr>
            <a:r>
              <a:rPr sz="1400" b="0">
                <a:solidFill>
                  <a:srgbClr val="F3F7FF"/>
                </a:solidFill>
                <a:latin typeface="Arial"/>
              </a:rPr>
              <a:t>Learn about threats to coastal habitats.</a:t>
            </a:r>
          </a:p>
        </p:txBody>
      </p:sp>
      <p:sp>
        <p:nvSpPr>
          <p:cNvPr id="17" name="TextBox 16"/>
          <p:cNvSpPr txBox="1"/>
          <p:nvPr/>
        </p:nvSpPr>
        <p:spPr>
          <a:xfrm>
            <a:off x="539750" y="5740400"/>
            <a:ext cx="11049000" cy="241300"/>
          </a:xfrm>
          <a:prstGeom prst="rect">
            <a:avLst/>
          </a:prstGeom>
          <a:noFill/>
        </p:spPr>
        <p:txBody>
          <a:bodyPr wrap="none" lIns="0" rIns="0" tIns="0" bIns="0">
            <a:spAutoFit/>
          </a:bodyPr>
          <a:lstStyle/>
          <a:p>
            <a:pPr>
              <a:lnSpc>
                <a:spcPts val="1500"/>
              </a:lnSpc>
              <a:spcBef>
                <a:spcPts val="0"/>
              </a:spcBef>
              <a:spcAft>
                <a:spcPts val="0"/>
              </a:spcAft>
            </a:pPr>
            <a:r>
              <a:rPr sz="1200" b="1">
                <a:solidFill>
                  <a:srgbClr val="FFD080"/>
                </a:solidFill>
                <a:latin typeface="Arial"/>
              </a:rPr>
              <a:t>COSMETIC SHOE DESIGNS · DESIGN ASSETS, NOT DEVICE CAPTURES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70B16"/>
        </a:solidFill>
        <a:effectLst/>
      </p:bgPr>
    </p:bg>
    <p:spTree>
      <p:nvGrpSpPr>
        <p:cNvPr id="1" name=""/>
        <p:cNvGrpSpPr/>
        <p:nvPr/>
      </p:nvGrpSpPr>
      <p:grpSpPr/>
      <p:sp>
        <p:nvSpPr>
          <p:cNvPr id="2" name="Rectangle 1"/>
          <p:cNvSpPr/>
          <p:nvPr/>
        </p:nvSpPr>
        <p:spPr>
          <a:xfrm>
            <a:off x="508000" y="406400"/>
            <a:ext cx="63500" cy="152400"/>
          </a:xfrm>
          <a:prstGeom prst="rect">
            <a:avLst/>
          </a:prstGeom>
          <a:solidFill>
            <a:srgbClr val="35E5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98500" y="406400"/>
            <a:ext cx="10287000" cy="228600"/>
          </a:xfrm>
          <a:prstGeom prst="rect">
            <a:avLst/>
          </a:prstGeom>
          <a:noFill/>
        </p:spPr>
        <p:txBody>
          <a:bodyPr wrap="none" lIns="0" rIns="0" tIns="0" bIns="0">
            <a:spAutoFit/>
          </a:bodyPr>
          <a:lstStyle/>
          <a:p>
            <a:pPr>
              <a:lnSpc>
                <a:spcPts val="1400"/>
              </a:lnSpc>
              <a:spcBef>
                <a:spcPts val="0"/>
              </a:spcBef>
              <a:spcAft>
                <a:spcPts val="0"/>
              </a:spcAft>
            </a:pPr>
            <a:r>
              <a:rPr sz="1150" b="1">
                <a:solidFill>
                  <a:srgbClr val="35E5C5"/>
                </a:solidFill>
                <a:latin typeface="Arial"/>
              </a:rPr>
              <a:t>NEONSHIFT  /  CONNECT WITH COMMUNITY</a:t>
            </a:r>
          </a:p>
        </p:txBody>
      </p:sp>
      <p:sp>
        <p:nvSpPr>
          <p:cNvPr id="4" name="Rectangle 3"/>
          <p:cNvSpPr/>
          <p:nvPr/>
        </p:nvSpPr>
        <p:spPr>
          <a:xfrm>
            <a:off x="508000" y="6394450"/>
            <a:ext cx="11176000" cy="12700"/>
          </a:xfrm>
          <a:prstGeom prst="rect">
            <a:avLst/>
          </a:prstGeom>
          <a:solidFill>
            <a:srgbClr val="2531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8000" y="6540500"/>
            <a:ext cx="9842500" cy="196850"/>
          </a:xfrm>
          <a:prstGeom prst="rect">
            <a:avLst/>
          </a:prstGeom>
          <a:noFill/>
        </p:spPr>
        <p:txBody>
          <a:bodyPr wrap="none" lIns="0" rIns="0" tIns="0" bIns="0">
            <a:spAutoFit/>
          </a:bodyPr>
          <a:lstStyle/>
          <a:p>
            <a:pPr>
              <a:lnSpc>
                <a:spcPts val="1150"/>
              </a:lnSpc>
              <a:spcBef>
                <a:spcPts val="0"/>
              </a:spcBef>
              <a:spcAft>
                <a:spcPts val="0"/>
              </a:spcAft>
            </a:pPr>
            <a:r>
              <a:rPr sz="950" b="0">
                <a:solidFill>
                  <a:srgbClr val="A8B6CF"/>
                </a:solidFill>
                <a:latin typeface="Arial"/>
              </a:rPr>
              <a:t>SOLANA MOBILE  /  HACKATHON PRODUCT INTRO</a:t>
            </a:r>
          </a:p>
        </p:txBody>
      </p:sp>
      <p:sp>
        <p:nvSpPr>
          <p:cNvPr id="6" name="TextBox 5"/>
          <p:cNvSpPr txBox="1"/>
          <p:nvPr/>
        </p:nvSpPr>
        <p:spPr>
          <a:xfrm>
            <a:off x="10922000" y="6527800"/>
            <a:ext cx="1016000" cy="222250"/>
          </a:xfrm>
          <a:prstGeom prst="rect">
            <a:avLst/>
          </a:prstGeom>
          <a:noFill/>
        </p:spPr>
        <p:txBody>
          <a:bodyPr wrap="none" lIns="0" rIns="0" tIns="0" bIns="0">
            <a:spAutoFit/>
          </a:bodyPr>
          <a:lstStyle/>
          <a:p>
            <a:pPr>
              <a:lnSpc>
                <a:spcPts val="1350"/>
              </a:lnSpc>
              <a:spcBef>
                <a:spcPts val="0"/>
              </a:spcBef>
              <a:spcAft>
                <a:spcPts val="0"/>
              </a:spcAft>
            </a:pPr>
            <a:r>
              <a:rPr sz="1100" b="1">
                <a:solidFill>
                  <a:srgbClr val="35E5C5"/>
                </a:solidFill>
                <a:latin typeface="Arial"/>
              </a:rPr>
              <a:t>05 / 06</a:t>
            </a:r>
          </a:p>
        </p:txBody>
      </p:sp>
      <p:sp>
        <p:nvSpPr>
          <p:cNvPr id="7" name="TextBox 6"/>
          <p:cNvSpPr txBox="1"/>
          <p:nvPr/>
        </p:nvSpPr>
        <p:spPr>
          <a:xfrm>
            <a:off x="508000" y="1003300"/>
            <a:ext cx="11049000" cy="1206500"/>
          </a:xfrm>
          <a:prstGeom prst="rect">
            <a:avLst/>
          </a:prstGeom>
          <a:noFill/>
        </p:spPr>
        <p:txBody>
          <a:bodyPr wrap="none" lIns="0" rIns="0" tIns="0" bIns="0">
            <a:spAutoFit/>
          </a:bodyPr>
          <a:lstStyle/>
          <a:p>
            <a:pPr>
              <a:lnSpc>
                <a:spcPts val="4550"/>
              </a:lnSpc>
              <a:spcBef>
                <a:spcPts val="0"/>
              </a:spcBef>
              <a:spcAft>
                <a:spcPts val="0"/>
              </a:spcAft>
            </a:pPr>
            <a:r>
              <a:rPr sz="3700" b="1">
                <a:solidFill>
                  <a:srgbClr val="F3F7FF"/>
                </a:solidFill>
                <a:latin typeface="Arial"/>
              </a:rPr>
              <a:t>From daily movement</a:t>
            </a:r>
          </a:p>
          <a:p>
            <a:pPr>
              <a:lnSpc>
                <a:spcPts val="4550"/>
              </a:lnSpc>
              <a:spcBef>
                <a:spcPts val="0"/>
              </a:spcBef>
              <a:spcAft>
                <a:spcPts val="0"/>
              </a:spcAft>
            </a:pPr>
            <a:r>
              <a:rPr sz="3700" b="1">
                <a:solidFill>
                  <a:srgbClr val="F3F7FF"/>
                </a:solidFill>
                <a:latin typeface="Arial"/>
              </a:rPr>
              <a:t>to shared experiences.</a:t>
            </a:r>
          </a:p>
        </p:txBody>
      </p:sp>
      <p:sp>
        <p:nvSpPr>
          <p:cNvPr id="8" name="TextBox 7"/>
          <p:cNvSpPr txBox="1"/>
          <p:nvPr/>
        </p:nvSpPr>
        <p:spPr>
          <a:xfrm>
            <a:off x="539750" y="2425700"/>
            <a:ext cx="10922000" cy="260350"/>
          </a:xfrm>
          <a:prstGeom prst="rect">
            <a:avLst/>
          </a:prstGeom>
          <a:noFill/>
        </p:spPr>
        <p:txBody>
          <a:bodyPr wrap="none" lIns="0" rIns="0" tIns="0" bIns="0">
            <a:spAutoFit/>
          </a:bodyPr>
          <a:lstStyle/>
          <a:p>
            <a:pPr>
              <a:lnSpc>
                <a:spcPts val="1650"/>
              </a:lnSpc>
              <a:spcBef>
                <a:spcPts val="0"/>
              </a:spcBef>
              <a:spcAft>
                <a:spcPts val="0"/>
              </a:spcAft>
            </a:pPr>
            <a:r>
              <a:rPr sz="1350" b="1">
                <a:solidFill>
                  <a:srgbClr val="FFD080"/>
                </a:solidFill>
                <a:latin typeface="Arial"/>
              </a:rPr>
              <a:t>EVENT PROTOTYPE · WORKFLOW PREVIEW</a:t>
            </a:r>
          </a:p>
        </p:txBody>
      </p:sp>
      <p:sp>
        <p:nvSpPr>
          <p:cNvPr id="9" name="Rectangle 8"/>
          <p:cNvSpPr/>
          <p:nvPr/>
        </p:nvSpPr>
        <p:spPr>
          <a:xfrm>
            <a:off x="508000" y="3016250"/>
            <a:ext cx="5397500" cy="1778000"/>
          </a:xfrm>
          <a:prstGeom prst="rect">
            <a:avLst/>
          </a:prstGeom>
          <a:solidFill>
            <a:srgbClr val="111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286500" y="3016250"/>
            <a:ext cx="5397500" cy="1778000"/>
          </a:xfrm>
          <a:prstGeom prst="rect">
            <a:avLst/>
          </a:prstGeom>
          <a:solidFill>
            <a:srgbClr val="111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11200" y="3225800"/>
            <a:ext cx="4953000" cy="292100"/>
          </a:xfrm>
          <a:prstGeom prst="rect">
            <a:avLst/>
          </a:prstGeom>
          <a:noFill/>
        </p:spPr>
        <p:txBody>
          <a:bodyPr wrap="none" lIns="0" rIns="0" tIns="0" bIns="0">
            <a:spAutoFit/>
          </a:bodyPr>
          <a:lstStyle/>
          <a:p>
            <a:pPr>
              <a:lnSpc>
                <a:spcPts val="1900"/>
              </a:lnSpc>
              <a:spcBef>
                <a:spcPts val="0"/>
              </a:spcBef>
              <a:spcAft>
                <a:spcPts val="0"/>
              </a:spcAft>
            </a:pPr>
            <a:r>
              <a:rPr sz="1550" b="1">
                <a:solidFill>
                  <a:srgbClr val="35E5C5"/>
                </a:solidFill>
                <a:latin typeface="Arial"/>
              </a:rPr>
              <a:t>PARTICIPANT</a:t>
            </a:r>
          </a:p>
        </p:txBody>
      </p:sp>
      <p:sp>
        <p:nvSpPr>
          <p:cNvPr id="12" name="TextBox 11"/>
          <p:cNvSpPr txBox="1"/>
          <p:nvPr/>
        </p:nvSpPr>
        <p:spPr>
          <a:xfrm>
            <a:off x="711200" y="3721100"/>
            <a:ext cx="4953000" cy="711200"/>
          </a:xfrm>
          <a:prstGeom prst="rect">
            <a:avLst/>
          </a:prstGeom>
          <a:noFill/>
        </p:spPr>
        <p:txBody>
          <a:bodyPr wrap="none" lIns="0" rIns="0" tIns="0" bIns="0">
            <a:spAutoFit/>
          </a:bodyPr>
          <a:lstStyle/>
          <a:p>
            <a:pPr>
              <a:lnSpc>
                <a:spcPts val="2600"/>
              </a:lnSpc>
              <a:spcBef>
                <a:spcPts val="0"/>
              </a:spcBef>
              <a:spcAft>
                <a:spcPts val="0"/>
              </a:spcAft>
            </a:pPr>
            <a:r>
              <a:rPr sz="2100" b="0">
                <a:solidFill>
                  <a:srgbClr val="F3F7FF"/>
                </a:solidFill>
                <a:latin typeface="Arial"/>
              </a:rPr>
              <a:t>Discover an event</a:t>
            </a:r>
          </a:p>
          <a:p>
            <a:pPr>
              <a:lnSpc>
                <a:spcPts val="2600"/>
              </a:lnSpc>
              <a:spcBef>
                <a:spcPts val="0"/>
              </a:spcBef>
              <a:spcAft>
                <a:spcPts val="0"/>
              </a:spcAft>
            </a:pPr>
            <a:r>
              <a:rPr sz="2100" b="0">
                <a:solidFill>
                  <a:srgbClr val="F3F7FF"/>
                </a:solidFill>
                <a:latin typeface="Arial"/>
              </a:rPr>
              <a:t>Register and show a code</a:t>
            </a:r>
          </a:p>
        </p:txBody>
      </p:sp>
      <p:sp>
        <p:nvSpPr>
          <p:cNvPr id="13" name="TextBox 12"/>
          <p:cNvSpPr txBox="1"/>
          <p:nvPr/>
        </p:nvSpPr>
        <p:spPr>
          <a:xfrm>
            <a:off x="6489700" y="3225800"/>
            <a:ext cx="4953000" cy="292100"/>
          </a:xfrm>
          <a:prstGeom prst="rect">
            <a:avLst/>
          </a:prstGeom>
          <a:noFill/>
        </p:spPr>
        <p:txBody>
          <a:bodyPr wrap="none" lIns="0" rIns="0" tIns="0" bIns="0">
            <a:spAutoFit/>
          </a:bodyPr>
          <a:lstStyle/>
          <a:p>
            <a:pPr>
              <a:lnSpc>
                <a:spcPts val="1900"/>
              </a:lnSpc>
              <a:spcBef>
                <a:spcPts val="0"/>
              </a:spcBef>
              <a:spcAft>
                <a:spcPts val="0"/>
              </a:spcAft>
            </a:pPr>
            <a:r>
              <a:rPr sz="1550" b="1">
                <a:solidFill>
                  <a:srgbClr val="AD8CFF"/>
                </a:solidFill>
                <a:latin typeface="Arial"/>
              </a:rPr>
              <a:t>AUTHORIZED STAFF</a:t>
            </a:r>
          </a:p>
        </p:txBody>
      </p:sp>
      <p:sp>
        <p:nvSpPr>
          <p:cNvPr id="14" name="TextBox 13"/>
          <p:cNvSpPr txBox="1"/>
          <p:nvPr/>
        </p:nvSpPr>
        <p:spPr>
          <a:xfrm>
            <a:off x="6489700" y="3721100"/>
            <a:ext cx="4953000" cy="711200"/>
          </a:xfrm>
          <a:prstGeom prst="rect">
            <a:avLst/>
          </a:prstGeom>
          <a:noFill/>
        </p:spPr>
        <p:txBody>
          <a:bodyPr wrap="none" lIns="0" rIns="0" tIns="0" bIns="0">
            <a:spAutoFit/>
          </a:bodyPr>
          <a:lstStyle/>
          <a:p>
            <a:pPr>
              <a:lnSpc>
                <a:spcPts val="2600"/>
              </a:lnSpc>
              <a:spcBef>
                <a:spcPts val="0"/>
              </a:spcBef>
              <a:spcAft>
                <a:spcPts val="0"/>
              </a:spcAft>
            </a:pPr>
            <a:r>
              <a:rPr sz="2100" b="0">
                <a:solidFill>
                  <a:srgbClr val="F3F7FF"/>
                </a:solidFill>
                <a:latin typeface="Arial"/>
              </a:rPr>
              <a:t>Enter the participant code</a:t>
            </a:r>
          </a:p>
          <a:p>
            <a:pPr>
              <a:lnSpc>
                <a:spcPts val="2600"/>
              </a:lnSpc>
              <a:spcBef>
                <a:spcPts val="0"/>
              </a:spcBef>
              <a:spcAft>
                <a:spcPts val="0"/>
              </a:spcAft>
            </a:pPr>
            <a:r>
              <a:rPr sz="2100" b="0">
                <a:solidFill>
                  <a:srgbClr val="F3F7FF"/>
                </a:solidFill>
                <a:latin typeface="Arial"/>
              </a:rPr>
              <a:t>Confirm attendance</a:t>
            </a:r>
          </a:p>
        </p:txBody>
      </p:sp>
      <p:sp>
        <p:nvSpPr>
          <p:cNvPr id="15" name="TextBox 14"/>
          <p:cNvSpPr txBox="1"/>
          <p:nvPr/>
        </p:nvSpPr>
        <p:spPr>
          <a:xfrm>
            <a:off x="539750" y="5238750"/>
            <a:ext cx="11049000" cy="342900"/>
          </a:xfrm>
          <a:prstGeom prst="rect">
            <a:avLst/>
          </a:prstGeom>
          <a:noFill/>
        </p:spPr>
        <p:txBody>
          <a:bodyPr wrap="none" lIns="0" rIns="0" tIns="0" bIns="0">
            <a:spAutoFit/>
          </a:bodyPr>
          <a:lstStyle/>
          <a:p>
            <a:pPr>
              <a:lnSpc>
                <a:spcPts val="2300"/>
              </a:lnSpc>
              <a:spcBef>
                <a:spcPts val="0"/>
              </a:spcBef>
              <a:spcAft>
                <a:spcPts val="0"/>
              </a:spcAft>
            </a:pPr>
            <a:r>
              <a:rPr sz="1850" b="0">
                <a:solidFill>
                  <a:srgbClr val="F3F7FF"/>
                </a:solidFill>
                <a:latin typeface="Arial"/>
              </a:rPr>
              <a:t>NEXT: local community and conservation pilots.</a:t>
            </a:r>
          </a:p>
        </p:txBody>
      </p:sp>
      <p:sp>
        <p:nvSpPr>
          <p:cNvPr id="16" name="TextBox 15"/>
          <p:cNvSpPr txBox="1"/>
          <p:nvPr/>
        </p:nvSpPr>
        <p:spPr>
          <a:xfrm>
            <a:off x="539750" y="5727700"/>
            <a:ext cx="11049000" cy="266700"/>
          </a:xfrm>
          <a:prstGeom prst="rect">
            <a:avLst/>
          </a:prstGeom>
          <a:noFill/>
        </p:spPr>
        <p:txBody>
          <a:bodyPr wrap="none" lIns="0" rIns="0" tIns="0" bIns="0">
            <a:spAutoFit/>
          </a:bodyPr>
          <a:lstStyle/>
          <a:p>
            <a:pPr>
              <a:lnSpc>
                <a:spcPts val="1700"/>
              </a:lnSpc>
              <a:spcBef>
                <a:spcPts val="0"/>
              </a:spcBef>
              <a:spcAft>
                <a:spcPts val="0"/>
              </a:spcAft>
            </a:pPr>
            <a:r>
              <a:rPr sz="1400" b="0">
                <a:solidFill>
                  <a:srgbClr val="A8B6CF"/>
                </a:solidFill>
                <a:latin typeface="Arial"/>
              </a:rPr>
              <a:t>Device validation pending. Partnerships are planned.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70B16"/>
        </a:solidFill>
        <a:effectLst/>
      </p:bgPr>
    </p:bg>
    <p:spTree>
      <p:nvGrpSpPr>
        <p:cNvPr id="1" name=""/>
        <p:cNvGrpSpPr/>
        <p:nvPr/>
      </p:nvGrpSpPr>
      <p:grpSpPr/>
      <p:sp>
        <p:nvSpPr>
          <p:cNvPr id="2" name="Rectangle 1"/>
          <p:cNvSpPr/>
          <p:nvPr/>
        </p:nvSpPr>
        <p:spPr>
          <a:xfrm>
            <a:off x="508000" y="406400"/>
            <a:ext cx="63500" cy="152400"/>
          </a:xfrm>
          <a:prstGeom prst="rect">
            <a:avLst/>
          </a:prstGeom>
          <a:solidFill>
            <a:srgbClr val="35E5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98500" y="406400"/>
            <a:ext cx="10287000" cy="228600"/>
          </a:xfrm>
          <a:prstGeom prst="rect">
            <a:avLst/>
          </a:prstGeom>
          <a:noFill/>
        </p:spPr>
        <p:txBody>
          <a:bodyPr wrap="none" lIns="0" rIns="0" tIns="0" bIns="0">
            <a:spAutoFit/>
          </a:bodyPr>
          <a:lstStyle/>
          <a:p>
            <a:pPr>
              <a:lnSpc>
                <a:spcPts val="1400"/>
              </a:lnSpc>
              <a:spcBef>
                <a:spcPts val="0"/>
              </a:spcBef>
              <a:spcAft>
                <a:spcPts val="0"/>
              </a:spcAft>
            </a:pPr>
            <a:r>
              <a:rPr sz="1150" b="1">
                <a:solidFill>
                  <a:srgbClr val="35E5C5"/>
                </a:solidFill>
                <a:latin typeface="Arial"/>
              </a:rPr>
              <a:t>NEONSHIFT  /  BUILD WHAT COMES NEXT</a:t>
            </a:r>
          </a:p>
        </p:txBody>
      </p:sp>
      <p:sp>
        <p:nvSpPr>
          <p:cNvPr id="4" name="Rectangle 3"/>
          <p:cNvSpPr/>
          <p:nvPr/>
        </p:nvSpPr>
        <p:spPr>
          <a:xfrm>
            <a:off x="508000" y="6394450"/>
            <a:ext cx="11176000" cy="12700"/>
          </a:xfrm>
          <a:prstGeom prst="rect">
            <a:avLst/>
          </a:prstGeom>
          <a:solidFill>
            <a:srgbClr val="2531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8000" y="6540500"/>
            <a:ext cx="9842500" cy="196850"/>
          </a:xfrm>
          <a:prstGeom prst="rect">
            <a:avLst/>
          </a:prstGeom>
          <a:noFill/>
        </p:spPr>
        <p:txBody>
          <a:bodyPr wrap="none" lIns="0" rIns="0" tIns="0" bIns="0">
            <a:spAutoFit/>
          </a:bodyPr>
          <a:lstStyle/>
          <a:p>
            <a:pPr>
              <a:lnSpc>
                <a:spcPts val="1150"/>
              </a:lnSpc>
              <a:spcBef>
                <a:spcPts val="0"/>
              </a:spcBef>
              <a:spcAft>
                <a:spcPts val="0"/>
              </a:spcAft>
            </a:pPr>
            <a:r>
              <a:rPr sz="950" b="0">
                <a:solidFill>
                  <a:srgbClr val="A8B6CF"/>
                </a:solidFill>
                <a:latin typeface="Arial"/>
              </a:rPr>
              <a:t>SOLANA MOBILE  /  HACKATHON PRODUCT INTRO</a:t>
            </a:r>
          </a:p>
        </p:txBody>
      </p:sp>
      <p:sp>
        <p:nvSpPr>
          <p:cNvPr id="6" name="TextBox 5"/>
          <p:cNvSpPr txBox="1"/>
          <p:nvPr/>
        </p:nvSpPr>
        <p:spPr>
          <a:xfrm>
            <a:off x="10922000" y="6527800"/>
            <a:ext cx="1016000" cy="222250"/>
          </a:xfrm>
          <a:prstGeom prst="rect">
            <a:avLst/>
          </a:prstGeom>
          <a:noFill/>
        </p:spPr>
        <p:txBody>
          <a:bodyPr wrap="none" lIns="0" rIns="0" tIns="0" bIns="0">
            <a:spAutoFit/>
          </a:bodyPr>
          <a:lstStyle/>
          <a:p>
            <a:pPr>
              <a:lnSpc>
                <a:spcPts val="1350"/>
              </a:lnSpc>
              <a:spcBef>
                <a:spcPts val="0"/>
              </a:spcBef>
              <a:spcAft>
                <a:spcPts val="0"/>
              </a:spcAft>
            </a:pPr>
            <a:r>
              <a:rPr sz="1100" b="1">
                <a:solidFill>
                  <a:srgbClr val="35E5C5"/>
                </a:solidFill>
                <a:latin typeface="Arial"/>
              </a:rPr>
              <a:t>06 / 06</a:t>
            </a:r>
          </a:p>
        </p:txBody>
      </p:sp>
      <p:sp>
        <p:nvSpPr>
          <p:cNvPr id="7" name="TextBox 6"/>
          <p:cNvSpPr txBox="1"/>
          <p:nvPr/>
        </p:nvSpPr>
        <p:spPr>
          <a:xfrm>
            <a:off x="508000" y="1219200"/>
            <a:ext cx="11239500" cy="736600"/>
          </a:xfrm>
          <a:prstGeom prst="rect">
            <a:avLst/>
          </a:prstGeom>
          <a:noFill/>
        </p:spPr>
        <p:txBody>
          <a:bodyPr wrap="none" lIns="0" rIns="0" tIns="0" bIns="0">
            <a:spAutoFit/>
          </a:bodyPr>
          <a:lstStyle/>
          <a:p>
            <a:pPr>
              <a:lnSpc>
                <a:spcPts val="5400"/>
              </a:lnSpc>
              <a:spcBef>
                <a:spcPts val="0"/>
              </a:spcBef>
              <a:spcAft>
                <a:spcPts val="0"/>
              </a:spcAft>
            </a:pPr>
            <a:r>
              <a:rPr sz="4400" b="1">
                <a:solidFill>
                  <a:srgbClr val="F3F7FF"/>
                </a:solidFill>
                <a:latin typeface="Arial"/>
              </a:rPr>
              <a:t>Move for yourself.</a:t>
            </a:r>
          </a:p>
        </p:txBody>
      </p:sp>
      <p:sp>
        <p:nvSpPr>
          <p:cNvPr id="8" name="TextBox 7"/>
          <p:cNvSpPr txBox="1"/>
          <p:nvPr/>
        </p:nvSpPr>
        <p:spPr>
          <a:xfrm>
            <a:off x="508000" y="1993899"/>
            <a:ext cx="11239500" cy="1612900"/>
          </a:xfrm>
          <a:prstGeom prst="rect">
            <a:avLst/>
          </a:prstGeom>
          <a:noFill/>
        </p:spPr>
        <p:txBody>
          <a:bodyPr wrap="none" lIns="0" rIns="0" tIns="0" bIns="0">
            <a:spAutoFit/>
          </a:bodyPr>
          <a:lstStyle/>
          <a:p>
            <a:pPr>
              <a:lnSpc>
                <a:spcPts val="6150"/>
              </a:lnSpc>
              <a:spcBef>
                <a:spcPts val="0"/>
              </a:spcBef>
              <a:spcAft>
                <a:spcPts val="0"/>
              </a:spcAft>
            </a:pPr>
            <a:r>
              <a:rPr sz="5000" b="1">
                <a:solidFill>
                  <a:srgbClr val="35E5C5"/>
                </a:solidFill>
                <a:latin typeface="Arial"/>
              </a:rPr>
              <a:t>Move together</a:t>
            </a:r>
          </a:p>
          <a:p>
            <a:pPr>
              <a:lnSpc>
                <a:spcPts val="6150"/>
              </a:lnSpc>
              <a:spcBef>
                <a:spcPts val="0"/>
              </a:spcBef>
              <a:spcAft>
                <a:spcPts val="0"/>
              </a:spcAft>
            </a:pPr>
            <a:r>
              <a:rPr sz="5000" b="1">
                <a:solidFill>
                  <a:srgbClr val="35E5C5"/>
                </a:solidFill>
                <a:latin typeface="Arial"/>
              </a:rPr>
              <a:t>for nature.</a:t>
            </a:r>
          </a:p>
        </p:txBody>
      </p:sp>
      <p:sp>
        <p:nvSpPr>
          <p:cNvPr id="9" name="Rectangle 8"/>
          <p:cNvSpPr/>
          <p:nvPr/>
        </p:nvSpPr>
        <p:spPr>
          <a:xfrm>
            <a:off x="508000" y="4076699"/>
            <a:ext cx="5397500" cy="1270000"/>
          </a:xfrm>
          <a:prstGeom prst="rect">
            <a:avLst/>
          </a:prstGeom>
          <a:solidFill>
            <a:srgbClr val="111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286500" y="4076699"/>
            <a:ext cx="5397500" cy="1270000"/>
          </a:xfrm>
          <a:prstGeom prst="rect">
            <a:avLst/>
          </a:prstGeom>
          <a:solidFill>
            <a:srgbClr val="111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11200" y="4254500"/>
            <a:ext cx="4889500" cy="260350"/>
          </a:xfrm>
          <a:prstGeom prst="rect">
            <a:avLst/>
          </a:prstGeom>
          <a:noFill/>
        </p:spPr>
        <p:txBody>
          <a:bodyPr wrap="none" lIns="0" rIns="0" tIns="0" bIns="0">
            <a:spAutoFit/>
          </a:bodyPr>
          <a:lstStyle/>
          <a:p>
            <a:pPr>
              <a:lnSpc>
                <a:spcPts val="1650"/>
              </a:lnSpc>
              <a:spcBef>
                <a:spcPts val="0"/>
              </a:spcBef>
              <a:spcAft>
                <a:spcPts val="0"/>
              </a:spcAft>
            </a:pPr>
            <a:r>
              <a:rPr sz="1350" b="1">
                <a:solidFill>
                  <a:srgbClr val="35E5C5"/>
                </a:solidFill>
                <a:latin typeface="Arial"/>
              </a:rPr>
              <a:t>THE EXPERIENCE</a:t>
            </a:r>
          </a:p>
        </p:txBody>
      </p:sp>
      <p:sp>
        <p:nvSpPr>
          <p:cNvPr id="12" name="TextBox 11"/>
          <p:cNvSpPr txBox="1"/>
          <p:nvPr/>
        </p:nvSpPr>
        <p:spPr>
          <a:xfrm>
            <a:off x="711200" y="4616450"/>
            <a:ext cx="4889500" cy="596900"/>
          </a:xfrm>
          <a:prstGeom prst="rect">
            <a:avLst/>
          </a:prstGeom>
          <a:noFill/>
        </p:spPr>
        <p:txBody>
          <a:bodyPr wrap="none" lIns="0" rIns="0" tIns="0" bIns="0">
            <a:spAutoFit/>
          </a:bodyPr>
          <a:lstStyle/>
          <a:p>
            <a:pPr>
              <a:lnSpc>
                <a:spcPts val="2150"/>
              </a:lnSpc>
              <a:spcBef>
                <a:spcPts val="0"/>
              </a:spcBef>
              <a:spcAft>
                <a:spcPts val="0"/>
              </a:spcAft>
            </a:pPr>
            <a:r>
              <a:rPr sz="1750" b="0">
                <a:solidFill>
                  <a:srgbClr val="F3F7FF"/>
                </a:solidFill>
                <a:latin typeface="Arial"/>
              </a:rPr>
              <a:t>Movement · Progress</a:t>
            </a:r>
          </a:p>
          <a:p>
            <a:pPr>
              <a:lnSpc>
                <a:spcPts val="2150"/>
              </a:lnSpc>
              <a:spcBef>
                <a:spcPts val="0"/>
              </a:spcBef>
              <a:spcAft>
                <a:spcPts val="0"/>
              </a:spcAft>
            </a:pPr>
            <a:r>
              <a:rPr sz="1750" b="0">
                <a:solidFill>
                  <a:srgbClr val="F3F7FF"/>
                </a:solidFill>
                <a:latin typeface="Arial"/>
              </a:rPr>
              <a:t>Conservation learning</a:t>
            </a:r>
          </a:p>
        </p:txBody>
      </p:sp>
      <p:sp>
        <p:nvSpPr>
          <p:cNvPr id="13" name="TextBox 12"/>
          <p:cNvSpPr txBox="1"/>
          <p:nvPr/>
        </p:nvSpPr>
        <p:spPr>
          <a:xfrm>
            <a:off x="6489700" y="4254500"/>
            <a:ext cx="4921250" cy="260350"/>
          </a:xfrm>
          <a:prstGeom prst="rect">
            <a:avLst/>
          </a:prstGeom>
          <a:noFill/>
        </p:spPr>
        <p:txBody>
          <a:bodyPr wrap="none" lIns="0" rIns="0" tIns="0" bIns="0">
            <a:spAutoFit/>
          </a:bodyPr>
          <a:lstStyle/>
          <a:p>
            <a:pPr>
              <a:lnSpc>
                <a:spcPts val="1650"/>
              </a:lnSpc>
              <a:spcBef>
                <a:spcPts val="0"/>
              </a:spcBef>
              <a:spcAft>
                <a:spcPts val="0"/>
              </a:spcAft>
            </a:pPr>
            <a:r>
              <a:rPr sz="1350" b="1">
                <a:solidFill>
                  <a:srgbClr val="AD8CFF"/>
                </a:solidFill>
                <a:latin typeface="Arial"/>
              </a:rPr>
              <a:t>NEXT: LOCAL PILOTS</a:t>
            </a:r>
          </a:p>
        </p:txBody>
      </p:sp>
      <p:sp>
        <p:nvSpPr>
          <p:cNvPr id="14" name="TextBox 13"/>
          <p:cNvSpPr txBox="1"/>
          <p:nvPr/>
        </p:nvSpPr>
        <p:spPr>
          <a:xfrm>
            <a:off x="6489700" y="4616450"/>
            <a:ext cx="4921250" cy="571500"/>
          </a:xfrm>
          <a:prstGeom prst="rect">
            <a:avLst/>
          </a:prstGeom>
          <a:noFill/>
        </p:spPr>
        <p:txBody>
          <a:bodyPr wrap="none" lIns="0" rIns="0" tIns="0" bIns="0">
            <a:spAutoFit/>
          </a:bodyPr>
          <a:lstStyle/>
          <a:p>
            <a:pPr>
              <a:lnSpc>
                <a:spcPts val="2050"/>
              </a:lnSpc>
              <a:spcBef>
                <a:spcPts val="0"/>
              </a:spcBef>
              <a:spcAft>
                <a:spcPts val="0"/>
              </a:spcAft>
            </a:pPr>
            <a:r>
              <a:rPr sz="1650" b="0">
                <a:solidFill>
                  <a:srgbClr val="F3F7FF"/>
                </a:solidFill>
                <a:latin typeface="Arial"/>
              </a:rPr>
              <a:t>Planned: paid event services</a:t>
            </a:r>
          </a:p>
          <a:p>
            <a:pPr>
              <a:lnSpc>
                <a:spcPts val="2050"/>
              </a:lnSpc>
              <a:spcBef>
                <a:spcPts val="0"/>
              </a:spcBef>
              <a:spcAft>
                <a:spcPts val="0"/>
              </a:spcAft>
            </a:pPr>
            <a:r>
              <a:rPr sz="1650" b="0">
                <a:solidFill>
                  <a:srgbClr val="F3F7FF"/>
                </a:solidFill>
                <a:latin typeface="Arial"/>
              </a:rPr>
              <a:t>Separate conservation reporting</a:t>
            </a:r>
          </a:p>
        </p:txBody>
      </p:sp>
      <p:sp>
        <p:nvSpPr>
          <p:cNvPr id="15" name="TextBox 14"/>
          <p:cNvSpPr txBox="1"/>
          <p:nvPr/>
        </p:nvSpPr>
        <p:spPr>
          <a:xfrm>
            <a:off x="539750" y="5759450"/>
            <a:ext cx="10795000" cy="349250"/>
          </a:xfrm>
          <a:prstGeom prst="rect">
            <a:avLst/>
          </a:prstGeom>
          <a:noFill/>
        </p:spPr>
        <p:txBody>
          <a:bodyPr wrap="none" lIns="0" rIns="0" tIns="0" bIns="0">
            <a:spAutoFit/>
          </a:bodyPr>
          <a:lstStyle/>
          <a:p>
            <a:pPr>
              <a:lnSpc>
                <a:spcPts val="2350"/>
              </a:lnSpc>
              <a:spcBef>
                <a:spcPts val="0"/>
              </a:spcBef>
              <a:spcAft>
                <a:spcPts val="0"/>
              </a:spcAft>
            </a:pPr>
            <a:r>
              <a:rPr sz="1900" b="1">
                <a:solidFill>
                  <a:srgbClr val="F3F7FF"/>
                </a:solidFill>
                <a:latin typeface="Arial"/>
              </a:rPr>
              <a:t>NEONSHIFT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